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Default Extension="jpg" ContentType="image/jpg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0970" y="145668"/>
            <a:ext cx="5782310" cy="392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251C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2F251C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251C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2F251C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251C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251C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0970" y="145668"/>
            <a:ext cx="6201410" cy="392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251C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34402" y="1726247"/>
            <a:ext cx="7000875" cy="1861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2F251C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jpg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94702" y="915289"/>
            <a:ext cx="6138545" cy="1913889"/>
          </a:xfrm>
          <a:prstGeom prst="rect"/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ct val="90400"/>
              </a:lnSpc>
              <a:spcBef>
                <a:spcPts val="640"/>
              </a:spcBef>
            </a:pPr>
            <a:r>
              <a:rPr dirty="0" sz="4400"/>
              <a:t>Understanding</a:t>
            </a:r>
            <a:r>
              <a:rPr dirty="0" sz="4400" spc="-95"/>
              <a:t> </a:t>
            </a:r>
            <a:r>
              <a:rPr dirty="0" sz="4400"/>
              <a:t>Job</a:t>
            </a:r>
            <a:r>
              <a:rPr dirty="0" sz="4400" spc="-110"/>
              <a:t> </a:t>
            </a:r>
            <a:r>
              <a:rPr dirty="0" sz="4400" spc="-20"/>
              <a:t>Scam </a:t>
            </a:r>
            <a:r>
              <a:rPr dirty="0" sz="4400"/>
              <a:t>Victimization:</a:t>
            </a:r>
            <a:r>
              <a:rPr dirty="0" sz="4400" spc="-100"/>
              <a:t> </a:t>
            </a:r>
            <a:r>
              <a:rPr dirty="0" sz="4400"/>
              <a:t>A</a:t>
            </a:r>
            <a:r>
              <a:rPr dirty="0" sz="4400" spc="-95"/>
              <a:t> </a:t>
            </a:r>
            <a:r>
              <a:rPr dirty="0" sz="4400" spc="-10"/>
              <a:t>Behavioral </a:t>
            </a:r>
            <a:r>
              <a:rPr dirty="0" sz="4400"/>
              <a:t>Economics</a:t>
            </a:r>
            <a:r>
              <a:rPr dirty="0" sz="4400" spc="-130"/>
              <a:t> </a:t>
            </a:r>
            <a:r>
              <a:rPr dirty="0" sz="4400" spc="-10"/>
              <a:t>Perspective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794702" y="3315271"/>
            <a:ext cx="4256405" cy="10121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70">
                <a:solidFill>
                  <a:srgbClr val="2F251C"/>
                </a:solidFill>
                <a:latin typeface="Trebuchet MS"/>
                <a:cs typeface="Trebuchet MS"/>
              </a:rPr>
              <a:t>Evidence</a:t>
            </a:r>
            <a:r>
              <a:rPr dirty="0" sz="1550" spc="6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550">
                <a:solidFill>
                  <a:srgbClr val="2F251C"/>
                </a:solidFill>
                <a:latin typeface="Trebuchet MS"/>
                <a:cs typeface="Trebuchet MS"/>
              </a:rPr>
              <a:t>from</a:t>
            </a:r>
            <a:r>
              <a:rPr dirty="0" sz="1550" spc="6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550">
                <a:solidFill>
                  <a:srgbClr val="2F251C"/>
                </a:solidFill>
                <a:latin typeface="Trebuchet MS"/>
                <a:cs typeface="Trebuchet MS"/>
              </a:rPr>
              <a:t>IIIT</a:t>
            </a:r>
            <a:r>
              <a:rPr dirty="0" sz="1550" spc="6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550" spc="50">
                <a:solidFill>
                  <a:srgbClr val="2F251C"/>
                </a:solidFill>
                <a:latin typeface="Trebuchet MS"/>
                <a:cs typeface="Trebuchet MS"/>
              </a:rPr>
              <a:t>Hyderabad</a:t>
            </a:r>
            <a:r>
              <a:rPr dirty="0" sz="1550" spc="7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550">
                <a:solidFill>
                  <a:srgbClr val="2F251C"/>
                </a:solidFill>
                <a:latin typeface="Trebuchet MS"/>
                <a:cs typeface="Trebuchet MS"/>
              </a:rPr>
              <a:t>Student</a:t>
            </a:r>
            <a:r>
              <a:rPr dirty="0" sz="1550" spc="2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550" spc="40">
                <a:solidFill>
                  <a:srgbClr val="2F251C"/>
                </a:solidFill>
                <a:latin typeface="Trebuchet MS"/>
                <a:cs typeface="Trebuchet MS"/>
              </a:rPr>
              <a:t>Survey</a:t>
            </a:r>
            <a:endParaRPr sz="15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5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550">
              <a:latin typeface="Trebuchet MS"/>
              <a:cs typeface="Trebuchet MS"/>
            </a:endParaRPr>
          </a:p>
          <a:p>
            <a:pPr marL="15875">
              <a:lnSpc>
                <a:spcPct val="100000"/>
              </a:lnSpc>
            </a:pPr>
            <a:r>
              <a:rPr dirty="0" sz="1500">
                <a:solidFill>
                  <a:srgbClr val="2F251C"/>
                </a:solidFill>
                <a:latin typeface="Trebuchet MS"/>
                <a:cs typeface="Trebuchet MS"/>
              </a:rPr>
              <a:t>Presented</a:t>
            </a:r>
            <a:r>
              <a:rPr dirty="0" sz="1500" spc="6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2F251C"/>
                </a:solidFill>
                <a:latin typeface="Trebuchet MS"/>
                <a:cs typeface="Trebuchet MS"/>
              </a:rPr>
              <a:t>By: </a:t>
            </a:r>
            <a:r>
              <a:rPr dirty="0" sz="1500" spc="50">
                <a:solidFill>
                  <a:srgbClr val="2F251C"/>
                </a:solidFill>
                <a:latin typeface="Trebuchet MS"/>
                <a:cs typeface="Trebuchet MS"/>
              </a:rPr>
              <a:t>Anagha</a:t>
            </a:r>
            <a:r>
              <a:rPr dirty="0" sz="1500" spc="2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2F251C"/>
                </a:solidFill>
                <a:latin typeface="Trebuchet MS"/>
                <a:cs typeface="Trebuchet MS"/>
              </a:rPr>
              <a:t>and</a:t>
            </a:r>
            <a:r>
              <a:rPr dirty="0" sz="1500" spc="6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2F251C"/>
                </a:solidFill>
                <a:latin typeface="Trebuchet MS"/>
                <a:cs typeface="Trebuchet MS"/>
              </a:rPr>
              <a:t>Vishakha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4402" y="1430337"/>
            <a:ext cx="6824980" cy="34493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30200" indent="-317500">
              <a:lnSpc>
                <a:spcPct val="100000"/>
              </a:lnSpc>
              <a:spcBef>
                <a:spcPts val="125"/>
              </a:spcBef>
              <a:buClr>
                <a:srgbClr val="2F251C"/>
              </a:buClr>
              <a:buFont typeface="Times New Roman"/>
              <a:buChar char="●"/>
              <a:tabLst>
                <a:tab pos="330200" algn="l"/>
              </a:tabLst>
            </a:pPr>
            <a:r>
              <a:rPr dirty="0" sz="1400" b="1">
                <a:solidFill>
                  <a:srgbClr val="2F251C"/>
                </a:solidFill>
                <a:latin typeface="Trebuchet MS"/>
                <a:cs typeface="Trebuchet MS"/>
              </a:rPr>
              <a:t>Job</a:t>
            </a:r>
            <a:r>
              <a:rPr dirty="0" sz="1400" spc="-25" b="1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60" b="1">
                <a:solidFill>
                  <a:srgbClr val="2F251C"/>
                </a:solidFill>
                <a:latin typeface="Trebuchet MS"/>
                <a:cs typeface="Trebuchet MS"/>
              </a:rPr>
              <a:t>Scams</a:t>
            </a:r>
            <a:r>
              <a:rPr dirty="0" sz="1400" spc="-20" b="1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2F251C"/>
                </a:solidFill>
                <a:latin typeface="Trebuchet MS"/>
                <a:cs typeface="Trebuchet MS"/>
              </a:rPr>
              <a:t>Are</a:t>
            </a:r>
            <a:r>
              <a:rPr dirty="0" sz="1400" spc="30" b="1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-10" b="1">
                <a:solidFill>
                  <a:srgbClr val="2F251C"/>
                </a:solidFill>
                <a:latin typeface="Trebuchet MS"/>
                <a:cs typeface="Trebuchet MS"/>
              </a:rPr>
              <a:t>Surging: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Clr>
                <a:srgbClr val="2F251C"/>
              </a:buClr>
              <a:buFont typeface="Times New Roman"/>
              <a:buChar char="●"/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70"/>
              </a:lnSpc>
            </a:pP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January</a:t>
            </a:r>
            <a:r>
              <a:rPr dirty="0" sz="1400" spc="6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110">
                <a:solidFill>
                  <a:srgbClr val="2F251C"/>
                </a:solidFill>
                <a:latin typeface="Trebuchet MS"/>
                <a:cs typeface="Trebuchet MS"/>
              </a:rPr>
              <a:t>2023</a:t>
            </a:r>
            <a:r>
              <a:rPr dirty="0" sz="1400" spc="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(Delhi</a:t>
            </a:r>
            <a:r>
              <a:rPr dirty="0" sz="1400" spc="5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-20">
                <a:solidFill>
                  <a:srgbClr val="2F251C"/>
                </a:solidFill>
                <a:latin typeface="Trebuchet MS"/>
                <a:cs typeface="Trebuchet MS"/>
              </a:rPr>
              <a:t>alone):</a:t>
            </a:r>
            <a:r>
              <a:rPr dirty="0" sz="1400" spc="-2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80">
                <a:solidFill>
                  <a:srgbClr val="2F251C"/>
                </a:solidFill>
                <a:latin typeface="Trebuchet MS"/>
                <a:cs typeface="Trebuchet MS"/>
              </a:rPr>
              <a:t>30,000</a:t>
            </a:r>
            <a:r>
              <a:rPr dirty="0" sz="1400" spc="4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victims</a:t>
            </a:r>
            <a:r>
              <a:rPr dirty="0" sz="1400" spc="4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defrauded</a:t>
            </a:r>
            <a:r>
              <a:rPr dirty="0" sz="1400" spc="-1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of</a:t>
            </a:r>
            <a:r>
              <a:rPr dirty="0" sz="1400" spc="114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120">
                <a:solidFill>
                  <a:srgbClr val="2F251C"/>
                </a:solidFill>
                <a:latin typeface="Trebuchet MS"/>
                <a:cs typeface="Trebuchet MS"/>
              </a:rPr>
              <a:t>₹200</a:t>
            </a:r>
            <a:r>
              <a:rPr dirty="0" sz="1400" spc="4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crores</a:t>
            </a:r>
            <a:r>
              <a:rPr dirty="0" sz="1400" spc="4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125">
                <a:solidFill>
                  <a:srgbClr val="2F251C"/>
                </a:solidFill>
                <a:latin typeface="Trebuchet MS"/>
                <a:cs typeface="Trebuchet MS"/>
              </a:rPr>
              <a:t>($24M</a:t>
            </a:r>
            <a:r>
              <a:rPr dirty="0" sz="1400" spc="-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90">
                <a:solidFill>
                  <a:srgbClr val="2F251C"/>
                </a:solidFill>
                <a:latin typeface="Trebuchet MS"/>
                <a:cs typeface="Trebuchet MS"/>
              </a:rPr>
              <a:t>USD)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55"/>
              </a:lnSpc>
            </a:pP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through</a:t>
            </a:r>
            <a:r>
              <a:rPr dirty="0" sz="1400" spc="12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work-</a:t>
            </a:r>
            <a:r>
              <a:rPr dirty="0" sz="1400" spc="50">
                <a:solidFill>
                  <a:srgbClr val="2F251C"/>
                </a:solidFill>
                <a:latin typeface="Trebuchet MS"/>
                <a:cs typeface="Trebuchet MS"/>
              </a:rPr>
              <a:t>from-home</a:t>
            </a:r>
            <a:r>
              <a:rPr dirty="0" sz="1400" spc="13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job</a:t>
            </a:r>
            <a:r>
              <a:rPr dirty="0" sz="1400" spc="4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55">
                <a:solidFill>
                  <a:srgbClr val="2F251C"/>
                </a:solidFill>
                <a:latin typeface="Trebuchet MS"/>
                <a:cs typeface="Trebuchet MS"/>
              </a:rPr>
              <a:t>schemes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64"/>
              </a:lnSpc>
            </a:pPr>
            <a:r>
              <a:rPr dirty="0" sz="1400" spc="110">
                <a:solidFill>
                  <a:srgbClr val="2F251C"/>
                </a:solidFill>
                <a:latin typeface="Trebuchet MS"/>
                <a:cs typeface="Trebuchet MS"/>
              </a:rPr>
              <a:t>2022</a:t>
            </a:r>
            <a:r>
              <a:rPr dirty="0" sz="1400" spc="-2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-30">
                <a:solidFill>
                  <a:srgbClr val="2F251C"/>
                </a:solidFill>
                <a:latin typeface="Trebuchet MS"/>
                <a:cs typeface="Trebuchet MS"/>
              </a:rPr>
              <a:t>Total:</a:t>
            </a:r>
            <a:r>
              <a:rPr dirty="0" sz="1400" spc="4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₹150</a:t>
            </a:r>
            <a:r>
              <a:rPr dirty="0" sz="1400" spc="1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crores</a:t>
            </a:r>
            <a:r>
              <a:rPr dirty="0" sz="1400" spc="1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lost</a:t>
            </a:r>
            <a:r>
              <a:rPr dirty="0" sz="1400" spc="4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to</a:t>
            </a:r>
            <a:r>
              <a:rPr dirty="0" sz="1400" spc="-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fake</a:t>
            </a:r>
            <a:r>
              <a:rPr dirty="0" sz="1400" spc="3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job</a:t>
            </a:r>
            <a:r>
              <a:rPr dirty="0" sz="1400" spc="-3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80">
                <a:solidFill>
                  <a:srgbClr val="2F251C"/>
                </a:solidFill>
                <a:latin typeface="Trebuchet MS"/>
                <a:cs typeface="Trebuchet MS"/>
              </a:rPr>
              <a:t>scams</a:t>
            </a:r>
            <a:r>
              <a:rPr dirty="0" sz="1400" spc="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across</a:t>
            </a:r>
            <a:r>
              <a:rPr dirty="0" sz="1400" spc="1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2F251C"/>
                </a:solidFill>
                <a:latin typeface="Trebuchet MS"/>
                <a:cs typeface="Trebuchet MS"/>
              </a:rPr>
              <a:t>India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Growth</a:t>
            </a:r>
            <a:r>
              <a:rPr dirty="0" sz="1400" spc="-3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-20">
                <a:solidFill>
                  <a:srgbClr val="2F251C"/>
                </a:solidFill>
                <a:latin typeface="Trebuchet MS"/>
                <a:cs typeface="Trebuchet MS"/>
              </a:rPr>
              <a:t>Rate:</a:t>
            </a:r>
            <a:r>
              <a:rPr dirty="0" sz="1400" spc="7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150%</a:t>
            </a:r>
            <a:r>
              <a:rPr dirty="0" sz="1400" spc="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year-</a:t>
            </a:r>
            <a:r>
              <a:rPr dirty="0" sz="1400" spc="55">
                <a:solidFill>
                  <a:srgbClr val="2F251C"/>
                </a:solidFill>
                <a:latin typeface="Trebuchet MS"/>
                <a:cs typeface="Trebuchet MS"/>
              </a:rPr>
              <a:t>over-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year</a:t>
            </a:r>
            <a:r>
              <a:rPr dirty="0" sz="1400" spc="6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increase</a:t>
            </a:r>
            <a:r>
              <a:rPr dirty="0" sz="1400" spc="7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in</a:t>
            </a:r>
            <a:r>
              <a:rPr dirty="0" sz="1400" spc="-2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financial</a:t>
            </a:r>
            <a:r>
              <a:rPr dirty="0" sz="1400" spc="10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losses</a:t>
            </a:r>
            <a:r>
              <a:rPr dirty="0" sz="1400" spc="4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from</a:t>
            </a:r>
            <a:r>
              <a:rPr dirty="0" sz="1400" spc="4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job</a:t>
            </a:r>
            <a:r>
              <a:rPr dirty="0" sz="1400" spc="8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50">
                <a:solidFill>
                  <a:srgbClr val="2F251C"/>
                </a:solidFill>
                <a:latin typeface="Trebuchet MS"/>
                <a:cs typeface="Trebuchet MS"/>
              </a:rPr>
              <a:t>scams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400">
              <a:latin typeface="Trebuchet MS"/>
              <a:cs typeface="Trebuchet MS"/>
            </a:endParaRPr>
          </a:p>
          <a:p>
            <a:pPr marL="330200" indent="-317500">
              <a:lnSpc>
                <a:spcPct val="100000"/>
              </a:lnSpc>
              <a:buFont typeface="Times New Roman"/>
              <a:buChar char="●"/>
              <a:tabLst>
                <a:tab pos="330200" algn="l"/>
              </a:tabLst>
            </a:pPr>
            <a:r>
              <a:rPr dirty="0" sz="1400" spc="75" b="1">
                <a:solidFill>
                  <a:srgbClr val="2F251C"/>
                </a:solidFill>
                <a:latin typeface="Trebuchet MS"/>
                <a:cs typeface="Trebuchet MS"/>
              </a:rPr>
              <a:t>Who</a:t>
            </a:r>
            <a:r>
              <a:rPr dirty="0" sz="1400" spc="-15" b="1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2F251C"/>
                </a:solidFill>
                <a:latin typeface="Trebuchet MS"/>
                <a:cs typeface="Trebuchet MS"/>
              </a:rPr>
              <a:t>Is</a:t>
            </a:r>
            <a:r>
              <a:rPr dirty="0" sz="1400" spc="-25" b="1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-10" b="1">
                <a:solidFill>
                  <a:srgbClr val="2F251C"/>
                </a:solidFill>
                <a:latin typeface="Trebuchet MS"/>
                <a:cs typeface="Trebuchet MS"/>
              </a:rPr>
              <a:t>Affected?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Primary</a:t>
            </a:r>
            <a:r>
              <a:rPr dirty="0" sz="1400" spc="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2F251C"/>
                </a:solidFill>
                <a:latin typeface="Trebuchet MS"/>
                <a:cs typeface="Trebuchet MS"/>
              </a:rPr>
              <a:t>Targets: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64"/>
              </a:lnSpc>
              <a:spcBef>
                <a:spcPts val="45"/>
              </a:spcBef>
            </a:pP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Students</a:t>
            </a:r>
            <a:r>
              <a:rPr dirty="0" sz="1400" spc="8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and</a:t>
            </a:r>
            <a:r>
              <a:rPr dirty="0" sz="1400" spc="4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fresh</a:t>
            </a:r>
            <a:r>
              <a:rPr dirty="0" sz="1400" spc="114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graduates</a:t>
            </a:r>
            <a:r>
              <a:rPr dirty="0" sz="1400" spc="9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seeking</a:t>
            </a:r>
            <a:r>
              <a:rPr dirty="0" sz="1400" spc="4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-20">
                <a:solidFill>
                  <a:srgbClr val="2F251C"/>
                </a:solidFill>
                <a:latin typeface="Trebuchet MS"/>
                <a:cs typeface="Trebuchet MS"/>
              </a:rPr>
              <a:t>first</a:t>
            </a:r>
            <a:r>
              <a:rPr dirty="0" sz="1400" spc="12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jobs</a:t>
            </a:r>
            <a:r>
              <a:rPr dirty="0" sz="1400" spc="9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or</a:t>
            </a:r>
            <a:r>
              <a:rPr dirty="0" sz="1400" spc="11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2F251C"/>
                </a:solidFill>
                <a:latin typeface="Trebuchet MS"/>
                <a:cs typeface="Trebuchet MS"/>
              </a:rPr>
              <a:t>internships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64"/>
              </a:lnSpc>
            </a:pPr>
            <a:r>
              <a:rPr dirty="0" sz="1400" spc="70">
                <a:solidFill>
                  <a:srgbClr val="2F251C"/>
                </a:solidFill>
                <a:latin typeface="Trebuchet MS"/>
                <a:cs typeface="Trebuchet MS"/>
              </a:rPr>
              <a:t>Young</a:t>
            </a:r>
            <a:r>
              <a:rPr dirty="0" sz="1400" spc="7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professionals</a:t>
            </a:r>
            <a:r>
              <a:rPr dirty="0" sz="1400" spc="2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(18-</a:t>
            </a:r>
            <a:r>
              <a:rPr dirty="0" sz="1400" spc="114">
                <a:solidFill>
                  <a:srgbClr val="2F251C"/>
                </a:solidFill>
                <a:latin typeface="Trebuchet MS"/>
                <a:cs typeface="Trebuchet MS"/>
              </a:rPr>
              <a:t>25</a:t>
            </a:r>
            <a:r>
              <a:rPr dirty="0" sz="1400" spc="3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50">
                <a:solidFill>
                  <a:srgbClr val="2F251C"/>
                </a:solidFill>
                <a:latin typeface="Trebuchet MS"/>
                <a:cs typeface="Trebuchet MS"/>
              </a:rPr>
              <a:t>age</a:t>
            </a:r>
            <a:r>
              <a:rPr dirty="0" sz="1400" spc="5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50">
                <a:solidFill>
                  <a:srgbClr val="2F251C"/>
                </a:solidFill>
                <a:latin typeface="Trebuchet MS"/>
                <a:cs typeface="Trebuchet MS"/>
              </a:rPr>
              <a:t>group)</a:t>
            </a:r>
            <a:r>
              <a:rPr dirty="0" sz="1400" spc="4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looking</a:t>
            </a:r>
            <a:r>
              <a:rPr dirty="0" sz="1400" spc="-2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for</a:t>
            </a:r>
            <a:r>
              <a:rPr dirty="0" sz="1400" spc="4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-30">
                <a:solidFill>
                  <a:srgbClr val="2F251C"/>
                </a:solidFill>
                <a:latin typeface="Trebuchet MS"/>
                <a:cs typeface="Trebuchet MS"/>
              </a:rPr>
              <a:t>remote/flexible</a:t>
            </a:r>
            <a:r>
              <a:rPr dirty="0" sz="1400" spc="-4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-20">
                <a:solidFill>
                  <a:srgbClr val="2F251C"/>
                </a:solidFill>
                <a:latin typeface="Trebuchet MS"/>
                <a:cs typeface="Trebuchet MS"/>
              </a:rPr>
              <a:t>work</a:t>
            </a:r>
            <a:endParaRPr sz="1400">
              <a:latin typeface="Trebuchet MS"/>
              <a:cs typeface="Trebuchet MS"/>
            </a:endParaRPr>
          </a:p>
          <a:p>
            <a:pPr marL="12700" marR="1685925">
              <a:lnSpc>
                <a:spcPts val="1650"/>
              </a:lnSpc>
              <a:spcBef>
                <a:spcPts val="130"/>
              </a:spcBef>
            </a:pPr>
            <a:r>
              <a:rPr dirty="0" sz="1400" spc="80">
                <a:solidFill>
                  <a:srgbClr val="2F251C"/>
                </a:solidFill>
                <a:latin typeface="Trebuchet MS"/>
                <a:cs typeface="Trebuchet MS"/>
              </a:rPr>
              <a:t>Job</a:t>
            </a:r>
            <a:r>
              <a:rPr dirty="0" sz="1400" spc="2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seekers</a:t>
            </a:r>
            <a:r>
              <a:rPr dirty="0" sz="1400" spc="8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facing</a:t>
            </a:r>
            <a:r>
              <a:rPr dirty="0" sz="1400" spc="12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unemployment</a:t>
            </a:r>
            <a:r>
              <a:rPr dirty="0" sz="1400" spc="1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crisis</a:t>
            </a:r>
            <a:r>
              <a:rPr dirty="0" sz="1400" spc="8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and</a:t>
            </a:r>
            <a:r>
              <a:rPr dirty="0" sz="1400" spc="13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2F251C"/>
                </a:solidFill>
                <a:latin typeface="Trebuchet MS"/>
                <a:cs typeface="Trebuchet MS"/>
              </a:rPr>
              <a:t>financial</a:t>
            </a:r>
            <a:r>
              <a:rPr dirty="0" sz="1400" spc="14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2F251C"/>
                </a:solidFill>
                <a:latin typeface="Trebuchet MS"/>
                <a:cs typeface="Trebuchet MS"/>
              </a:rPr>
              <a:t>pressure Prevalence: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05"/>
              </a:lnSpc>
            </a:pPr>
            <a:r>
              <a:rPr dirty="0" sz="1400" spc="80">
                <a:solidFill>
                  <a:srgbClr val="2F251C"/>
                </a:solidFill>
                <a:latin typeface="Trebuchet MS"/>
                <a:cs typeface="Trebuchet MS"/>
              </a:rPr>
              <a:t>Job</a:t>
            </a:r>
            <a:r>
              <a:rPr dirty="0" sz="1400" spc="-4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2F251C"/>
                </a:solidFill>
                <a:latin typeface="Trebuchet MS"/>
                <a:cs typeface="Trebuchet MS"/>
              </a:rPr>
              <a:t>offer</a:t>
            </a:r>
            <a:r>
              <a:rPr dirty="0" sz="1400" spc="-6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80">
                <a:solidFill>
                  <a:srgbClr val="2F251C"/>
                </a:solidFill>
                <a:latin typeface="Trebuchet MS"/>
                <a:cs typeface="Trebuchet MS"/>
              </a:rPr>
              <a:t>scams</a:t>
            </a:r>
            <a:r>
              <a:rPr dirty="0" sz="1400" spc="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account</a:t>
            </a:r>
            <a:r>
              <a:rPr dirty="0" sz="1400" spc="-5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for</a:t>
            </a:r>
            <a:r>
              <a:rPr dirty="0" sz="1400" spc="2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15%</a:t>
            </a:r>
            <a:r>
              <a:rPr dirty="0" sz="1400" spc="5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of</a:t>
            </a:r>
            <a:r>
              <a:rPr dirty="0" sz="1400" spc="-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-45">
                <a:solidFill>
                  <a:srgbClr val="2F251C"/>
                </a:solidFill>
                <a:latin typeface="Trebuchet MS"/>
                <a:cs typeface="Trebuchet MS"/>
              </a:rPr>
              <a:t>all</a:t>
            </a:r>
            <a:r>
              <a:rPr dirty="0" sz="1400" spc="6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cybercrimes</a:t>
            </a:r>
            <a:r>
              <a:rPr dirty="0" sz="1400" spc="1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reported</a:t>
            </a:r>
            <a:r>
              <a:rPr dirty="0" sz="1400" spc="5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in</a:t>
            </a:r>
            <a:r>
              <a:rPr dirty="0" sz="1400" spc="3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India</a:t>
            </a:r>
            <a:r>
              <a:rPr dirty="0" sz="1400" spc="1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105">
                <a:solidFill>
                  <a:srgbClr val="2F251C"/>
                </a:solidFill>
                <a:latin typeface="Trebuchet MS"/>
                <a:cs typeface="Trebuchet MS"/>
              </a:rPr>
              <a:t>(2020-</a:t>
            </a:r>
            <a:r>
              <a:rPr dirty="0" sz="1400" spc="75">
                <a:solidFill>
                  <a:srgbClr val="2F251C"/>
                </a:solidFill>
                <a:latin typeface="Trebuchet MS"/>
                <a:cs typeface="Trebuchet MS"/>
              </a:rPr>
              <a:t>2023)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Delhi</a:t>
            </a:r>
            <a:r>
              <a:rPr dirty="0" sz="1400" spc="2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Police</a:t>
            </a:r>
            <a:r>
              <a:rPr dirty="0" sz="1400" spc="4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complaints</a:t>
            </a:r>
            <a:r>
              <a:rPr dirty="0" sz="1400" spc="1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increased</a:t>
            </a:r>
            <a:r>
              <a:rPr dirty="0" sz="1400" spc="6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from</a:t>
            </a:r>
            <a:r>
              <a:rPr dirty="0" sz="1400" spc="1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100">
                <a:solidFill>
                  <a:srgbClr val="2F251C"/>
                </a:solidFill>
                <a:latin typeface="Trebuchet MS"/>
                <a:cs typeface="Trebuchet MS"/>
              </a:rPr>
              <a:t>32</a:t>
            </a:r>
            <a:r>
              <a:rPr dirty="0" sz="1400" spc="7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in</a:t>
            </a:r>
            <a:r>
              <a:rPr dirty="0" sz="1400" spc="-4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120">
                <a:solidFill>
                  <a:srgbClr val="2F251C"/>
                </a:solidFill>
                <a:latin typeface="Trebuchet MS"/>
                <a:cs typeface="Trebuchet MS"/>
              </a:rPr>
              <a:t>2020</a:t>
            </a:r>
            <a:r>
              <a:rPr dirty="0" sz="1400" spc="-6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imes New Roman"/>
                <a:cs typeface="Times New Roman"/>
              </a:rPr>
              <a:t>→</a:t>
            </a:r>
            <a:r>
              <a:rPr dirty="0" sz="1400" spc="70">
                <a:solidFill>
                  <a:srgbClr val="2F251C"/>
                </a:solidFill>
                <a:latin typeface="Times New Roman"/>
                <a:cs typeface="Times New Roman"/>
              </a:rPr>
              <a:t> </a:t>
            </a:r>
            <a:r>
              <a:rPr dirty="0" sz="1400" spc="95">
                <a:solidFill>
                  <a:srgbClr val="2F251C"/>
                </a:solidFill>
                <a:latin typeface="Trebuchet MS"/>
                <a:cs typeface="Trebuchet MS"/>
              </a:rPr>
              <a:t>467</a:t>
            </a:r>
            <a:r>
              <a:rPr dirty="0" sz="1400" spc="5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by</a:t>
            </a:r>
            <a:r>
              <a:rPr dirty="0" sz="1400" spc="3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April</a:t>
            </a:r>
            <a:r>
              <a:rPr dirty="0" sz="1400" spc="7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90">
                <a:solidFill>
                  <a:srgbClr val="2F251C"/>
                </a:solidFill>
                <a:latin typeface="Trebuchet MS"/>
                <a:cs typeface="Trebuchet MS"/>
              </a:rPr>
              <a:t>2023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94702" y="586486"/>
            <a:ext cx="4667885" cy="5295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300"/>
              <a:t>The</a:t>
            </a:r>
            <a:r>
              <a:rPr dirty="0" sz="3300" spc="-15"/>
              <a:t> </a:t>
            </a:r>
            <a:r>
              <a:rPr dirty="0" sz="3300"/>
              <a:t>Job</a:t>
            </a:r>
            <a:r>
              <a:rPr dirty="0" sz="3300" spc="-20"/>
              <a:t> </a:t>
            </a:r>
            <a:r>
              <a:rPr dirty="0" sz="3300"/>
              <a:t>Scam</a:t>
            </a:r>
            <a:r>
              <a:rPr dirty="0" sz="3300" spc="-35"/>
              <a:t> </a:t>
            </a:r>
            <a:r>
              <a:rPr dirty="0" sz="3300"/>
              <a:t>Crisis</a:t>
            </a:r>
            <a:r>
              <a:rPr dirty="0" sz="3300" spc="-35"/>
              <a:t> </a:t>
            </a:r>
            <a:r>
              <a:rPr dirty="0" sz="3300"/>
              <a:t>in</a:t>
            </a:r>
            <a:r>
              <a:rPr dirty="0" sz="3300" spc="-20"/>
              <a:t> </a:t>
            </a:r>
            <a:r>
              <a:rPr dirty="0" sz="3300" spc="-10"/>
              <a:t>India</a:t>
            </a:r>
            <a:endParaRPr sz="3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4402" y="1420494"/>
            <a:ext cx="7105015" cy="3083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b="1">
                <a:solidFill>
                  <a:srgbClr val="2F251C"/>
                </a:solidFill>
                <a:latin typeface="Trebuchet MS"/>
                <a:cs typeface="Trebuchet MS"/>
              </a:rPr>
              <a:t>What</a:t>
            </a:r>
            <a:r>
              <a:rPr dirty="0" sz="2000" spc="-25" b="1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 spc="110" b="1">
                <a:solidFill>
                  <a:srgbClr val="2F251C"/>
                </a:solidFill>
                <a:latin typeface="Trebuchet MS"/>
                <a:cs typeface="Trebuchet MS"/>
              </a:rPr>
              <a:t>We</a:t>
            </a:r>
            <a:r>
              <a:rPr dirty="0" sz="2000" spc="40" b="1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 b="1">
                <a:solidFill>
                  <a:srgbClr val="2F251C"/>
                </a:solidFill>
                <a:latin typeface="Trebuchet MS"/>
                <a:cs typeface="Trebuchet MS"/>
              </a:rPr>
              <a:t>Want</a:t>
            </a:r>
            <a:r>
              <a:rPr dirty="0" sz="2000" spc="55" b="1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 b="1">
                <a:solidFill>
                  <a:srgbClr val="2F251C"/>
                </a:solidFill>
                <a:latin typeface="Trebuchet MS"/>
                <a:cs typeface="Trebuchet MS"/>
              </a:rPr>
              <a:t>to</a:t>
            </a:r>
            <a:r>
              <a:rPr dirty="0" sz="2000" spc="-20" b="1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 b="1">
                <a:solidFill>
                  <a:srgbClr val="2F251C"/>
                </a:solidFill>
                <a:latin typeface="Trebuchet MS"/>
                <a:cs typeface="Trebuchet MS"/>
              </a:rPr>
              <a:t>Find</a:t>
            </a:r>
            <a:r>
              <a:rPr dirty="0" sz="2000" spc="40" b="1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 spc="-25" b="1">
                <a:solidFill>
                  <a:srgbClr val="2F251C"/>
                </a:solidFill>
                <a:latin typeface="Trebuchet MS"/>
                <a:cs typeface="Trebuchet MS"/>
              </a:rPr>
              <a:t>Out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2000" spc="100">
                <a:solidFill>
                  <a:srgbClr val="2F251C"/>
                </a:solidFill>
                <a:latin typeface="Trebuchet MS"/>
                <a:cs typeface="Trebuchet MS"/>
              </a:rPr>
              <a:t>Why</a:t>
            </a:r>
            <a:r>
              <a:rPr dirty="0" sz="2000" spc="3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 spc="95">
                <a:solidFill>
                  <a:srgbClr val="2F251C"/>
                </a:solidFill>
                <a:latin typeface="Trebuchet MS"/>
                <a:cs typeface="Trebuchet MS"/>
              </a:rPr>
              <a:t>do</a:t>
            </a:r>
            <a:r>
              <a:rPr dirty="0" sz="2000" spc="11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2F251C"/>
                </a:solidFill>
                <a:latin typeface="Trebuchet MS"/>
                <a:cs typeface="Trebuchet MS"/>
              </a:rPr>
              <a:t>educated</a:t>
            </a:r>
            <a:r>
              <a:rPr dirty="0" sz="2000" spc="8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2F251C"/>
                </a:solidFill>
                <a:latin typeface="Trebuchet MS"/>
                <a:cs typeface="Trebuchet MS"/>
              </a:rPr>
              <a:t>individuals</a:t>
            </a:r>
            <a:r>
              <a:rPr dirty="0" sz="2000" spc="12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2F251C"/>
                </a:solidFill>
                <a:latin typeface="Trebuchet MS"/>
                <a:cs typeface="Trebuchet MS"/>
              </a:rPr>
              <a:t>pay</a:t>
            </a:r>
            <a:r>
              <a:rPr dirty="0" sz="2000" spc="3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2F251C"/>
                </a:solidFill>
                <a:latin typeface="Trebuchet MS"/>
                <a:cs typeface="Trebuchet MS"/>
              </a:rPr>
              <a:t>despite</a:t>
            </a:r>
            <a:r>
              <a:rPr dirty="0" sz="2000" spc="8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2F251C"/>
                </a:solidFill>
                <a:latin typeface="Trebuchet MS"/>
                <a:cs typeface="Trebuchet MS"/>
              </a:rPr>
              <a:t>red</a:t>
            </a:r>
            <a:r>
              <a:rPr dirty="0" sz="2000" spc="8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 spc="60">
                <a:solidFill>
                  <a:srgbClr val="2F251C"/>
                </a:solidFill>
                <a:latin typeface="Trebuchet MS"/>
                <a:cs typeface="Trebuchet MS"/>
              </a:rPr>
              <a:t>flags?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2000">
              <a:latin typeface="Trebuchet MS"/>
              <a:cs typeface="Trebuchet MS"/>
            </a:endParaRPr>
          </a:p>
          <a:p>
            <a:pPr marL="12700" marR="361950">
              <a:lnSpc>
                <a:spcPct val="100000"/>
              </a:lnSpc>
            </a:pPr>
            <a:r>
              <a:rPr dirty="0" sz="2000">
                <a:solidFill>
                  <a:srgbClr val="2F251C"/>
                </a:solidFill>
                <a:latin typeface="Trebuchet MS"/>
                <a:cs typeface="Trebuchet MS"/>
              </a:rPr>
              <a:t>What</a:t>
            </a:r>
            <a:r>
              <a:rPr dirty="0" sz="2000" spc="5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 spc="45">
                <a:solidFill>
                  <a:srgbClr val="2F251C"/>
                </a:solidFill>
                <a:latin typeface="Trebuchet MS"/>
                <a:cs typeface="Trebuchet MS"/>
              </a:rPr>
              <a:t>psychological</a:t>
            </a:r>
            <a:r>
              <a:rPr dirty="0" sz="2000" spc="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 spc="65">
                <a:solidFill>
                  <a:srgbClr val="2F251C"/>
                </a:solidFill>
                <a:latin typeface="Trebuchet MS"/>
                <a:cs typeface="Trebuchet MS"/>
              </a:rPr>
              <a:t>mechanisms</a:t>
            </a:r>
            <a:r>
              <a:rPr dirty="0" sz="2000" spc="3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2F251C"/>
                </a:solidFill>
                <a:latin typeface="Trebuchet MS"/>
                <a:cs typeface="Trebuchet MS"/>
              </a:rPr>
              <a:t>drive</a:t>
            </a:r>
            <a:r>
              <a:rPr dirty="0" sz="2000" spc="8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2F251C"/>
                </a:solidFill>
                <a:latin typeface="Trebuchet MS"/>
                <a:cs typeface="Trebuchet MS"/>
              </a:rPr>
              <a:t>victimization?</a:t>
            </a:r>
            <a:r>
              <a:rPr dirty="0" sz="2000" spc="50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 spc="90">
                <a:solidFill>
                  <a:srgbClr val="2F251C"/>
                </a:solidFill>
                <a:latin typeface="Trebuchet MS"/>
                <a:cs typeface="Trebuchet MS"/>
              </a:rPr>
              <a:t>How</a:t>
            </a:r>
            <a:r>
              <a:rPr dirty="0" sz="2000" spc="-5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 spc="95">
                <a:solidFill>
                  <a:srgbClr val="2F251C"/>
                </a:solidFill>
                <a:latin typeface="Trebuchet MS"/>
                <a:cs typeface="Trebuchet MS"/>
              </a:rPr>
              <a:t>do</a:t>
            </a:r>
            <a:r>
              <a:rPr dirty="0" sz="2000" spc="7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2F251C"/>
                </a:solidFill>
                <a:latin typeface="Trebuchet MS"/>
                <a:cs typeface="Trebuchet MS"/>
              </a:rPr>
              <a:t>behavioral</a:t>
            </a:r>
            <a:r>
              <a:rPr dirty="0" sz="2000" spc="5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2F251C"/>
                </a:solidFill>
                <a:latin typeface="Trebuchet MS"/>
                <a:cs typeface="Trebuchet MS"/>
              </a:rPr>
              <a:t>biases </a:t>
            </a:r>
            <a:r>
              <a:rPr dirty="0" sz="2000" spc="70">
                <a:solidFill>
                  <a:srgbClr val="2F251C"/>
                </a:solidFill>
                <a:latin typeface="Trebuchet MS"/>
                <a:cs typeface="Trebuchet MS"/>
              </a:rPr>
              <a:t>(loss</a:t>
            </a:r>
            <a:r>
              <a:rPr dirty="0" sz="2000">
                <a:solidFill>
                  <a:srgbClr val="2F251C"/>
                </a:solidFill>
                <a:latin typeface="Trebuchet MS"/>
                <a:cs typeface="Trebuchet MS"/>
              </a:rPr>
              <a:t> aversion,</a:t>
            </a:r>
            <a:r>
              <a:rPr dirty="0" sz="2000" spc="-2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 spc="60">
                <a:solidFill>
                  <a:srgbClr val="2F251C"/>
                </a:solidFill>
                <a:latin typeface="Trebuchet MS"/>
                <a:cs typeface="Trebuchet MS"/>
              </a:rPr>
              <a:t>sunk</a:t>
            </a:r>
            <a:r>
              <a:rPr dirty="0" sz="2000" spc="-1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2F251C"/>
                </a:solidFill>
                <a:latin typeface="Trebuchet MS"/>
                <a:cs typeface="Trebuchet MS"/>
              </a:rPr>
              <a:t>cost,</a:t>
            </a:r>
            <a:r>
              <a:rPr dirty="0" sz="2000" spc="-2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2F251C"/>
                </a:solidFill>
                <a:latin typeface="Trebuchet MS"/>
                <a:cs typeface="Trebuchet MS"/>
              </a:rPr>
              <a:t>social </a:t>
            </a:r>
            <a:r>
              <a:rPr dirty="0" sz="2000">
                <a:solidFill>
                  <a:srgbClr val="2F251C"/>
                </a:solidFill>
                <a:latin typeface="Trebuchet MS"/>
                <a:cs typeface="Trebuchet MS"/>
              </a:rPr>
              <a:t>proof)</a:t>
            </a:r>
            <a:r>
              <a:rPr dirty="0" sz="2000" spc="7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2F251C"/>
                </a:solidFill>
                <a:latin typeface="Trebuchet MS"/>
                <a:cs typeface="Trebuchet MS"/>
              </a:rPr>
              <a:t>influence</a:t>
            </a:r>
            <a:r>
              <a:rPr dirty="0" sz="2000" spc="5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 spc="80">
                <a:solidFill>
                  <a:srgbClr val="2F251C"/>
                </a:solidFill>
                <a:latin typeface="Trebuchet MS"/>
                <a:cs typeface="Trebuchet MS"/>
              </a:rPr>
              <a:t>decisions?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</a:pPr>
            <a:r>
              <a:rPr dirty="0" sz="2000" b="1">
                <a:solidFill>
                  <a:srgbClr val="2F251C"/>
                </a:solidFill>
                <a:latin typeface="Trebuchet MS"/>
                <a:cs typeface="Trebuchet MS"/>
              </a:rPr>
              <a:t>Focus</a:t>
            </a:r>
            <a:r>
              <a:rPr dirty="0" sz="2000" spc="30" b="1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 spc="-20" b="1">
                <a:solidFill>
                  <a:srgbClr val="2F251C"/>
                </a:solidFill>
                <a:latin typeface="Trebuchet MS"/>
                <a:cs typeface="Trebuchet MS"/>
              </a:rPr>
              <a:t>Area:</a:t>
            </a:r>
            <a:r>
              <a:rPr dirty="0" sz="2000" spc="-50" b="1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 spc="105">
                <a:solidFill>
                  <a:srgbClr val="2F251C"/>
                </a:solidFill>
                <a:latin typeface="Trebuchet MS"/>
                <a:cs typeface="Trebuchet MS"/>
              </a:rPr>
              <a:t>Pay-</a:t>
            </a:r>
            <a:r>
              <a:rPr dirty="0" sz="2000" spc="95">
                <a:solidFill>
                  <a:srgbClr val="2F251C"/>
                </a:solidFill>
                <a:latin typeface="Trebuchet MS"/>
                <a:cs typeface="Trebuchet MS"/>
              </a:rPr>
              <a:t>to-</a:t>
            </a:r>
            <a:r>
              <a:rPr dirty="0" sz="2000" spc="110">
                <a:solidFill>
                  <a:srgbClr val="2F251C"/>
                </a:solidFill>
                <a:latin typeface="Trebuchet MS"/>
                <a:cs typeface="Trebuchet MS"/>
              </a:rPr>
              <a:t>get-</a:t>
            </a:r>
            <a:r>
              <a:rPr dirty="0" sz="2000">
                <a:solidFill>
                  <a:srgbClr val="2F251C"/>
                </a:solidFill>
                <a:latin typeface="Trebuchet MS"/>
                <a:cs typeface="Trebuchet MS"/>
              </a:rPr>
              <a:t>job</a:t>
            </a:r>
            <a:r>
              <a:rPr dirty="0" sz="2000" spc="1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 spc="95">
                <a:solidFill>
                  <a:srgbClr val="2F251C"/>
                </a:solidFill>
                <a:latin typeface="Trebuchet MS"/>
                <a:cs typeface="Trebuchet MS"/>
              </a:rPr>
              <a:t>scams</a:t>
            </a:r>
            <a:r>
              <a:rPr dirty="0" sz="2000" spc="5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2F251C"/>
                </a:solidFill>
                <a:latin typeface="Trebuchet MS"/>
                <a:cs typeface="Trebuchet MS"/>
              </a:rPr>
              <a:t>and</a:t>
            </a:r>
            <a:r>
              <a:rPr dirty="0" sz="2000" spc="-7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 spc="75">
                <a:solidFill>
                  <a:srgbClr val="2F251C"/>
                </a:solidFill>
                <a:latin typeface="Trebuchet MS"/>
                <a:cs typeface="Trebuchet MS"/>
              </a:rPr>
              <a:t>task-</a:t>
            </a:r>
            <a:r>
              <a:rPr dirty="0" sz="2000" spc="70">
                <a:solidFill>
                  <a:srgbClr val="2F251C"/>
                </a:solidFill>
                <a:latin typeface="Trebuchet MS"/>
                <a:cs typeface="Trebuchet MS"/>
              </a:rPr>
              <a:t>based</a:t>
            </a:r>
            <a:r>
              <a:rPr dirty="0" sz="2000" spc="1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2F251C"/>
                </a:solidFill>
                <a:latin typeface="Trebuchet MS"/>
                <a:cs typeface="Trebuchet MS"/>
              </a:rPr>
              <a:t>payment fraud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94702" y="586486"/>
            <a:ext cx="4667885" cy="5295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300"/>
              <a:t>The</a:t>
            </a:r>
            <a:r>
              <a:rPr dirty="0" sz="3300" spc="-15"/>
              <a:t> </a:t>
            </a:r>
            <a:r>
              <a:rPr dirty="0" sz="3300"/>
              <a:t>Job</a:t>
            </a:r>
            <a:r>
              <a:rPr dirty="0" sz="3300" spc="-20"/>
              <a:t> </a:t>
            </a:r>
            <a:r>
              <a:rPr dirty="0" sz="3300"/>
              <a:t>Scam</a:t>
            </a:r>
            <a:r>
              <a:rPr dirty="0" sz="3300" spc="-35"/>
              <a:t> </a:t>
            </a:r>
            <a:r>
              <a:rPr dirty="0" sz="3300"/>
              <a:t>Crisis</a:t>
            </a:r>
            <a:r>
              <a:rPr dirty="0" sz="3300" spc="-35"/>
              <a:t> </a:t>
            </a:r>
            <a:r>
              <a:rPr dirty="0" sz="3300"/>
              <a:t>in</a:t>
            </a:r>
            <a:r>
              <a:rPr dirty="0" sz="3300" spc="-20"/>
              <a:t> </a:t>
            </a:r>
            <a:r>
              <a:rPr dirty="0" sz="3300" spc="-10"/>
              <a:t>India</a:t>
            </a:r>
            <a:endParaRPr sz="3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4702" y="1420494"/>
            <a:ext cx="7442834" cy="247269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30"/>
              </a:spcBef>
              <a:buClr>
                <a:srgbClr val="2F251C"/>
              </a:buClr>
              <a:buSzPct val="70000"/>
              <a:buFont typeface="Times New Roman"/>
              <a:buChar char="●"/>
              <a:tabLst>
                <a:tab pos="298450" algn="l"/>
              </a:tabLst>
            </a:pPr>
            <a:r>
              <a:rPr dirty="0" sz="2000" b="1">
                <a:solidFill>
                  <a:srgbClr val="2F251C"/>
                </a:solidFill>
                <a:latin typeface="Trebuchet MS"/>
                <a:cs typeface="Trebuchet MS"/>
              </a:rPr>
              <a:t>Sunk</a:t>
            </a:r>
            <a:r>
              <a:rPr dirty="0" sz="2000" spc="15" b="1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 spc="75" b="1">
                <a:solidFill>
                  <a:srgbClr val="2F251C"/>
                </a:solidFill>
                <a:latin typeface="Trebuchet MS"/>
                <a:cs typeface="Trebuchet MS"/>
              </a:rPr>
              <a:t>Cost</a:t>
            </a:r>
            <a:r>
              <a:rPr dirty="0" sz="2000" spc="60" b="1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 spc="-30" b="1">
                <a:solidFill>
                  <a:srgbClr val="2F251C"/>
                </a:solidFill>
                <a:latin typeface="Trebuchet MS"/>
                <a:cs typeface="Trebuchet MS"/>
              </a:rPr>
              <a:t>Fallacy:</a:t>
            </a:r>
            <a:r>
              <a:rPr dirty="0" sz="2000" spc="-20" b="1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 spc="120">
                <a:solidFill>
                  <a:srgbClr val="2F251C"/>
                </a:solidFill>
                <a:latin typeface="Trebuchet MS"/>
                <a:cs typeface="Trebuchet MS"/>
              </a:rPr>
              <a:t>Does</a:t>
            </a:r>
            <a:r>
              <a:rPr dirty="0" sz="2000" spc="-1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2F251C"/>
                </a:solidFill>
                <a:latin typeface="Trebuchet MS"/>
                <a:cs typeface="Trebuchet MS"/>
              </a:rPr>
              <a:t>prior</a:t>
            </a:r>
            <a:r>
              <a:rPr dirty="0" sz="2000" spc="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 spc="-55">
                <a:solidFill>
                  <a:srgbClr val="2F251C"/>
                </a:solidFill>
                <a:latin typeface="Trebuchet MS"/>
                <a:cs typeface="Trebuchet MS"/>
              </a:rPr>
              <a:t>time/effort</a:t>
            </a:r>
            <a:r>
              <a:rPr dirty="0" sz="2000" spc="1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2F251C"/>
                </a:solidFill>
                <a:latin typeface="Trebuchet MS"/>
                <a:cs typeface="Trebuchet MS"/>
              </a:rPr>
              <a:t>investment</a:t>
            </a:r>
            <a:r>
              <a:rPr dirty="0" sz="2000" spc="-7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2F251C"/>
                </a:solidFill>
                <a:latin typeface="Trebuchet MS"/>
                <a:cs typeface="Trebuchet MS"/>
              </a:rPr>
              <a:t>predict</a:t>
            </a:r>
            <a:endParaRPr sz="2000">
              <a:latin typeface="Trebuchet MS"/>
              <a:cs typeface="Trebuchet MS"/>
            </a:endParaRPr>
          </a:p>
          <a:p>
            <a:pPr marL="298450">
              <a:lnSpc>
                <a:spcPct val="100000"/>
              </a:lnSpc>
              <a:spcBef>
                <a:spcPts val="5"/>
              </a:spcBef>
            </a:pPr>
            <a:r>
              <a:rPr dirty="0" sz="2000" spc="60">
                <a:solidFill>
                  <a:srgbClr val="2F251C"/>
                </a:solidFill>
                <a:latin typeface="Trebuchet MS"/>
                <a:cs typeface="Trebuchet MS"/>
              </a:rPr>
              <a:t>payment?</a:t>
            </a:r>
            <a:endParaRPr sz="2000">
              <a:latin typeface="Trebuchet MS"/>
              <a:cs typeface="Trebuchet MS"/>
            </a:endParaRPr>
          </a:p>
          <a:p>
            <a:pPr marL="298450" marR="5080" indent="-286385">
              <a:lnSpc>
                <a:spcPct val="100000"/>
              </a:lnSpc>
              <a:spcBef>
                <a:spcPts val="5"/>
              </a:spcBef>
              <a:buSzPct val="70000"/>
              <a:buFont typeface="Times New Roman"/>
              <a:buChar char="●"/>
              <a:tabLst>
                <a:tab pos="298450" algn="l"/>
              </a:tabLst>
            </a:pPr>
            <a:r>
              <a:rPr dirty="0" sz="2000" b="1">
                <a:solidFill>
                  <a:srgbClr val="2F251C"/>
                </a:solidFill>
                <a:latin typeface="Trebuchet MS"/>
                <a:cs typeface="Trebuchet MS"/>
              </a:rPr>
              <a:t>Social</a:t>
            </a:r>
            <a:r>
              <a:rPr dirty="0" sz="2000" spc="20" b="1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 spc="-25" b="1">
                <a:solidFill>
                  <a:srgbClr val="2F251C"/>
                </a:solidFill>
                <a:latin typeface="Trebuchet MS"/>
                <a:cs typeface="Trebuchet MS"/>
              </a:rPr>
              <a:t>Proof:</a:t>
            </a:r>
            <a:r>
              <a:rPr dirty="0" sz="2000" spc="80" b="1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 spc="190">
                <a:solidFill>
                  <a:srgbClr val="2F251C"/>
                </a:solidFill>
                <a:latin typeface="Trebuchet MS"/>
                <a:cs typeface="Trebuchet MS"/>
              </a:rPr>
              <a:t>Do</a:t>
            </a:r>
            <a:r>
              <a:rPr dirty="0" sz="200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2F251C"/>
                </a:solidFill>
                <a:latin typeface="Trebuchet MS"/>
                <a:cs typeface="Trebuchet MS"/>
              </a:rPr>
              <a:t>testimonials/social</a:t>
            </a:r>
            <a:r>
              <a:rPr dirty="0" sz="2000" spc="7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2F251C"/>
                </a:solidFill>
                <a:latin typeface="Trebuchet MS"/>
                <a:cs typeface="Trebuchet MS"/>
              </a:rPr>
              <a:t>signals</a:t>
            </a:r>
            <a:r>
              <a:rPr dirty="0" sz="2000" spc="1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2F251C"/>
                </a:solidFill>
                <a:latin typeface="Trebuchet MS"/>
                <a:cs typeface="Trebuchet MS"/>
              </a:rPr>
              <a:t>increase</a:t>
            </a:r>
            <a:r>
              <a:rPr dirty="0" sz="2000" spc="-2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2F251C"/>
                </a:solidFill>
                <a:latin typeface="Trebuchet MS"/>
                <a:cs typeface="Trebuchet MS"/>
              </a:rPr>
              <a:t>payment </a:t>
            </a:r>
            <a:r>
              <a:rPr dirty="0" sz="2000">
                <a:solidFill>
                  <a:srgbClr val="2F251C"/>
                </a:solidFill>
                <a:latin typeface="Trebuchet MS"/>
                <a:cs typeface="Trebuchet MS"/>
              </a:rPr>
              <a:t>likelihood</a:t>
            </a:r>
            <a:r>
              <a:rPr dirty="0" sz="2000" spc="-4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2F251C"/>
                </a:solidFill>
                <a:latin typeface="Trebuchet MS"/>
                <a:cs typeface="Trebuchet MS"/>
              </a:rPr>
              <a:t>via</a:t>
            </a:r>
            <a:r>
              <a:rPr dirty="0" sz="2000" spc="-10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2F251C"/>
                </a:solidFill>
                <a:latin typeface="Trebuchet MS"/>
                <a:cs typeface="Trebuchet MS"/>
              </a:rPr>
              <a:t>trust?</a:t>
            </a:r>
            <a:endParaRPr sz="2000">
              <a:latin typeface="Trebuchet MS"/>
              <a:cs typeface="Trebuchet MS"/>
            </a:endParaRPr>
          </a:p>
          <a:p>
            <a:pPr marL="298450" marR="866140" indent="-286385">
              <a:lnSpc>
                <a:spcPct val="100000"/>
              </a:lnSpc>
              <a:spcBef>
                <a:spcPts val="5"/>
              </a:spcBef>
              <a:buSzPct val="70000"/>
              <a:buFont typeface="Times New Roman"/>
              <a:buChar char="●"/>
              <a:tabLst>
                <a:tab pos="298450" algn="l"/>
              </a:tabLst>
            </a:pPr>
            <a:r>
              <a:rPr dirty="0" sz="2000" spc="55" b="1">
                <a:solidFill>
                  <a:srgbClr val="2F251C"/>
                </a:solidFill>
                <a:latin typeface="Trebuchet MS"/>
                <a:cs typeface="Trebuchet MS"/>
              </a:rPr>
              <a:t>Loss</a:t>
            </a:r>
            <a:r>
              <a:rPr dirty="0" sz="2000" spc="-30" b="1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 b="1">
                <a:solidFill>
                  <a:srgbClr val="2F251C"/>
                </a:solidFill>
                <a:latin typeface="Trebuchet MS"/>
                <a:cs typeface="Trebuchet MS"/>
              </a:rPr>
              <a:t>Aversion:</a:t>
            </a:r>
            <a:r>
              <a:rPr dirty="0" sz="2000" spc="55" b="1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 spc="114">
                <a:solidFill>
                  <a:srgbClr val="2F251C"/>
                </a:solidFill>
                <a:latin typeface="Trebuchet MS"/>
                <a:cs typeface="Trebuchet MS"/>
              </a:rPr>
              <a:t>Does</a:t>
            </a:r>
            <a:r>
              <a:rPr dirty="0" sz="200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2F251C"/>
                </a:solidFill>
                <a:latin typeface="Trebuchet MS"/>
                <a:cs typeface="Trebuchet MS"/>
              </a:rPr>
              <a:t>fear</a:t>
            </a:r>
            <a:r>
              <a:rPr dirty="0" sz="2000" spc="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2F251C"/>
                </a:solidFill>
                <a:latin typeface="Trebuchet MS"/>
                <a:cs typeface="Trebuchet MS"/>
              </a:rPr>
              <a:t>of</a:t>
            </a:r>
            <a:r>
              <a:rPr dirty="0" sz="2000" spc="1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2F251C"/>
                </a:solidFill>
                <a:latin typeface="Trebuchet MS"/>
                <a:cs typeface="Trebuchet MS"/>
              </a:rPr>
              <a:t>losing</a:t>
            </a:r>
            <a:r>
              <a:rPr dirty="0" sz="2000" spc="4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2F251C"/>
                </a:solidFill>
                <a:latin typeface="Trebuchet MS"/>
                <a:cs typeface="Trebuchet MS"/>
              </a:rPr>
              <a:t>opportunities </a:t>
            </a:r>
            <a:r>
              <a:rPr dirty="0" sz="2000" spc="-10">
                <a:solidFill>
                  <a:srgbClr val="2F251C"/>
                </a:solidFill>
                <a:latin typeface="Trebuchet MS"/>
                <a:cs typeface="Trebuchet MS"/>
              </a:rPr>
              <a:t>drive </a:t>
            </a:r>
            <a:r>
              <a:rPr dirty="0" sz="2000" spc="60">
                <a:solidFill>
                  <a:srgbClr val="2F251C"/>
                </a:solidFill>
                <a:latin typeface="Trebuchet MS"/>
                <a:cs typeface="Trebuchet MS"/>
              </a:rPr>
              <a:t>payment?</a:t>
            </a:r>
            <a:endParaRPr sz="2000">
              <a:latin typeface="Trebuchet MS"/>
              <a:cs typeface="Trebuchet MS"/>
            </a:endParaRPr>
          </a:p>
          <a:p>
            <a:pPr marL="298450" marR="473709" indent="-286385">
              <a:lnSpc>
                <a:spcPct val="100000"/>
              </a:lnSpc>
              <a:spcBef>
                <a:spcPts val="10"/>
              </a:spcBef>
              <a:buSzPct val="70000"/>
              <a:buFont typeface="Times New Roman"/>
              <a:buChar char="●"/>
              <a:tabLst>
                <a:tab pos="298450" algn="l"/>
              </a:tabLst>
            </a:pPr>
            <a:r>
              <a:rPr dirty="0" sz="2000" b="1">
                <a:solidFill>
                  <a:srgbClr val="2F251C"/>
                </a:solidFill>
                <a:latin typeface="Trebuchet MS"/>
                <a:cs typeface="Trebuchet MS"/>
              </a:rPr>
              <a:t>Behavioral</a:t>
            </a:r>
            <a:r>
              <a:rPr dirty="0" sz="2000" spc="-45" b="1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 b="1">
                <a:solidFill>
                  <a:srgbClr val="2F251C"/>
                </a:solidFill>
                <a:latin typeface="Trebuchet MS"/>
                <a:cs typeface="Trebuchet MS"/>
              </a:rPr>
              <a:t>Signals:</a:t>
            </a:r>
            <a:r>
              <a:rPr dirty="0" sz="2000" spc="15" b="1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2F251C"/>
                </a:solidFill>
                <a:latin typeface="Trebuchet MS"/>
                <a:cs typeface="Trebuchet MS"/>
              </a:rPr>
              <a:t>What</a:t>
            </a:r>
            <a:r>
              <a:rPr dirty="0" sz="2000" spc="-1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 spc="95">
                <a:solidFill>
                  <a:srgbClr val="2F251C"/>
                </a:solidFill>
                <a:latin typeface="Trebuchet MS"/>
                <a:cs typeface="Trebuchet MS"/>
              </a:rPr>
              <a:t>do</a:t>
            </a:r>
            <a:r>
              <a:rPr dirty="0" sz="2000" spc="-5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 spc="75">
                <a:solidFill>
                  <a:srgbClr val="2F251C"/>
                </a:solidFill>
                <a:latin typeface="Trebuchet MS"/>
                <a:cs typeface="Trebuchet MS"/>
              </a:rPr>
              <a:t>missing</a:t>
            </a:r>
            <a:r>
              <a:rPr dirty="0" sz="2000" spc="-1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2F251C"/>
                </a:solidFill>
                <a:latin typeface="Trebuchet MS"/>
                <a:cs typeface="Trebuchet MS"/>
              </a:rPr>
              <a:t>data patterns</a:t>
            </a:r>
            <a:r>
              <a:rPr dirty="0" sz="2000" spc="-4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2F251C"/>
                </a:solidFill>
                <a:latin typeface="Trebuchet MS"/>
                <a:cs typeface="Trebuchet MS"/>
              </a:rPr>
              <a:t>reveal </a:t>
            </a:r>
            <a:r>
              <a:rPr dirty="0" sz="2000">
                <a:solidFill>
                  <a:srgbClr val="2F251C"/>
                </a:solidFill>
                <a:latin typeface="Trebuchet MS"/>
                <a:cs typeface="Trebuchet MS"/>
              </a:rPr>
              <a:t>about</a:t>
            </a:r>
            <a:r>
              <a:rPr dirty="0" sz="2000" spc="8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2F251C"/>
                </a:solidFill>
                <a:latin typeface="Trebuchet MS"/>
                <a:cs typeface="Trebuchet MS"/>
              </a:rPr>
              <a:t>victim</a:t>
            </a:r>
            <a:r>
              <a:rPr dirty="0" sz="2000" spc="3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2000" spc="85">
                <a:solidFill>
                  <a:srgbClr val="2F251C"/>
                </a:solidFill>
                <a:latin typeface="Trebuchet MS"/>
                <a:cs typeface="Trebuchet MS"/>
              </a:rPr>
              <a:t>psychology?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94702" y="586486"/>
            <a:ext cx="6221095" cy="5295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300"/>
              <a:t>Research</a:t>
            </a:r>
            <a:r>
              <a:rPr dirty="0" sz="3300" spc="-60"/>
              <a:t> </a:t>
            </a:r>
            <a:r>
              <a:rPr dirty="0" sz="3300"/>
              <a:t>Questions</a:t>
            </a:r>
            <a:r>
              <a:rPr dirty="0" sz="3300" spc="-80"/>
              <a:t> </a:t>
            </a:r>
            <a:r>
              <a:rPr dirty="0" sz="3300"/>
              <a:t>and</a:t>
            </a:r>
            <a:r>
              <a:rPr dirty="0" sz="3300" spc="-55"/>
              <a:t> </a:t>
            </a:r>
            <a:r>
              <a:rPr dirty="0" sz="3300" spc="-10"/>
              <a:t>Hypotheses</a:t>
            </a:r>
            <a:endParaRPr sz="3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5564" y="561974"/>
            <a:ext cx="3977004" cy="5295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300"/>
              <a:t>Theoretical</a:t>
            </a:r>
            <a:r>
              <a:rPr dirty="0" sz="3300" spc="-75"/>
              <a:t> </a:t>
            </a:r>
            <a:r>
              <a:rPr dirty="0" sz="3300" spc="-10"/>
              <a:t>Framework</a:t>
            </a:r>
            <a:endParaRPr sz="33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0" y="1376680"/>
          <a:ext cx="9220200" cy="23768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Theory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Mechanism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Prediction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Source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Sunk</a:t>
                      </a:r>
                      <a:r>
                        <a:rPr dirty="0" sz="14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Cost</a:t>
                      </a:r>
                      <a:r>
                        <a:rPr dirty="0" sz="1400" spc="-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Fallacy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Irrecoverable</a:t>
                      </a:r>
                      <a:r>
                        <a:rPr dirty="0" sz="1400" spc="-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investments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39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→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escalating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commitment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Higher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sunk</a:t>
                      </a:r>
                      <a:r>
                        <a:rPr dirty="0" sz="1400" spc="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cost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→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588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Payment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Arkes</a:t>
                      </a:r>
                      <a:r>
                        <a:rPr dirty="0" sz="14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Blumer,</a:t>
                      </a:r>
                      <a:r>
                        <a:rPr dirty="0" sz="14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1985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4986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Social</a:t>
                      </a:r>
                      <a:r>
                        <a:rPr dirty="0" sz="14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 b="1">
                          <a:latin typeface="Arial"/>
                          <a:cs typeface="Arial"/>
                        </a:rPr>
                        <a:t>Proof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5049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Informational</a:t>
                      </a:r>
                      <a:r>
                        <a:rPr dirty="0" sz="14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cascades</a:t>
                      </a:r>
                      <a:r>
                        <a:rPr dirty="0" sz="14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→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39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trust</a:t>
                      </a:r>
                      <a:r>
                        <a:rPr dirty="0" sz="14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increase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Testimonials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→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Trust</a:t>
                      </a:r>
                      <a:r>
                        <a:rPr dirty="0" sz="14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→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588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Payment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Cialdini,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2006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5049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Loss</a:t>
                      </a:r>
                      <a:r>
                        <a:rPr dirty="0" sz="1400" spc="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Aversion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5176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 marR="417195">
                        <a:lnSpc>
                          <a:spcPct val="103000"/>
                        </a:lnSpc>
                        <a:spcBef>
                          <a:spcPts val="30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Losses</a:t>
                      </a:r>
                      <a:r>
                        <a:rPr dirty="0" sz="14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hurt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more</a:t>
                      </a:r>
                      <a:r>
                        <a:rPr dirty="0" sz="140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than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gains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Fear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missing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out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→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588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Payment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 marR="434975">
                        <a:lnSpc>
                          <a:spcPct val="103000"/>
                        </a:lnSpc>
                        <a:spcBef>
                          <a:spcPts val="30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Kahneman</a:t>
                      </a:r>
                      <a:r>
                        <a:rPr dirty="0" sz="14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40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Tversky, 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1979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Ostrich</a:t>
                      </a:r>
                      <a:r>
                        <a:rPr dirty="0" sz="14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Effect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5240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 marR="436880">
                        <a:lnSpc>
                          <a:spcPct val="103000"/>
                        </a:lnSpc>
                        <a:spcBef>
                          <a:spcPts val="309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Information</a:t>
                      </a:r>
                      <a:r>
                        <a:rPr dirty="0" sz="1400" spc="-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avoidance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after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losses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39369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 marR="443230">
                        <a:lnSpc>
                          <a:spcPct val="103000"/>
                        </a:lnSpc>
                        <a:spcBef>
                          <a:spcPts val="309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Financial loss</a:t>
                      </a:r>
                      <a:r>
                        <a:rPr dirty="0" sz="1400" spc="-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→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Non-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disclosure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39369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Galai</a:t>
                      </a:r>
                      <a:r>
                        <a:rPr dirty="0" sz="1400" spc="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400" spc="-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Sade,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2006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5240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330200" indent="-317500">
              <a:lnSpc>
                <a:spcPct val="100000"/>
              </a:lnSpc>
              <a:spcBef>
                <a:spcPts val="125"/>
              </a:spcBef>
              <a:buClr>
                <a:srgbClr val="2F251C"/>
              </a:buClr>
              <a:buSzPct val="70000"/>
              <a:buFont typeface="Times New Roman"/>
              <a:buChar char="●"/>
              <a:tabLst>
                <a:tab pos="330200" algn="l"/>
              </a:tabLst>
            </a:pPr>
            <a:r>
              <a:rPr dirty="0" b="1">
                <a:latin typeface="Trebuchet MS"/>
                <a:cs typeface="Trebuchet MS"/>
              </a:rPr>
              <a:t>Design:</a:t>
            </a:r>
            <a:r>
              <a:rPr dirty="0" spc="50" b="1">
                <a:latin typeface="Trebuchet MS"/>
                <a:cs typeface="Trebuchet MS"/>
              </a:rPr>
              <a:t> </a:t>
            </a:r>
            <a:r>
              <a:rPr dirty="0" spc="150"/>
              <a:t>Cross-</a:t>
            </a:r>
            <a:r>
              <a:rPr dirty="0"/>
              <a:t>sectional</a:t>
            </a:r>
            <a:r>
              <a:rPr dirty="0" spc="80"/>
              <a:t> </a:t>
            </a:r>
            <a:r>
              <a:rPr dirty="0"/>
              <a:t>online</a:t>
            </a:r>
            <a:r>
              <a:rPr dirty="0" spc="75"/>
              <a:t> </a:t>
            </a:r>
            <a:r>
              <a:rPr dirty="0"/>
              <a:t>survey</a:t>
            </a:r>
            <a:r>
              <a:rPr dirty="0" spc="15"/>
              <a:t> </a:t>
            </a:r>
            <a:r>
              <a:rPr dirty="0" spc="80"/>
              <a:t>(Google</a:t>
            </a:r>
            <a:r>
              <a:rPr dirty="0" spc="75"/>
              <a:t> </a:t>
            </a:r>
            <a:r>
              <a:rPr dirty="0" spc="65"/>
              <a:t>Forms)</a:t>
            </a:r>
          </a:p>
          <a:p>
            <a:pPr marL="330200" marR="290195" indent="-318135">
              <a:lnSpc>
                <a:spcPct val="100000"/>
              </a:lnSpc>
              <a:spcBef>
                <a:spcPts val="5"/>
              </a:spcBef>
              <a:buSzPct val="70000"/>
              <a:buFont typeface="Times New Roman"/>
              <a:buChar char="●"/>
              <a:tabLst>
                <a:tab pos="330200" algn="l"/>
              </a:tabLst>
            </a:pPr>
            <a:r>
              <a:rPr dirty="0" spc="-30" b="1">
                <a:latin typeface="Trebuchet MS"/>
                <a:cs typeface="Trebuchet MS"/>
              </a:rPr>
              <a:t>Population:</a:t>
            </a:r>
            <a:r>
              <a:rPr dirty="0" spc="55" b="1">
                <a:latin typeface="Trebuchet MS"/>
                <a:cs typeface="Trebuchet MS"/>
              </a:rPr>
              <a:t> </a:t>
            </a:r>
            <a:r>
              <a:rPr dirty="0" spc="-10"/>
              <a:t>IIIT</a:t>
            </a:r>
            <a:r>
              <a:rPr dirty="0" spc="125"/>
              <a:t> </a:t>
            </a:r>
            <a:r>
              <a:rPr dirty="0"/>
              <a:t>Hyderabad</a:t>
            </a:r>
            <a:r>
              <a:rPr dirty="0" spc="130"/>
              <a:t> </a:t>
            </a:r>
            <a:r>
              <a:rPr dirty="0"/>
              <a:t>community</a:t>
            </a:r>
            <a:r>
              <a:rPr dirty="0" spc="180"/>
              <a:t> </a:t>
            </a:r>
            <a:r>
              <a:rPr dirty="0"/>
              <a:t>(students,</a:t>
            </a:r>
            <a:r>
              <a:rPr dirty="0" spc="60"/>
              <a:t> </a:t>
            </a:r>
            <a:r>
              <a:rPr dirty="0" spc="-20"/>
              <a:t>staff, </a:t>
            </a:r>
            <a:r>
              <a:rPr dirty="0" spc="-10"/>
              <a:t>alumni)</a:t>
            </a:r>
          </a:p>
          <a:p>
            <a:pPr marL="330200" marR="5080" indent="-318135">
              <a:lnSpc>
                <a:spcPct val="100000"/>
              </a:lnSpc>
              <a:spcBef>
                <a:spcPts val="10"/>
              </a:spcBef>
              <a:buSzPct val="70000"/>
              <a:buFont typeface="Times New Roman"/>
              <a:buChar char="●"/>
              <a:tabLst>
                <a:tab pos="330200" algn="l"/>
              </a:tabLst>
            </a:pPr>
            <a:r>
              <a:rPr dirty="0" b="1">
                <a:latin typeface="Trebuchet MS"/>
                <a:cs typeface="Trebuchet MS"/>
              </a:rPr>
              <a:t>Sampling:</a:t>
            </a:r>
            <a:r>
              <a:rPr dirty="0" spc="-55" b="1">
                <a:latin typeface="Trebuchet MS"/>
                <a:cs typeface="Trebuchet MS"/>
              </a:rPr>
              <a:t> </a:t>
            </a:r>
            <a:r>
              <a:rPr dirty="0" spc="70"/>
              <a:t>Convenience</a:t>
            </a:r>
            <a:r>
              <a:rPr dirty="0" spc="-90"/>
              <a:t> </a:t>
            </a:r>
            <a:r>
              <a:rPr dirty="0" spc="50"/>
              <a:t>sampling</a:t>
            </a:r>
            <a:r>
              <a:rPr dirty="0" spc="-90"/>
              <a:t> </a:t>
            </a:r>
            <a:r>
              <a:rPr dirty="0"/>
              <a:t>via</a:t>
            </a:r>
            <a:r>
              <a:rPr dirty="0" spc="-10"/>
              <a:t> </a:t>
            </a:r>
            <a:r>
              <a:rPr dirty="0" spc="-25"/>
              <a:t>institutional</a:t>
            </a:r>
            <a:r>
              <a:rPr dirty="0" spc="-70"/>
              <a:t> </a:t>
            </a:r>
            <a:r>
              <a:rPr dirty="0"/>
              <a:t>email</a:t>
            </a:r>
            <a:r>
              <a:rPr dirty="0" spc="-75"/>
              <a:t> </a:t>
            </a:r>
            <a:r>
              <a:rPr dirty="0" spc="170"/>
              <a:t>+ </a:t>
            </a:r>
            <a:r>
              <a:rPr dirty="0"/>
              <a:t>social</a:t>
            </a:r>
            <a:r>
              <a:rPr dirty="0" spc="135"/>
              <a:t> </a:t>
            </a:r>
            <a:r>
              <a:rPr dirty="0" spc="-20"/>
              <a:t>media</a:t>
            </a:r>
          </a:p>
          <a:p>
            <a:pPr marL="330200" indent="-317500">
              <a:lnSpc>
                <a:spcPct val="100000"/>
              </a:lnSpc>
              <a:spcBef>
                <a:spcPts val="10"/>
              </a:spcBef>
              <a:buSzPct val="70000"/>
              <a:buFont typeface="Times New Roman"/>
              <a:buChar char="●"/>
              <a:tabLst>
                <a:tab pos="330200" algn="l"/>
              </a:tabLst>
            </a:pPr>
            <a:r>
              <a:rPr dirty="0" spc="-40" b="1">
                <a:latin typeface="Trebuchet MS"/>
                <a:cs typeface="Trebuchet MS"/>
              </a:rPr>
              <a:t>Timeline:</a:t>
            </a:r>
            <a:r>
              <a:rPr dirty="0" spc="-85" b="1">
                <a:latin typeface="Trebuchet MS"/>
                <a:cs typeface="Trebuchet MS"/>
              </a:rPr>
              <a:t> </a:t>
            </a:r>
            <a:r>
              <a:rPr dirty="0" spc="60"/>
              <a:t>October</a:t>
            </a:r>
            <a:r>
              <a:rPr dirty="0" spc="-55"/>
              <a:t> </a:t>
            </a:r>
            <a:r>
              <a:rPr dirty="0" spc="70"/>
              <a:t>7</a:t>
            </a:r>
            <a:r>
              <a:rPr dirty="0" spc="-50"/>
              <a:t> </a:t>
            </a:r>
            <a:r>
              <a:rPr dirty="0" spc="315"/>
              <a:t>-</a:t>
            </a:r>
            <a:r>
              <a:rPr dirty="0" spc="-55"/>
              <a:t> </a:t>
            </a:r>
            <a:r>
              <a:rPr dirty="0" spc="70"/>
              <a:t>November</a:t>
            </a:r>
            <a:r>
              <a:rPr dirty="0" spc="-50"/>
              <a:t> </a:t>
            </a:r>
            <a:r>
              <a:rPr dirty="0" spc="-335"/>
              <a:t>1,</a:t>
            </a:r>
            <a:r>
              <a:rPr dirty="0" spc="-85"/>
              <a:t> </a:t>
            </a:r>
            <a:r>
              <a:rPr dirty="0" spc="180"/>
              <a:t>2025</a:t>
            </a:r>
            <a:r>
              <a:rPr dirty="0" spc="-60"/>
              <a:t> </a:t>
            </a:r>
            <a:r>
              <a:rPr dirty="0" spc="145"/>
              <a:t>(25</a:t>
            </a:r>
            <a:r>
              <a:rPr dirty="0" spc="-65"/>
              <a:t> </a:t>
            </a:r>
            <a:r>
              <a:rPr dirty="0" spc="50"/>
              <a:t>days)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94702" y="586486"/>
            <a:ext cx="5101590" cy="5295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300"/>
              <a:t>Methodology</a:t>
            </a:r>
            <a:r>
              <a:rPr dirty="0" sz="3300" spc="-55"/>
              <a:t> </a:t>
            </a:r>
            <a:r>
              <a:rPr dirty="0" sz="3300"/>
              <a:t>–</a:t>
            </a:r>
            <a:r>
              <a:rPr dirty="0" sz="3300" spc="-45"/>
              <a:t> </a:t>
            </a:r>
            <a:r>
              <a:rPr dirty="0" sz="3300"/>
              <a:t>Survey</a:t>
            </a:r>
            <a:r>
              <a:rPr dirty="0" sz="3300" spc="-35"/>
              <a:t> </a:t>
            </a:r>
            <a:r>
              <a:rPr dirty="0" sz="3300" spc="-10"/>
              <a:t>Design</a:t>
            </a:r>
            <a:endParaRPr sz="3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dirty="0" spc="50"/>
              <a:t>Branching</a:t>
            </a:r>
            <a:r>
              <a:rPr dirty="0" spc="35"/>
              <a:t> </a:t>
            </a:r>
            <a:r>
              <a:rPr dirty="0"/>
              <a:t>online</a:t>
            </a:r>
            <a:r>
              <a:rPr dirty="0" spc="50"/>
              <a:t> </a:t>
            </a:r>
            <a:r>
              <a:rPr dirty="0"/>
              <a:t>survey</a:t>
            </a:r>
            <a:r>
              <a:rPr dirty="0" spc="-5"/>
              <a:t> </a:t>
            </a:r>
            <a:r>
              <a:rPr dirty="0"/>
              <a:t>with</a:t>
            </a:r>
            <a:r>
              <a:rPr dirty="0" spc="-45"/>
              <a:t> </a:t>
            </a:r>
            <a:r>
              <a:rPr dirty="0"/>
              <a:t>six</a:t>
            </a:r>
            <a:r>
              <a:rPr dirty="0" spc="50"/>
              <a:t> </a:t>
            </a:r>
            <a:r>
              <a:rPr dirty="0"/>
              <a:t>sections:</a:t>
            </a:r>
            <a:r>
              <a:rPr dirty="0" spc="25"/>
              <a:t> </a:t>
            </a:r>
            <a:r>
              <a:rPr dirty="0" spc="50"/>
              <a:t>screening</a:t>
            </a:r>
            <a:r>
              <a:rPr dirty="0" spc="-50"/>
              <a:t> &amp; </a:t>
            </a:r>
            <a:r>
              <a:rPr dirty="0" spc="45"/>
              <a:t>demographics,</a:t>
            </a:r>
            <a:r>
              <a:rPr dirty="0" spc="10"/>
              <a:t> </a:t>
            </a:r>
            <a:r>
              <a:rPr dirty="0"/>
              <a:t>baseline</a:t>
            </a:r>
            <a:r>
              <a:rPr dirty="0" spc="5"/>
              <a:t> </a:t>
            </a:r>
            <a:r>
              <a:rPr dirty="0"/>
              <a:t>awareness,</a:t>
            </a:r>
            <a:r>
              <a:rPr dirty="0" spc="15"/>
              <a:t> </a:t>
            </a:r>
            <a:r>
              <a:rPr dirty="0"/>
              <a:t>detailed</a:t>
            </a:r>
            <a:r>
              <a:rPr dirty="0" spc="-5"/>
              <a:t> </a:t>
            </a:r>
            <a:r>
              <a:rPr dirty="0" spc="-10"/>
              <a:t>encounter </a:t>
            </a:r>
            <a:r>
              <a:rPr dirty="0"/>
              <a:t>description,</a:t>
            </a:r>
            <a:r>
              <a:rPr dirty="0" spc="150"/>
              <a:t> </a:t>
            </a:r>
            <a:r>
              <a:rPr dirty="0"/>
              <a:t>psychological</a:t>
            </a:r>
            <a:r>
              <a:rPr dirty="0" spc="150"/>
              <a:t> </a:t>
            </a:r>
            <a:r>
              <a:rPr dirty="0"/>
              <a:t>drivers,</a:t>
            </a:r>
            <a:r>
              <a:rPr dirty="0" spc="65"/>
              <a:t> </a:t>
            </a:r>
            <a:r>
              <a:rPr dirty="0"/>
              <a:t>payment</a:t>
            </a:r>
            <a:r>
              <a:rPr dirty="0" spc="120"/>
              <a:t> </a:t>
            </a:r>
            <a:r>
              <a:rPr dirty="0"/>
              <a:t>behavior,</a:t>
            </a:r>
            <a:r>
              <a:rPr dirty="0" spc="150"/>
              <a:t> </a:t>
            </a:r>
            <a:r>
              <a:rPr dirty="0" spc="-25"/>
              <a:t>and </a:t>
            </a:r>
            <a:r>
              <a:rPr dirty="0" spc="-10"/>
              <a:t>emotional/behavioral</a:t>
            </a:r>
            <a:r>
              <a:rPr dirty="0" spc="-110"/>
              <a:t> </a:t>
            </a:r>
            <a:r>
              <a:rPr dirty="0" spc="-10"/>
              <a:t>outcomes.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94702" y="586486"/>
            <a:ext cx="2410460" cy="5295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300"/>
              <a:t>Survey</a:t>
            </a:r>
            <a:r>
              <a:rPr dirty="0" sz="3300" spc="-40"/>
              <a:t> </a:t>
            </a:r>
            <a:r>
              <a:rPr dirty="0" sz="3300" spc="-10"/>
              <a:t>Design</a:t>
            </a:r>
            <a:endParaRPr sz="3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4402" y="1356360"/>
            <a:ext cx="7103109" cy="33261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 spc="45">
                <a:solidFill>
                  <a:srgbClr val="2F251C"/>
                </a:solidFill>
                <a:latin typeface="Trebuchet MS"/>
                <a:cs typeface="Trebuchet MS"/>
              </a:rPr>
              <a:t>Screening</a:t>
            </a:r>
            <a:r>
              <a:rPr dirty="0" sz="1800" spc="2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F251C"/>
                </a:solidFill>
                <a:latin typeface="Trebuchet MS"/>
                <a:cs typeface="Trebuchet MS"/>
              </a:rPr>
              <a:t>and</a:t>
            </a:r>
            <a:r>
              <a:rPr dirty="0" sz="1800" spc="11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 spc="55">
                <a:solidFill>
                  <a:srgbClr val="2F251C"/>
                </a:solidFill>
                <a:latin typeface="Trebuchet MS"/>
                <a:cs typeface="Trebuchet MS"/>
              </a:rPr>
              <a:t>demographics</a:t>
            </a:r>
            <a:r>
              <a:rPr dirty="0" sz="1800" spc="3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F251C"/>
                </a:solidFill>
                <a:latin typeface="Trebuchet MS"/>
                <a:cs typeface="Trebuchet MS"/>
              </a:rPr>
              <a:t>captured</a:t>
            </a:r>
            <a:r>
              <a:rPr dirty="0" sz="1800" spc="11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2F251C"/>
                </a:solidFill>
                <a:latin typeface="Trebuchet MS"/>
                <a:cs typeface="Trebuchet MS"/>
              </a:rPr>
              <a:t>vulnerability</a:t>
            </a:r>
            <a:r>
              <a:rPr dirty="0" sz="1800" spc="4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F251C"/>
                </a:solidFill>
                <a:latin typeface="Trebuchet MS"/>
                <a:cs typeface="Trebuchet MS"/>
              </a:rPr>
              <a:t>markers</a:t>
            </a:r>
            <a:r>
              <a:rPr dirty="0" sz="1800" spc="3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2F251C"/>
                </a:solidFill>
                <a:latin typeface="Trebuchet MS"/>
                <a:cs typeface="Trebuchet MS"/>
              </a:rPr>
              <a:t>(age,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800">
                <a:solidFill>
                  <a:srgbClr val="2F251C"/>
                </a:solidFill>
                <a:latin typeface="Trebuchet MS"/>
                <a:cs typeface="Trebuchet MS"/>
              </a:rPr>
              <a:t>income,</a:t>
            </a:r>
            <a:r>
              <a:rPr dirty="0" sz="1800" spc="2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2F251C"/>
                </a:solidFill>
                <a:latin typeface="Trebuchet MS"/>
                <a:cs typeface="Trebuchet MS"/>
              </a:rPr>
              <a:t>financial</a:t>
            </a:r>
            <a:r>
              <a:rPr dirty="0" sz="1800" spc="1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2F251C"/>
                </a:solidFill>
                <a:latin typeface="Trebuchet MS"/>
                <a:cs typeface="Trebuchet MS"/>
              </a:rPr>
              <a:t>situation,</a:t>
            </a:r>
            <a:r>
              <a:rPr dirty="0" sz="1800" spc="3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F251C"/>
                </a:solidFill>
                <a:latin typeface="Trebuchet MS"/>
                <a:cs typeface="Trebuchet MS"/>
              </a:rPr>
              <a:t>community</a:t>
            </a:r>
            <a:r>
              <a:rPr dirty="0" sz="1800" spc="3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2F251C"/>
                </a:solidFill>
                <a:latin typeface="Trebuchet MS"/>
                <a:cs typeface="Trebuchet MS"/>
              </a:rPr>
              <a:t>ties),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>
              <a:latin typeface="Trebuchet MS"/>
              <a:cs typeface="Trebuchet MS"/>
            </a:endParaRPr>
          </a:p>
          <a:p>
            <a:pPr marL="12700" marR="179705">
              <a:lnSpc>
                <a:spcPct val="100899"/>
              </a:lnSpc>
            </a:pPr>
            <a:r>
              <a:rPr dirty="0" sz="1800">
                <a:solidFill>
                  <a:srgbClr val="2F251C"/>
                </a:solidFill>
                <a:latin typeface="Trebuchet MS"/>
                <a:cs typeface="Trebuchet MS"/>
              </a:rPr>
              <a:t>Baseline</a:t>
            </a:r>
            <a:r>
              <a:rPr dirty="0" sz="1800" spc="7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F251C"/>
                </a:solidFill>
                <a:latin typeface="Trebuchet MS"/>
                <a:cs typeface="Trebuchet MS"/>
              </a:rPr>
              <a:t>awareness</a:t>
            </a:r>
            <a:r>
              <a:rPr dirty="0" sz="1800" spc="10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F251C"/>
                </a:solidFill>
                <a:latin typeface="Trebuchet MS"/>
                <a:cs typeface="Trebuchet MS"/>
              </a:rPr>
              <a:t>measured</a:t>
            </a:r>
            <a:r>
              <a:rPr dirty="0" sz="1800" spc="18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F251C"/>
                </a:solidFill>
                <a:latin typeface="Trebuchet MS"/>
                <a:cs typeface="Trebuchet MS"/>
              </a:rPr>
              <a:t>prior</a:t>
            </a:r>
            <a:r>
              <a:rPr dirty="0" sz="1800" spc="7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 spc="90">
                <a:solidFill>
                  <a:srgbClr val="2F251C"/>
                </a:solidFill>
                <a:latin typeface="Trebuchet MS"/>
                <a:cs typeface="Trebuchet MS"/>
              </a:rPr>
              <a:t>scam</a:t>
            </a:r>
            <a:r>
              <a:rPr dirty="0" sz="1800" spc="8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F251C"/>
                </a:solidFill>
                <a:latin typeface="Trebuchet MS"/>
                <a:cs typeface="Trebuchet MS"/>
              </a:rPr>
              <a:t>knowledge,</a:t>
            </a:r>
            <a:r>
              <a:rPr dirty="0" sz="1800" spc="11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2F251C"/>
                </a:solidFill>
                <a:latin typeface="Trebuchet MS"/>
                <a:cs typeface="Trebuchet MS"/>
              </a:rPr>
              <a:t>confidence, </a:t>
            </a:r>
            <a:r>
              <a:rPr dirty="0" sz="1800">
                <a:solidFill>
                  <a:srgbClr val="2F251C"/>
                </a:solidFill>
                <a:latin typeface="Trebuchet MS"/>
                <a:cs typeface="Trebuchet MS"/>
              </a:rPr>
              <a:t>and</a:t>
            </a:r>
            <a:r>
              <a:rPr dirty="0" sz="1800" spc="7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F251C"/>
                </a:solidFill>
                <a:latin typeface="Trebuchet MS"/>
                <a:cs typeface="Trebuchet MS"/>
              </a:rPr>
              <a:t>reporting</a:t>
            </a:r>
            <a:r>
              <a:rPr dirty="0" sz="1800" spc="7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2F251C"/>
                </a:solidFill>
                <a:latin typeface="Trebuchet MS"/>
                <a:cs typeface="Trebuchet MS"/>
              </a:rPr>
              <a:t>knowledge.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800">
              <a:latin typeface="Trebuchet MS"/>
              <a:cs typeface="Trebuchet MS"/>
            </a:endParaRPr>
          </a:p>
          <a:p>
            <a:pPr algn="just" marL="12700" marR="5080">
              <a:lnSpc>
                <a:spcPct val="99100"/>
              </a:lnSpc>
            </a:pPr>
            <a:r>
              <a:rPr dirty="0" sz="1800" spc="55">
                <a:solidFill>
                  <a:srgbClr val="2F251C"/>
                </a:solidFill>
                <a:latin typeface="Trebuchet MS"/>
                <a:cs typeface="Trebuchet MS"/>
              </a:rPr>
              <a:t>Recorded</a:t>
            </a:r>
            <a:r>
              <a:rPr dirty="0" sz="1800" spc="-1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 spc="75">
                <a:solidFill>
                  <a:srgbClr val="2F251C"/>
                </a:solidFill>
                <a:latin typeface="Trebuchet MS"/>
                <a:cs typeface="Trebuchet MS"/>
              </a:rPr>
              <a:t>scam</a:t>
            </a:r>
            <a:r>
              <a:rPr dirty="0" sz="1800" spc="-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F251C"/>
                </a:solidFill>
                <a:latin typeface="Trebuchet MS"/>
                <a:cs typeface="Trebuchet MS"/>
              </a:rPr>
              <a:t>type</a:t>
            </a:r>
            <a:r>
              <a:rPr dirty="0" sz="1800" spc="-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F251C"/>
                </a:solidFill>
                <a:latin typeface="Trebuchet MS"/>
                <a:cs typeface="Trebuchet MS"/>
              </a:rPr>
              <a:t>(payment </a:t>
            </a:r>
            <a:r>
              <a:rPr dirty="0" sz="1800" spc="105">
                <a:solidFill>
                  <a:srgbClr val="2F251C"/>
                </a:solidFill>
                <a:latin typeface="Trebuchet MS"/>
                <a:cs typeface="Trebuchet MS"/>
              </a:rPr>
              <a:t>vs</a:t>
            </a:r>
            <a:r>
              <a:rPr dirty="0" sz="1800" spc="1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2F251C"/>
                </a:solidFill>
                <a:latin typeface="Trebuchet MS"/>
                <a:cs typeface="Trebuchet MS"/>
              </a:rPr>
              <a:t>task),</a:t>
            </a:r>
            <a:r>
              <a:rPr dirty="0" sz="1800" spc="1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2F251C"/>
                </a:solidFill>
                <a:latin typeface="Trebuchet MS"/>
                <a:cs typeface="Trebuchet MS"/>
              </a:rPr>
              <a:t>platform,</a:t>
            </a:r>
            <a:r>
              <a:rPr dirty="0" sz="1800" spc="1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F251C"/>
                </a:solidFill>
                <a:latin typeface="Trebuchet MS"/>
                <a:cs typeface="Trebuchet MS"/>
              </a:rPr>
              <a:t>tactics</a:t>
            </a:r>
            <a:r>
              <a:rPr dirty="0" sz="1800" spc="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F251C"/>
                </a:solidFill>
                <a:latin typeface="Trebuchet MS"/>
                <a:cs typeface="Trebuchet MS"/>
              </a:rPr>
              <a:t>used,</a:t>
            </a:r>
            <a:r>
              <a:rPr dirty="0" sz="1800" spc="1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2F251C"/>
                </a:solidFill>
                <a:latin typeface="Trebuchet MS"/>
                <a:cs typeface="Trebuchet MS"/>
              </a:rPr>
              <a:t>and </a:t>
            </a:r>
            <a:r>
              <a:rPr dirty="0" sz="1800">
                <a:solidFill>
                  <a:srgbClr val="2F251C"/>
                </a:solidFill>
                <a:latin typeface="Trebuchet MS"/>
                <a:cs typeface="Trebuchet MS"/>
              </a:rPr>
              <a:t>core</a:t>
            </a:r>
            <a:r>
              <a:rPr dirty="0" sz="1800" spc="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 spc="45">
                <a:solidFill>
                  <a:srgbClr val="2F251C"/>
                </a:solidFill>
                <a:latin typeface="Trebuchet MS"/>
                <a:cs typeface="Trebuchet MS"/>
              </a:rPr>
              <a:t>psychological</a:t>
            </a:r>
            <a:r>
              <a:rPr dirty="0" sz="1800" spc="2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F251C"/>
                </a:solidFill>
                <a:latin typeface="Trebuchet MS"/>
                <a:cs typeface="Trebuchet MS"/>
              </a:rPr>
              <a:t>drivers</a:t>
            </a:r>
            <a:r>
              <a:rPr dirty="0" sz="1800" spc="2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 spc="85">
                <a:solidFill>
                  <a:srgbClr val="2F251C"/>
                </a:solidFill>
                <a:latin typeface="Trebuchet MS"/>
                <a:cs typeface="Trebuchet MS"/>
              </a:rPr>
              <a:t>such</a:t>
            </a:r>
            <a:r>
              <a:rPr dirty="0" sz="180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 spc="75">
                <a:solidFill>
                  <a:srgbClr val="2F251C"/>
                </a:solidFill>
                <a:latin typeface="Trebuchet MS"/>
                <a:cs typeface="Trebuchet MS"/>
              </a:rPr>
              <a:t>as</a:t>
            </a:r>
            <a:r>
              <a:rPr dirty="0" sz="1800" spc="2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F251C"/>
                </a:solidFill>
                <a:latin typeface="Trebuchet MS"/>
                <a:cs typeface="Trebuchet MS"/>
              </a:rPr>
              <a:t>sunk</a:t>
            </a:r>
            <a:r>
              <a:rPr dirty="0" sz="1800" spc="2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F251C"/>
                </a:solidFill>
                <a:latin typeface="Trebuchet MS"/>
                <a:cs typeface="Trebuchet MS"/>
              </a:rPr>
              <a:t>cost,</a:t>
            </a:r>
            <a:r>
              <a:rPr dirty="0" sz="1800" spc="2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F251C"/>
                </a:solidFill>
                <a:latin typeface="Trebuchet MS"/>
                <a:cs typeface="Trebuchet MS"/>
              </a:rPr>
              <a:t>social</a:t>
            </a:r>
            <a:r>
              <a:rPr dirty="0" sz="1800" spc="2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F251C"/>
                </a:solidFill>
                <a:latin typeface="Trebuchet MS"/>
                <a:cs typeface="Trebuchet MS"/>
              </a:rPr>
              <a:t>proof,</a:t>
            </a:r>
            <a:r>
              <a:rPr dirty="0" sz="1800" spc="3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2F251C"/>
                </a:solidFill>
                <a:latin typeface="Trebuchet MS"/>
                <a:cs typeface="Trebuchet MS"/>
              </a:rPr>
              <a:t>urgency, </a:t>
            </a:r>
            <a:r>
              <a:rPr dirty="0" sz="1800">
                <a:solidFill>
                  <a:srgbClr val="2F251C"/>
                </a:solidFill>
                <a:latin typeface="Trebuchet MS"/>
                <a:cs typeface="Trebuchet MS"/>
              </a:rPr>
              <a:t>and</a:t>
            </a:r>
            <a:r>
              <a:rPr dirty="0" sz="1800" spc="2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2F251C"/>
                </a:solidFill>
                <a:latin typeface="Trebuchet MS"/>
                <a:cs typeface="Trebuchet MS"/>
              </a:rPr>
              <a:t>trust.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800" spc="60">
                <a:solidFill>
                  <a:srgbClr val="2F251C"/>
                </a:solidFill>
                <a:latin typeface="Trebuchet MS"/>
                <a:cs typeface="Trebuchet MS"/>
              </a:rPr>
              <a:t>Measured</a:t>
            </a:r>
            <a:r>
              <a:rPr dirty="0" sz="1800" spc="-3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F251C"/>
                </a:solidFill>
                <a:latin typeface="Trebuchet MS"/>
                <a:cs typeface="Trebuchet MS"/>
              </a:rPr>
              <a:t>actual</a:t>
            </a:r>
            <a:r>
              <a:rPr dirty="0" sz="1800" spc="-2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F251C"/>
                </a:solidFill>
                <a:latin typeface="Trebuchet MS"/>
                <a:cs typeface="Trebuchet MS"/>
              </a:rPr>
              <a:t>payment</a:t>
            </a:r>
            <a:r>
              <a:rPr dirty="0" sz="1800" spc="-2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F251C"/>
                </a:solidFill>
                <a:latin typeface="Trebuchet MS"/>
                <a:cs typeface="Trebuchet MS"/>
              </a:rPr>
              <a:t>behavior</a:t>
            </a:r>
            <a:r>
              <a:rPr dirty="0" sz="1800" spc="4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2F251C"/>
                </a:solidFill>
                <a:latin typeface="Trebuchet MS"/>
                <a:cs typeface="Trebuchet MS"/>
              </a:rPr>
              <a:t>(whether/how</a:t>
            </a:r>
            <a:r>
              <a:rPr dirty="0" sz="1800" spc="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F251C"/>
                </a:solidFill>
                <a:latin typeface="Trebuchet MS"/>
                <a:cs typeface="Trebuchet MS"/>
              </a:rPr>
              <a:t>much/how</a:t>
            </a:r>
            <a:r>
              <a:rPr dirty="0" sz="1800" spc="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2F251C"/>
                </a:solidFill>
                <a:latin typeface="Trebuchet MS"/>
                <a:cs typeface="Trebuchet MS"/>
              </a:rPr>
              <a:t>often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800">
                <a:solidFill>
                  <a:srgbClr val="2F251C"/>
                </a:solidFill>
                <a:latin typeface="Trebuchet MS"/>
                <a:cs typeface="Trebuchet MS"/>
              </a:rPr>
              <a:t>they</a:t>
            </a:r>
            <a:r>
              <a:rPr dirty="0" sz="1800" spc="6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F251C"/>
                </a:solidFill>
                <a:latin typeface="Trebuchet MS"/>
                <a:cs typeface="Trebuchet MS"/>
              </a:rPr>
              <a:t>paid)</a:t>
            </a:r>
            <a:r>
              <a:rPr dirty="0" sz="1800" spc="1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F251C"/>
                </a:solidFill>
                <a:latin typeface="Trebuchet MS"/>
                <a:cs typeface="Trebuchet MS"/>
              </a:rPr>
              <a:t>and</a:t>
            </a:r>
            <a:r>
              <a:rPr dirty="0" sz="1800" spc="4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 spc="100">
                <a:solidFill>
                  <a:srgbClr val="2F251C"/>
                </a:solidFill>
                <a:latin typeface="Trebuchet MS"/>
                <a:cs typeface="Trebuchet MS"/>
              </a:rPr>
              <a:t>post-</a:t>
            </a:r>
            <a:r>
              <a:rPr dirty="0" sz="1800" spc="70">
                <a:solidFill>
                  <a:srgbClr val="2F251C"/>
                </a:solidFill>
                <a:latin typeface="Trebuchet MS"/>
                <a:cs typeface="Trebuchet MS"/>
              </a:rPr>
              <a:t>scam</a:t>
            </a:r>
            <a:r>
              <a:rPr dirty="0" sz="1800" spc="12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 spc="55">
                <a:solidFill>
                  <a:srgbClr val="2F251C"/>
                </a:solidFill>
                <a:latin typeface="Trebuchet MS"/>
                <a:cs typeface="Trebuchet MS"/>
              </a:rPr>
              <a:t>responses</a:t>
            </a:r>
            <a:r>
              <a:rPr dirty="0" sz="1800" spc="4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2F251C"/>
                </a:solidFill>
                <a:latin typeface="Trebuchet MS"/>
                <a:cs typeface="Trebuchet MS"/>
              </a:rPr>
              <a:t>(emotions</a:t>
            </a:r>
            <a:r>
              <a:rPr dirty="0" sz="1800" spc="4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2F251C"/>
                </a:solidFill>
                <a:latin typeface="Trebuchet MS"/>
                <a:cs typeface="Trebuchet MS"/>
              </a:rPr>
              <a:t>and</a:t>
            </a:r>
            <a:r>
              <a:rPr dirty="0" sz="1800" spc="3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2F251C"/>
                </a:solidFill>
                <a:latin typeface="Trebuchet MS"/>
                <a:cs typeface="Trebuchet MS"/>
              </a:rPr>
              <a:t>reporting)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94702" y="340105"/>
            <a:ext cx="4339590" cy="5295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300"/>
              <a:t>Survey</a:t>
            </a:r>
            <a:r>
              <a:rPr dirty="0" sz="3300" spc="-30"/>
              <a:t> </a:t>
            </a:r>
            <a:r>
              <a:rPr dirty="0" sz="3300"/>
              <a:t>Design</a:t>
            </a:r>
            <a:r>
              <a:rPr dirty="0" sz="3300" spc="-25"/>
              <a:t> </a:t>
            </a:r>
            <a:r>
              <a:rPr dirty="0" sz="3300"/>
              <a:t>-</a:t>
            </a:r>
            <a:r>
              <a:rPr dirty="0" sz="3300" spc="-25"/>
              <a:t> </a:t>
            </a:r>
            <a:r>
              <a:rPr dirty="0" sz="3300" spc="-10"/>
              <a:t>Rationale</a:t>
            </a:r>
            <a:endParaRPr sz="3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3230" y="635635"/>
            <a:ext cx="3804285" cy="5295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300"/>
              <a:t>Ethical</a:t>
            </a:r>
            <a:r>
              <a:rPr dirty="0" sz="3300" spc="-80"/>
              <a:t> </a:t>
            </a:r>
            <a:r>
              <a:rPr dirty="0" sz="3300" spc="-10"/>
              <a:t>Considerations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442912" y="1542414"/>
            <a:ext cx="6236335" cy="155638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2000">
                <a:latin typeface="Trebuchet MS"/>
                <a:cs typeface="Trebuchet MS"/>
              </a:rPr>
              <a:t>Informed</a:t>
            </a:r>
            <a:r>
              <a:rPr dirty="0" sz="2000" spc="105">
                <a:latin typeface="Trebuchet MS"/>
                <a:cs typeface="Trebuchet MS"/>
              </a:rPr>
              <a:t> </a:t>
            </a:r>
            <a:r>
              <a:rPr dirty="0" sz="2000" spc="70">
                <a:latin typeface="Trebuchet MS"/>
                <a:cs typeface="Trebuchet MS"/>
              </a:rPr>
              <a:t>Consent</a:t>
            </a:r>
            <a:endParaRPr sz="20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2000" spc="85">
                <a:latin typeface="Trebuchet MS"/>
                <a:cs typeface="Trebuchet MS"/>
              </a:rPr>
              <a:t>Anonymous</a:t>
            </a:r>
            <a:r>
              <a:rPr dirty="0" sz="2000" spc="-70">
                <a:latin typeface="Trebuchet MS"/>
                <a:cs typeface="Trebuchet MS"/>
              </a:rPr>
              <a:t> </a:t>
            </a:r>
            <a:r>
              <a:rPr dirty="0" sz="2000" spc="70">
                <a:latin typeface="Trebuchet MS"/>
                <a:cs typeface="Trebuchet MS"/>
              </a:rPr>
              <a:t>responses</a:t>
            </a:r>
            <a:r>
              <a:rPr dirty="0" sz="2000" spc="-70">
                <a:latin typeface="Trebuchet MS"/>
                <a:cs typeface="Trebuchet MS"/>
              </a:rPr>
              <a:t> </a:t>
            </a:r>
            <a:r>
              <a:rPr dirty="0" sz="2000" spc="75">
                <a:latin typeface="Trebuchet MS"/>
                <a:cs typeface="Trebuchet MS"/>
              </a:rPr>
              <a:t>(no</a:t>
            </a:r>
            <a:r>
              <a:rPr dirty="0" sz="2000" spc="-7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identifying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information)</a:t>
            </a:r>
            <a:endParaRPr sz="20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2000">
                <a:latin typeface="Trebuchet MS"/>
                <a:cs typeface="Trebuchet MS"/>
              </a:rPr>
              <a:t>Sensitive</a:t>
            </a:r>
            <a:r>
              <a:rPr dirty="0" sz="2000" spc="160">
                <a:latin typeface="Trebuchet MS"/>
                <a:cs typeface="Trebuchet MS"/>
              </a:rPr>
              <a:t> </a:t>
            </a:r>
            <a:r>
              <a:rPr dirty="0" sz="2000" spc="-25">
                <a:latin typeface="Trebuchet MS"/>
                <a:cs typeface="Trebuchet MS"/>
              </a:rPr>
              <a:t>financial</a:t>
            </a:r>
            <a:r>
              <a:rPr dirty="0" sz="2000" spc="8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questions</a:t>
            </a:r>
            <a:r>
              <a:rPr dirty="0" sz="2000" spc="105">
                <a:latin typeface="Trebuchet MS"/>
                <a:cs typeface="Trebuchet MS"/>
              </a:rPr>
              <a:t> </a:t>
            </a:r>
            <a:r>
              <a:rPr dirty="0" sz="2000" spc="60">
                <a:latin typeface="Trebuchet MS"/>
                <a:cs typeface="Trebuchet MS"/>
              </a:rPr>
              <a:t>made</a:t>
            </a:r>
            <a:r>
              <a:rPr dirty="0" sz="2000" spc="16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optional</a:t>
            </a:r>
            <a:endParaRPr sz="20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2000" spc="45">
                <a:latin typeface="Trebuchet MS"/>
                <a:cs typeface="Trebuchet MS"/>
              </a:rPr>
              <a:t>Trigger</a:t>
            </a:r>
            <a:r>
              <a:rPr dirty="0" sz="2000">
                <a:latin typeface="Trebuchet MS"/>
                <a:cs typeface="Trebuchet MS"/>
              </a:rPr>
              <a:t> warning</a:t>
            </a:r>
            <a:r>
              <a:rPr dirty="0" sz="2000" spc="3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for</a:t>
            </a:r>
            <a:r>
              <a:rPr dirty="0" sz="2000" spc="1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emotional</a:t>
            </a:r>
            <a:r>
              <a:rPr dirty="0" sz="2000" spc="-3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questions</a:t>
            </a:r>
            <a:endParaRPr sz="20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2000" spc="70">
                <a:latin typeface="Trebuchet MS"/>
                <a:cs typeface="Trebuchet MS"/>
              </a:rPr>
              <a:t>Resources</a:t>
            </a:r>
            <a:r>
              <a:rPr dirty="0" sz="2000" spc="6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provided</a:t>
            </a:r>
            <a:r>
              <a:rPr dirty="0" sz="2000" spc="10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for</a:t>
            </a:r>
            <a:r>
              <a:rPr dirty="0" sz="2000" spc="7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reporting</a:t>
            </a:r>
            <a:r>
              <a:rPr dirty="0" sz="2000" spc="10">
                <a:latin typeface="Trebuchet MS"/>
                <a:cs typeface="Trebuchet MS"/>
              </a:rPr>
              <a:t> </a:t>
            </a:r>
            <a:r>
              <a:rPr dirty="0" sz="2000" spc="100">
                <a:latin typeface="Trebuchet MS"/>
                <a:cs typeface="Trebuchet MS"/>
              </a:rPr>
              <a:t>scams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0675" y="1714817"/>
            <a:ext cx="1675764" cy="1035685"/>
          </a:xfrm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80"/>
              </a:spcBef>
            </a:pPr>
            <a:r>
              <a:rPr dirty="0" sz="3300" spc="-10"/>
              <a:t>Analytic Approach</a:t>
            </a:r>
            <a:endParaRPr sz="3300"/>
          </a:p>
        </p:txBody>
      </p:sp>
      <p:pic>
        <p:nvPicPr>
          <p:cNvPr id="3" name="object 3" descr="A diagram of a method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1375" y="-1"/>
            <a:ext cx="5762625" cy="50768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5122" y="235838"/>
            <a:ext cx="2822575" cy="3924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Sample</a:t>
            </a:r>
            <a:r>
              <a:rPr dirty="0" spc="-35"/>
              <a:t> </a:t>
            </a:r>
            <a:r>
              <a:rPr dirty="0" spc="-10"/>
              <a:t>Characteristics</a:t>
            </a:r>
          </a:p>
        </p:txBody>
      </p:sp>
      <p:pic>
        <p:nvPicPr>
          <p:cNvPr id="3" name="object 3" descr="A graph with numbers and a bar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7775" y="676275"/>
            <a:ext cx="6143625" cy="37909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5122" y="235838"/>
            <a:ext cx="2822575" cy="3924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Sample</a:t>
            </a:r>
            <a:r>
              <a:rPr dirty="0" spc="-35"/>
              <a:t> </a:t>
            </a:r>
            <a:r>
              <a:rPr dirty="0" spc="-10"/>
              <a:t>Characteristics</a:t>
            </a:r>
          </a:p>
        </p:txBody>
      </p:sp>
      <p:pic>
        <p:nvPicPr>
          <p:cNvPr id="3" name="object 3" descr="A graph with a bar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9175" y="857250"/>
            <a:ext cx="609600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5122" y="235838"/>
            <a:ext cx="2822575" cy="3924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Sample</a:t>
            </a:r>
            <a:r>
              <a:rPr dirty="0" spc="-35"/>
              <a:t> </a:t>
            </a:r>
            <a:r>
              <a:rPr dirty="0" spc="-10"/>
              <a:t>Characteristics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5825" y="1085850"/>
            <a:ext cx="6124575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5122" y="235838"/>
            <a:ext cx="2822575" cy="3924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Sample</a:t>
            </a:r>
            <a:r>
              <a:rPr dirty="0" spc="-35"/>
              <a:t> </a:t>
            </a:r>
            <a:r>
              <a:rPr dirty="0" spc="-10"/>
              <a:t>Characteristics</a:t>
            </a:r>
          </a:p>
        </p:txBody>
      </p:sp>
      <p:pic>
        <p:nvPicPr>
          <p:cNvPr id="3" name="object 3" descr="A graph with green bars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025" y="1143000"/>
            <a:ext cx="8743950" cy="33813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5122" y="235838"/>
            <a:ext cx="2822575" cy="3924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Sample</a:t>
            </a:r>
            <a:r>
              <a:rPr dirty="0" spc="-35"/>
              <a:t> </a:t>
            </a:r>
            <a:r>
              <a:rPr dirty="0" spc="-10"/>
              <a:t>Characteristics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3950" y="857250"/>
            <a:ext cx="6086475" cy="36766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5122" y="235838"/>
            <a:ext cx="2822575" cy="3924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Sample</a:t>
            </a:r>
            <a:r>
              <a:rPr dirty="0" spc="-35"/>
              <a:t> </a:t>
            </a:r>
            <a:r>
              <a:rPr dirty="0" spc="-10"/>
              <a:t>Characteristics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4975" y="809625"/>
            <a:ext cx="6162675" cy="37814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5564" y="219455"/>
            <a:ext cx="1348105" cy="3924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Scam</a:t>
            </a:r>
            <a:r>
              <a:rPr dirty="0" spc="-60"/>
              <a:t> </a:t>
            </a:r>
            <a:r>
              <a:rPr dirty="0" spc="-20"/>
              <a:t>Type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6113" y="1163827"/>
          <a:ext cx="9104630" cy="121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0"/>
                <a:gridCol w="3048000"/>
                <a:gridCol w="2925445"/>
              </a:tblGrid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Scam</a:t>
                      </a:r>
                      <a:r>
                        <a:rPr dirty="0" sz="14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 b="1">
                          <a:latin typeface="Arial"/>
                          <a:cs typeface="Arial"/>
                        </a:rPr>
                        <a:t>Type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400" spc="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 b="1">
                          <a:latin typeface="Arial"/>
                          <a:cs typeface="Arial"/>
                        </a:rPr>
                        <a:t>(%)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Description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3F3F3"/>
                      </a:solidFill>
                      <a:prstDash val="solid"/>
                    </a:lnL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Payment-based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15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(40.5%)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Pay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upfront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job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access/training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3F3F3"/>
                      </a:solidFill>
                      <a:prstDash val="solid"/>
                    </a:lnL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Task-based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12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(32.4%)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Complete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tasks</a:t>
                      </a:r>
                      <a:r>
                        <a:rPr dirty="0" sz="14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14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small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rewards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3F3F3"/>
                      </a:solidFill>
                      <a:prstDash val="solid"/>
                    </a:lnL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Other/Unsure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10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(27.0%)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Doesn't</a:t>
                      </a:r>
                      <a:r>
                        <a:rPr dirty="0" sz="1400" spc="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fit</a:t>
                      </a:r>
                      <a:r>
                        <a:rPr dirty="0" sz="14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clear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categories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3F3F3"/>
                      </a:solidFill>
                      <a:prstDash val="solid"/>
                    </a:lnL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5122" y="235838"/>
            <a:ext cx="3864610" cy="3924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How</a:t>
            </a:r>
            <a:r>
              <a:rPr dirty="0" spc="-35"/>
              <a:t> </a:t>
            </a:r>
            <a:r>
              <a:rPr dirty="0"/>
              <a:t>Did</a:t>
            </a:r>
            <a:r>
              <a:rPr dirty="0" spc="-30"/>
              <a:t> </a:t>
            </a:r>
            <a:r>
              <a:rPr dirty="0"/>
              <a:t>Scams</a:t>
            </a:r>
            <a:r>
              <a:rPr dirty="0" spc="-5"/>
              <a:t> </a:t>
            </a:r>
            <a:r>
              <a:rPr dirty="0"/>
              <a:t>Reach</a:t>
            </a:r>
            <a:r>
              <a:rPr dirty="0" spc="-25"/>
              <a:t> </a:t>
            </a:r>
            <a:r>
              <a:rPr dirty="0" spc="-10"/>
              <a:t>Victims?</a:t>
            </a:r>
          </a:p>
        </p:txBody>
      </p:sp>
      <p:pic>
        <p:nvPicPr>
          <p:cNvPr id="3" name="object 3" descr="A graph with a bar graph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650" y="752475"/>
            <a:ext cx="7410450" cy="39814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5122" y="235838"/>
            <a:ext cx="3472815" cy="3924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Top</a:t>
            </a:r>
            <a:r>
              <a:rPr dirty="0" spc="-45"/>
              <a:t> </a:t>
            </a:r>
            <a:r>
              <a:rPr dirty="0"/>
              <a:t>Scam</a:t>
            </a:r>
            <a:r>
              <a:rPr dirty="0" spc="-20"/>
              <a:t> </a:t>
            </a:r>
            <a:r>
              <a:rPr dirty="0"/>
              <a:t>Elements</a:t>
            </a:r>
            <a:r>
              <a:rPr dirty="0" spc="-90"/>
              <a:t> </a:t>
            </a:r>
            <a:r>
              <a:rPr dirty="0" spc="-10"/>
              <a:t>Noticed</a:t>
            </a:r>
          </a:p>
        </p:txBody>
      </p:sp>
      <p:pic>
        <p:nvPicPr>
          <p:cNvPr id="3" name="object 3" descr="A graph of a number of red flags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025" y="847725"/>
            <a:ext cx="8743950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5122" y="235838"/>
            <a:ext cx="7717155" cy="755015"/>
          </a:xfrm>
          <a:prstGeom prst="rect"/>
        </p:spPr>
        <p:txBody>
          <a:bodyPr wrap="square" lIns="0" tIns="27305" rIns="0" bIns="0" rtlCol="0" vert="horz">
            <a:spAutoFit/>
          </a:bodyPr>
          <a:lstStyle/>
          <a:p>
            <a:pPr marL="12700" marR="5080">
              <a:lnSpc>
                <a:spcPts val="2860"/>
              </a:lnSpc>
              <a:spcBef>
                <a:spcPts val="215"/>
              </a:spcBef>
            </a:pPr>
            <a:r>
              <a:rPr dirty="0"/>
              <a:t>Factors</a:t>
            </a:r>
            <a:r>
              <a:rPr dirty="0" spc="-35"/>
              <a:t> </a:t>
            </a:r>
            <a:r>
              <a:rPr dirty="0"/>
              <a:t>Influencing</a:t>
            </a:r>
            <a:r>
              <a:rPr dirty="0" spc="-65"/>
              <a:t> </a:t>
            </a:r>
            <a:r>
              <a:rPr dirty="0"/>
              <a:t>Payment</a:t>
            </a:r>
            <a:r>
              <a:rPr dirty="0" spc="-50"/>
              <a:t> </a:t>
            </a:r>
            <a:r>
              <a:rPr dirty="0"/>
              <a:t>Consideration</a:t>
            </a:r>
            <a:r>
              <a:rPr dirty="0" spc="-50"/>
              <a:t> </a:t>
            </a:r>
            <a:r>
              <a:rPr dirty="0">
                <a:solidFill>
                  <a:srgbClr val="383942"/>
                </a:solidFill>
              </a:rPr>
              <a:t>(</a:t>
            </a:r>
            <a:r>
              <a:rPr dirty="0"/>
              <a:t>among</a:t>
            </a:r>
            <a:r>
              <a:rPr dirty="0" spc="-70"/>
              <a:t> </a:t>
            </a:r>
            <a:r>
              <a:rPr dirty="0"/>
              <a:t>those</a:t>
            </a:r>
            <a:r>
              <a:rPr dirty="0" spc="-55"/>
              <a:t> </a:t>
            </a:r>
            <a:r>
              <a:rPr dirty="0" spc="-25"/>
              <a:t>who </a:t>
            </a:r>
            <a:r>
              <a:rPr dirty="0" spc="-10"/>
              <a:t>engaged</a:t>
            </a:r>
            <a:r>
              <a:rPr dirty="0" spc="-10">
                <a:solidFill>
                  <a:srgbClr val="383942"/>
                </a:solidFill>
              </a:rPr>
              <a:t>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6125" y="962025"/>
            <a:ext cx="5572125" cy="26098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39" y="1381442"/>
            <a:ext cx="2922905" cy="8826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99900"/>
              </a:lnSpc>
              <a:spcBef>
                <a:spcPts val="130"/>
              </a:spcBef>
            </a:pPr>
            <a:r>
              <a:rPr dirty="0" sz="1400">
                <a:solidFill>
                  <a:srgbClr val="383942"/>
                </a:solidFill>
                <a:latin typeface="Arial"/>
                <a:cs typeface="Arial"/>
              </a:rPr>
              <a:t>These</a:t>
            </a:r>
            <a:r>
              <a:rPr dirty="0" sz="1400" spc="-10">
                <a:solidFill>
                  <a:srgbClr val="383942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83942"/>
                </a:solidFill>
                <a:latin typeface="Arial"/>
                <a:cs typeface="Arial"/>
              </a:rPr>
              <a:t>factors</a:t>
            </a:r>
            <a:r>
              <a:rPr dirty="0" sz="1400" spc="-5">
                <a:solidFill>
                  <a:srgbClr val="383942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83942"/>
                </a:solidFill>
                <a:latin typeface="Arial"/>
                <a:cs typeface="Arial"/>
              </a:rPr>
              <a:t>were</a:t>
            </a:r>
            <a:r>
              <a:rPr dirty="0" sz="1400" spc="-80">
                <a:solidFill>
                  <a:srgbClr val="383942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83942"/>
                </a:solidFill>
                <a:latin typeface="Arial"/>
                <a:cs typeface="Arial"/>
              </a:rPr>
              <a:t>cited</a:t>
            </a:r>
            <a:r>
              <a:rPr dirty="0" sz="1400" spc="-10">
                <a:solidFill>
                  <a:srgbClr val="383942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83942"/>
                </a:solidFill>
                <a:latin typeface="Arial"/>
                <a:cs typeface="Arial"/>
              </a:rPr>
              <a:t>by</a:t>
            </a:r>
            <a:r>
              <a:rPr dirty="0" sz="1400" spc="-5">
                <a:solidFill>
                  <a:srgbClr val="383942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83942"/>
                </a:solidFill>
                <a:latin typeface="Arial"/>
                <a:cs typeface="Arial"/>
              </a:rPr>
              <a:t>people </a:t>
            </a:r>
            <a:r>
              <a:rPr dirty="0" sz="1400">
                <a:solidFill>
                  <a:srgbClr val="383942"/>
                </a:solidFill>
                <a:latin typeface="Arial"/>
                <a:cs typeface="Arial"/>
              </a:rPr>
              <a:t>during</a:t>
            </a:r>
            <a:r>
              <a:rPr dirty="0" sz="1400" spc="10">
                <a:solidFill>
                  <a:srgbClr val="383942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83942"/>
                </a:solidFill>
                <a:latin typeface="Arial"/>
                <a:cs typeface="Arial"/>
              </a:rPr>
              <a:t>their</a:t>
            </a:r>
            <a:r>
              <a:rPr dirty="0" sz="1400" spc="-40">
                <a:solidFill>
                  <a:srgbClr val="383942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83942"/>
                </a:solidFill>
                <a:latin typeface="Arial"/>
                <a:cs typeface="Arial"/>
              </a:rPr>
              <a:t>decision</a:t>
            </a:r>
            <a:r>
              <a:rPr dirty="0" sz="1400" spc="-10">
                <a:solidFill>
                  <a:srgbClr val="4078F1"/>
                </a:solidFill>
                <a:latin typeface="Arial"/>
                <a:cs typeface="Arial"/>
              </a:rPr>
              <a:t>-</a:t>
            </a:r>
            <a:r>
              <a:rPr dirty="0" sz="1400" spc="-10">
                <a:solidFill>
                  <a:srgbClr val="383942"/>
                </a:solidFill>
                <a:latin typeface="Arial"/>
                <a:cs typeface="Arial"/>
              </a:rPr>
              <a:t>making, </a:t>
            </a:r>
            <a:r>
              <a:rPr dirty="0" sz="1400">
                <a:solidFill>
                  <a:srgbClr val="383942"/>
                </a:solidFill>
                <a:latin typeface="Arial"/>
                <a:cs typeface="Arial"/>
              </a:rPr>
              <a:t>regardless</a:t>
            </a:r>
            <a:r>
              <a:rPr dirty="0" sz="1400" spc="-60">
                <a:solidFill>
                  <a:srgbClr val="383942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83942"/>
                </a:solidFill>
                <a:latin typeface="Arial"/>
                <a:cs typeface="Arial"/>
              </a:rPr>
              <a:t>of</a:t>
            </a:r>
            <a:r>
              <a:rPr dirty="0" sz="1400" spc="30">
                <a:solidFill>
                  <a:srgbClr val="383942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83942"/>
                </a:solidFill>
                <a:latin typeface="Arial"/>
                <a:cs typeface="Arial"/>
              </a:rPr>
              <a:t>whether</a:t>
            </a:r>
            <a:r>
              <a:rPr dirty="0" sz="1400" spc="-50">
                <a:solidFill>
                  <a:srgbClr val="383942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83942"/>
                </a:solidFill>
                <a:latin typeface="Arial"/>
                <a:cs typeface="Arial"/>
              </a:rPr>
              <a:t>they</a:t>
            </a:r>
            <a:r>
              <a:rPr dirty="0" sz="1400" spc="-55">
                <a:solidFill>
                  <a:srgbClr val="383942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83942"/>
                </a:solidFill>
                <a:latin typeface="Arial"/>
                <a:cs typeface="Arial"/>
              </a:rPr>
              <a:t>ultimately paid.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Reporting</a:t>
            </a:r>
            <a:r>
              <a:rPr dirty="0" spc="-105"/>
              <a:t> </a:t>
            </a:r>
            <a:r>
              <a:rPr dirty="0" spc="-10"/>
              <a:t>Behavior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971550"/>
            <a:ext cx="6858000" cy="343852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Sunk</a:t>
            </a:r>
            <a:r>
              <a:rPr dirty="0" spc="-40"/>
              <a:t> </a:t>
            </a:r>
            <a:r>
              <a:rPr dirty="0"/>
              <a:t>Cost</a:t>
            </a:r>
            <a:r>
              <a:rPr dirty="0" spc="-50"/>
              <a:t> </a:t>
            </a:r>
            <a:r>
              <a:rPr dirty="0" spc="-10"/>
              <a:t>Effect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657" y="727011"/>
            <a:ext cx="7848600" cy="3048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latin typeface="Trebuchet MS"/>
                <a:cs typeface="Trebuchet MS"/>
              </a:rPr>
              <a:t>Theoretical</a:t>
            </a:r>
            <a:r>
              <a:rPr dirty="0" sz="1800" spc="-45" b="1">
                <a:latin typeface="Trebuchet MS"/>
                <a:cs typeface="Trebuchet MS"/>
              </a:rPr>
              <a:t> </a:t>
            </a:r>
            <a:r>
              <a:rPr dirty="0" sz="1800" spc="-10" b="1">
                <a:latin typeface="Trebuchet MS"/>
                <a:cs typeface="Trebuchet MS"/>
              </a:rPr>
              <a:t>Framework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ts val="2130"/>
              </a:lnSpc>
              <a:spcBef>
                <a:spcPts val="20"/>
              </a:spcBef>
            </a:pPr>
            <a:r>
              <a:rPr dirty="0" sz="1800" b="1">
                <a:latin typeface="Trebuchet MS"/>
                <a:cs typeface="Trebuchet MS"/>
              </a:rPr>
              <a:t>Arkes</a:t>
            </a:r>
            <a:r>
              <a:rPr dirty="0" sz="1800" spc="-55" b="1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&amp;</a:t>
            </a:r>
            <a:r>
              <a:rPr dirty="0" sz="1800" spc="45" b="1">
                <a:latin typeface="Trebuchet MS"/>
                <a:cs typeface="Trebuchet MS"/>
              </a:rPr>
              <a:t> </a:t>
            </a:r>
            <a:r>
              <a:rPr dirty="0" sz="1800" spc="-10" b="1">
                <a:latin typeface="Trebuchet MS"/>
                <a:cs typeface="Trebuchet MS"/>
              </a:rPr>
              <a:t>Blumer </a:t>
            </a:r>
            <a:r>
              <a:rPr dirty="0" sz="1800" spc="-20" b="1">
                <a:latin typeface="Trebuchet MS"/>
                <a:cs typeface="Trebuchet MS"/>
              </a:rPr>
              <a:t>(1985):</a:t>
            </a:r>
            <a:r>
              <a:rPr dirty="0" sz="1800" spc="-25" b="1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"The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 spc="65">
                <a:latin typeface="Trebuchet MS"/>
                <a:cs typeface="Trebuchet MS"/>
              </a:rPr>
              <a:t>Psychology</a:t>
            </a:r>
            <a:r>
              <a:rPr dirty="0" sz="1800" spc="-1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of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 spc="55">
                <a:latin typeface="Trebuchet MS"/>
                <a:cs typeface="Trebuchet MS"/>
              </a:rPr>
              <a:t>Sunk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 spc="75">
                <a:latin typeface="Trebuchet MS"/>
                <a:cs typeface="Trebuchet MS"/>
              </a:rPr>
              <a:t>Cost"</a:t>
            </a:r>
            <a:endParaRPr sz="1800">
              <a:latin typeface="Trebuchet MS"/>
              <a:cs typeface="Trebuchet MS"/>
            </a:endParaRPr>
          </a:p>
          <a:p>
            <a:pPr marL="12700" marR="17145">
              <a:lnSpc>
                <a:spcPts val="2180"/>
              </a:lnSpc>
              <a:spcBef>
                <a:spcPts val="30"/>
              </a:spcBef>
            </a:pPr>
            <a:r>
              <a:rPr dirty="0" sz="1800">
                <a:latin typeface="Trebuchet MS"/>
                <a:cs typeface="Trebuchet MS"/>
              </a:rPr>
              <a:t>People</a:t>
            </a:r>
            <a:r>
              <a:rPr dirty="0" sz="1800" spc="7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exhibit</a:t>
            </a:r>
            <a:r>
              <a:rPr dirty="0" sz="1800" spc="8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greater</a:t>
            </a:r>
            <a:r>
              <a:rPr dirty="0" sz="1800" spc="6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tendency</a:t>
            </a:r>
            <a:r>
              <a:rPr dirty="0" sz="1800" spc="1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continue</a:t>
            </a:r>
            <a:r>
              <a:rPr dirty="0" sz="1800" spc="-1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</a:t>
            </a:r>
            <a:r>
              <a:rPr dirty="0" sz="1800" spc="-1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endeavor</a:t>
            </a:r>
            <a:r>
              <a:rPr dirty="0" sz="1800" spc="65">
                <a:latin typeface="Trebuchet MS"/>
                <a:cs typeface="Trebuchet MS"/>
              </a:rPr>
              <a:t> </a:t>
            </a:r>
            <a:r>
              <a:rPr dirty="0" sz="1800" spc="60">
                <a:latin typeface="Trebuchet MS"/>
                <a:cs typeface="Trebuchet MS"/>
              </a:rPr>
              <a:t>once</a:t>
            </a:r>
            <a:r>
              <a:rPr dirty="0" sz="1800" spc="-10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an </a:t>
            </a:r>
            <a:r>
              <a:rPr dirty="0" sz="1800">
                <a:latin typeface="Trebuchet MS"/>
                <a:cs typeface="Trebuchet MS"/>
              </a:rPr>
              <a:t>investment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money,</a:t>
            </a:r>
            <a:r>
              <a:rPr dirty="0" sz="1800" spc="-5">
                <a:latin typeface="Trebuchet MS"/>
                <a:cs typeface="Trebuchet MS"/>
              </a:rPr>
              <a:t> </a:t>
            </a:r>
            <a:r>
              <a:rPr dirty="0" sz="1800" spc="-65">
                <a:latin typeface="Trebuchet MS"/>
                <a:cs typeface="Trebuchet MS"/>
              </a:rPr>
              <a:t>effort,</a:t>
            </a:r>
            <a:r>
              <a:rPr dirty="0" sz="1800" spc="-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or</a:t>
            </a:r>
            <a:r>
              <a:rPr dirty="0" sz="1800" spc="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time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has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been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made,</a:t>
            </a:r>
            <a:r>
              <a:rPr dirty="0" sz="1800" spc="-5">
                <a:latin typeface="Trebuchet MS"/>
                <a:cs typeface="Trebuchet MS"/>
              </a:rPr>
              <a:t> </a:t>
            </a:r>
            <a:r>
              <a:rPr dirty="0" sz="1800" spc="50">
                <a:latin typeface="Trebuchet MS"/>
                <a:cs typeface="Trebuchet MS"/>
              </a:rPr>
              <a:t>because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they</a:t>
            </a:r>
            <a:r>
              <a:rPr dirty="0" sz="1800" spc="-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want</a:t>
            </a:r>
            <a:r>
              <a:rPr dirty="0" sz="1800" spc="-15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to </a:t>
            </a:r>
            <a:r>
              <a:rPr dirty="0" sz="1800">
                <a:latin typeface="Trebuchet MS"/>
                <a:cs typeface="Trebuchet MS"/>
              </a:rPr>
              <a:t>avoid</a:t>
            </a:r>
            <a:r>
              <a:rPr dirty="0" sz="1800" spc="16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appearing</a:t>
            </a:r>
            <a:r>
              <a:rPr dirty="0" sz="1800" spc="17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wasteful.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ts val="2100"/>
              </a:lnSpc>
            </a:pPr>
            <a:r>
              <a:rPr dirty="0" sz="1800" b="1">
                <a:latin typeface="Trebuchet MS"/>
                <a:cs typeface="Trebuchet MS"/>
              </a:rPr>
              <a:t>Key</a:t>
            </a:r>
            <a:r>
              <a:rPr dirty="0" sz="1800" spc="70" b="1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Mechanism:</a:t>
            </a:r>
            <a:r>
              <a:rPr dirty="0" sz="1800" spc="114" b="1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Escalating</a:t>
            </a:r>
            <a:r>
              <a:rPr dirty="0" sz="1800" spc="1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commitment</a:t>
            </a:r>
            <a:r>
              <a:rPr dirty="0" sz="1800" spc="7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95">
                <a:latin typeface="Trebuchet MS"/>
                <a:cs typeface="Trebuchet MS"/>
              </a:rPr>
              <a:t> </a:t>
            </a:r>
            <a:r>
              <a:rPr dirty="0" sz="1800" spc="-35">
                <a:latin typeface="Trebuchet MS"/>
                <a:cs typeface="Trebuchet MS"/>
              </a:rPr>
              <a:t>justify</a:t>
            </a:r>
            <a:r>
              <a:rPr dirty="0" sz="1800" spc="8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past</a:t>
            </a:r>
            <a:r>
              <a:rPr dirty="0" sz="1800" spc="6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investments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800">
                <a:latin typeface="Trebuchet MS"/>
                <a:cs typeface="Trebuchet MS"/>
              </a:rPr>
              <a:t>(irrecoverable</a:t>
            </a:r>
            <a:r>
              <a:rPr dirty="0" sz="1800" spc="50">
                <a:latin typeface="Trebuchet MS"/>
                <a:cs typeface="Trebuchet MS"/>
              </a:rPr>
              <a:t> </a:t>
            </a:r>
            <a:r>
              <a:rPr dirty="0" sz="1800" spc="65">
                <a:latin typeface="Trebuchet MS"/>
                <a:cs typeface="Trebuchet MS"/>
              </a:rPr>
              <a:t>costs)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Trebuchet MS"/>
                <a:cs typeface="Trebuchet MS"/>
              </a:rPr>
              <a:t>Our</a:t>
            </a:r>
            <a:r>
              <a:rPr dirty="0" sz="1800" spc="20" b="1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Hypothesis</a:t>
            </a:r>
            <a:r>
              <a:rPr dirty="0" sz="1800" spc="60" b="1">
                <a:latin typeface="Trebuchet MS"/>
                <a:cs typeface="Trebuchet MS"/>
              </a:rPr>
              <a:t> </a:t>
            </a:r>
            <a:r>
              <a:rPr dirty="0" sz="1800" spc="-20" b="1">
                <a:latin typeface="Trebuchet MS"/>
                <a:cs typeface="Trebuchet MS"/>
              </a:rPr>
              <a:t>(H1)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ct val="100800"/>
              </a:lnSpc>
              <a:spcBef>
                <a:spcPts val="5"/>
              </a:spcBef>
            </a:pPr>
            <a:r>
              <a:rPr dirty="0" sz="1800" spc="95">
                <a:latin typeface="Trebuchet MS"/>
                <a:cs typeface="Trebuchet MS"/>
              </a:rPr>
              <a:t>Scam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victims</a:t>
            </a:r>
            <a:r>
              <a:rPr dirty="0" sz="1800" spc="-1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with</a:t>
            </a:r>
            <a:r>
              <a:rPr dirty="0" sz="1800" spc="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higher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 spc="55">
                <a:latin typeface="Trebuchet MS"/>
                <a:cs typeface="Trebuchet MS"/>
              </a:rPr>
              <a:t>sunk</a:t>
            </a:r>
            <a:r>
              <a:rPr dirty="0" sz="1800" spc="-10">
                <a:latin typeface="Trebuchet MS"/>
                <a:cs typeface="Trebuchet MS"/>
              </a:rPr>
              <a:t> </a:t>
            </a:r>
            <a:r>
              <a:rPr dirty="0" sz="1800" spc="60">
                <a:latin typeface="Trebuchet MS"/>
                <a:cs typeface="Trebuchet MS"/>
              </a:rPr>
              <a:t>cost</a:t>
            </a:r>
            <a:r>
              <a:rPr dirty="0" sz="1800" spc="-15">
                <a:latin typeface="Trebuchet MS"/>
                <a:cs typeface="Trebuchet MS"/>
              </a:rPr>
              <a:t> </a:t>
            </a:r>
            <a:r>
              <a:rPr dirty="0" sz="1800" spc="-45">
                <a:latin typeface="Trebuchet MS"/>
                <a:cs typeface="Trebuchet MS"/>
              </a:rPr>
              <a:t>(time/effort</a:t>
            </a:r>
            <a:r>
              <a:rPr dirty="0" sz="1800" spc="-1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already</a:t>
            </a:r>
            <a:r>
              <a:rPr dirty="0" sz="1800" spc="-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invested)</a:t>
            </a:r>
            <a:r>
              <a:rPr dirty="0" sz="1800" spc="35">
                <a:latin typeface="Trebuchet MS"/>
                <a:cs typeface="Trebuchet MS"/>
              </a:rPr>
              <a:t> </a:t>
            </a:r>
            <a:r>
              <a:rPr dirty="0" sz="1800" spc="-65">
                <a:latin typeface="Trebuchet MS"/>
                <a:cs typeface="Trebuchet MS"/>
              </a:rPr>
              <a:t>will</a:t>
            </a:r>
            <a:r>
              <a:rPr dirty="0" sz="1800" spc="-20">
                <a:latin typeface="Trebuchet MS"/>
                <a:cs typeface="Trebuchet MS"/>
              </a:rPr>
              <a:t> have </a:t>
            </a:r>
            <a:r>
              <a:rPr dirty="0" sz="1800">
                <a:latin typeface="Trebuchet MS"/>
                <a:cs typeface="Trebuchet MS"/>
              </a:rPr>
              <a:t>higher</a:t>
            </a:r>
            <a:r>
              <a:rPr dirty="0" sz="1800" spc="-1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probability</a:t>
            </a:r>
            <a:r>
              <a:rPr dirty="0" sz="1800" spc="1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of</a:t>
            </a:r>
            <a:r>
              <a:rPr dirty="0" sz="1800" spc="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payment </a:t>
            </a:r>
            <a:r>
              <a:rPr dirty="0" sz="1800" spc="45">
                <a:latin typeface="Trebuchet MS"/>
                <a:cs typeface="Trebuchet MS"/>
              </a:rPr>
              <a:t>compared</a:t>
            </a:r>
            <a:r>
              <a:rPr dirty="0" sz="1800" spc="8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those</a:t>
            </a:r>
            <a:r>
              <a:rPr dirty="0" sz="1800" spc="-10">
                <a:latin typeface="Trebuchet MS"/>
                <a:cs typeface="Trebuchet MS"/>
              </a:rPr>
              <a:t> with </a:t>
            </a:r>
            <a:r>
              <a:rPr dirty="0" sz="1800">
                <a:latin typeface="Trebuchet MS"/>
                <a:cs typeface="Trebuchet MS"/>
              </a:rPr>
              <a:t>lower</a:t>
            </a:r>
            <a:r>
              <a:rPr dirty="0" sz="1800" spc="6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sunk</a:t>
            </a:r>
            <a:r>
              <a:rPr dirty="0" sz="1800" spc="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cost.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Sunk</a:t>
            </a:r>
            <a:r>
              <a:rPr dirty="0" spc="-40"/>
              <a:t> </a:t>
            </a:r>
            <a:r>
              <a:rPr dirty="0"/>
              <a:t>Cost</a:t>
            </a:r>
            <a:r>
              <a:rPr dirty="0" spc="-50"/>
              <a:t> </a:t>
            </a:r>
            <a:r>
              <a:rPr dirty="0" spc="-10"/>
              <a:t>Effect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657" y="727011"/>
            <a:ext cx="7673975" cy="22186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Trebuchet MS"/>
                <a:cs typeface="Trebuchet MS"/>
              </a:rPr>
              <a:t>Operationalization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ts val="2130"/>
              </a:lnSpc>
              <a:spcBef>
                <a:spcPts val="20"/>
              </a:spcBef>
            </a:pPr>
            <a:r>
              <a:rPr dirty="0" sz="1800">
                <a:latin typeface="Trebuchet MS"/>
                <a:cs typeface="Trebuchet MS"/>
              </a:rPr>
              <a:t>Independent</a:t>
            </a:r>
            <a:r>
              <a:rPr dirty="0" sz="1800" spc="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Variable</a:t>
            </a:r>
            <a:r>
              <a:rPr dirty="0" sz="1800" spc="60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(IV):</a:t>
            </a:r>
            <a:endParaRPr sz="1800">
              <a:latin typeface="Trebuchet MS"/>
              <a:cs typeface="Trebuchet MS"/>
            </a:endParaRPr>
          </a:p>
          <a:p>
            <a:pPr marL="298450" indent="-285750">
              <a:lnSpc>
                <a:spcPts val="2130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800">
                <a:latin typeface="Trebuchet MS"/>
                <a:cs typeface="Trebuchet MS"/>
              </a:rPr>
              <a:t>Question:</a:t>
            </a:r>
            <a:r>
              <a:rPr dirty="0" sz="1800" spc="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"How</a:t>
            </a:r>
            <a:r>
              <a:rPr dirty="0" sz="1800" spc="10">
                <a:latin typeface="Trebuchet MS"/>
                <a:cs typeface="Trebuchet MS"/>
              </a:rPr>
              <a:t> </a:t>
            </a:r>
            <a:r>
              <a:rPr dirty="0" sz="1800" spc="75">
                <a:latin typeface="Trebuchet MS"/>
                <a:cs typeface="Trebuchet MS"/>
              </a:rPr>
              <a:t>much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did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the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time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 spc="50">
                <a:latin typeface="Trebuchet MS"/>
                <a:cs typeface="Trebuchet MS"/>
              </a:rPr>
              <a:t>and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effort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you</a:t>
            </a:r>
            <a:r>
              <a:rPr dirty="0" sz="1800" spc="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had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already</a:t>
            </a:r>
            <a:r>
              <a:rPr dirty="0" sz="1800" spc="-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invested</a:t>
            </a:r>
            <a:endParaRPr sz="1800">
              <a:latin typeface="Trebuchet MS"/>
              <a:cs typeface="Trebuchet MS"/>
            </a:endParaRPr>
          </a:p>
          <a:p>
            <a:pPr marL="298450">
              <a:lnSpc>
                <a:spcPct val="100000"/>
              </a:lnSpc>
              <a:spcBef>
                <a:spcPts val="20"/>
              </a:spcBef>
            </a:pPr>
            <a:r>
              <a:rPr dirty="0" sz="1800">
                <a:latin typeface="Trebuchet MS"/>
                <a:cs typeface="Trebuchet MS"/>
              </a:rPr>
              <a:t>influence</a:t>
            </a:r>
            <a:r>
              <a:rPr dirty="0" sz="1800" spc="-6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your</a:t>
            </a:r>
            <a:r>
              <a:rPr dirty="0" sz="1800" spc="-65">
                <a:latin typeface="Trebuchet MS"/>
                <a:cs typeface="Trebuchet MS"/>
              </a:rPr>
              <a:t> </a:t>
            </a:r>
            <a:r>
              <a:rPr dirty="0" sz="1800" spc="45">
                <a:latin typeface="Trebuchet MS"/>
                <a:cs typeface="Trebuchet MS"/>
              </a:rPr>
              <a:t>decision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continue?"</a:t>
            </a:r>
            <a:endParaRPr sz="18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800" spc="-10">
                <a:latin typeface="Trebuchet MS"/>
                <a:cs typeface="Trebuchet MS"/>
              </a:rPr>
              <a:t>Scale:</a:t>
            </a:r>
            <a:r>
              <a:rPr dirty="0" sz="1800" spc="-120">
                <a:latin typeface="Trebuchet MS"/>
                <a:cs typeface="Trebuchet MS"/>
              </a:rPr>
              <a:t> </a:t>
            </a:r>
            <a:r>
              <a:rPr dirty="0" sz="1800" spc="-400">
                <a:latin typeface="Trebuchet MS"/>
                <a:cs typeface="Trebuchet MS"/>
              </a:rPr>
              <a:t>1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50">
                <a:latin typeface="Trebuchet MS"/>
                <a:cs typeface="Trebuchet MS"/>
              </a:rPr>
              <a:t>(Not</a:t>
            </a:r>
            <a:r>
              <a:rPr dirty="0" sz="1800">
                <a:latin typeface="Trebuchet MS"/>
                <a:cs typeface="Trebuchet MS"/>
              </a:rPr>
              <a:t> </a:t>
            </a:r>
            <a:r>
              <a:rPr dirty="0" sz="1800" spc="-55">
                <a:latin typeface="Trebuchet MS"/>
                <a:cs typeface="Trebuchet MS"/>
              </a:rPr>
              <a:t>at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all)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 spc="170">
                <a:latin typeface="Trebuchet MS"/>
                <a:cs typeface="Trebuchet MS"/>
              </a:rPr>
              <a:t>5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 spc="75">
                <a:latin typeface="Trebuchet MS"/>
                <a:cs typeface="Trebuchet MS"/>
              </a:rPr>
              <a:t>(A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lot)</a:t>
            </a:r>
            <a:endParaRPr sz="1800">
              <a:latin typeface="Trebuchet MS"/>
              <a:cs typeface="Trebuchet MS"/>
            </a:endParaRPr>
          </a:p>
          <a:p>
            <a:pPr marL="12700" marR="2694305" indent="285750">
              <a:lnSpc>
                <a:spcPts val="2180"/>
              </a:lnSpc>
              <a:spcBef>
                <a:spcPts val="75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800">
                <a:latin typeface="Trebuchet MS"/>
                <a:cs typeface="Trebuchet MS"/>
              </a:rPr>
              <a:t>Sample:</a:t>
            </a:r>
            <a:r>
              <a:rPr dirty="0" sz="1800" spc="-95">
                <a:latin typeface="Trebuchet MS"/>
                <a:cs typeface="Trebuchet MS"/>
              </a:rPr>
              <a:t> </a:t>
            </a:r>
            <a:r>
              <a:rPr dirty="0" sz="1800" spc="125">
                <a:latin typeface="Trebuchet MS"/>
                <a:cs typeface="Trebuchet MS"/>
              </a:rPr>
              <a:t>N=37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(all</a:t>
            </a:r>
            <a:r>
              <a:rPr dirty="0" sz="1800" spc="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who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65">
                <a:latin typeface="Trebuchet MS"/>
                <a:cs typeface="Trebuchet MS"/>
              </a:rPr>
              <a:t>engaged</a:t>
            </a:r>
            <a:r>
              <a:rPr dirty="0" sz="1800" spc="-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with</a:t>
            </a:r>
            <a:r>
              <a:rPr dirty="0" sz="1800" spc="-5">
                <a:latin typeface="Trebuchet MS"/>
                <a:cs typeface="Trebuchet MS"/>
              </a:rPr>
              <a:t> </a:t>
            </a:r>
            <a:r>
              <a:rPr dirty="0" sz="1800" spc="70">
                <a:latin typeface="Trebuchet MS"/>
                <a:cs typeface="Trebuchet MS"/>
              </a:rPr>
              <a:t>scams) </a:t>
            </a:r>
            <a:r>
              <a:rPr dirty="0" sz="1800">
                <a:latin typeface="Trebuchet MS"/>
                <a:cs typeface="Trebuchet MS"/>
              </a:rPr>
              <a:t>Dependent</a:t>
            </a:r>
            <a:r>
              <a:rPr dirty="0" sz="1800" spc="1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Variable</a:t>
            </a:r>
            <a:r>
              <a:rPr dirty="0" sz="1800" spc="150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(DV):</a:t>
            </a:r>
            <a:endParaRPr sz="1800">
              <a:latin typeface="Trebuchet MS"/>
              <a:cs typeface="Trebuchet MS"/>
            </a:endParaRPr>
          </a:p>
          <a:p>
            <a:pPr marL="298450" indent="-285750">
              <a:lnSpc>
                <a:spcPts val="2025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800" spc="95">
                <a:latin typeface="Trebuchet MS"/>
                <a:cs typeface="Trebuchet MS"/>
              </a:rPr>
              <a:t>Made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payment: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Binary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 spc="80">
                <a:latin typeface="Trebuchet MS"/>
                <a:cs typeface="Trebuchet MS"/>
              </a:rPr>
              <a:t>(0=No,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1=Yes)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Sunk</a:t>
            </a:r>
            <a:r>
              <a:rPr dirty="0" spc="-40"/>
              <a:t> </a:t>
            </a:r>
            <a:r>
              <a:rPr dirty="0"/>
              <a:t>Cost</a:t>
            </a:r>
            <a:r>
              <a:rPr dirty="0" spc="-50"/>
              <a:t> </a:t>
            </a:r>
            <a:r>
              <a:rPr dirty="0" spc="-10"/>
              <a:t>Effect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145" y="3164522"/>
            <a:ext cx="6711950" cy="882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73660" indent="-69850">
              <a:lnSpc>
                <a:spcPct val="100000"/>
              </a:lnSpc>
              <a:spcBef>
                <a:spcPts val="125"/>
              </a:spcBef>
              <a:buSzPct val="92857"/>
              <a:buFont typeface="Arial"/>
              <a:buChar char="•"/>
              <a:tabLst>
                <a:tab pos="73660" algn="l"/>
              </a:tabLst>
            </a:pPr>
            <a:r>
              <a:rPr dirty="0" sz="1400" b="1">
                <a:latin typeface="Arial"/>
                <a:cs typeface="Arial"/>
              </a:rPr>
              <a:t>Effect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Size:</a:t>
            </a:r>
            <a:endParaRPr sz="1400">
              <a:latin typeface="Arial"/>
              <a:cs typeface="Arial"/>
            </a:endParaRPr>
          </a:p>
          <a:p>
            <a:pPr marL="73660" indent="-69850">
              <a:lnSpc>
                <a:spcPts val="1664"/>
              </a:lnSpc>
              <a:spcBef>
                <a:spcPts val="50"/>
              </a:spcBef>
              <a:buSzPct val="92857"/>
              <a:buChar char="•"/>
              <a:tabLst>
                <a:tab pos="73660" algn="l"/>
              </a:tabLst>
            </a:pPr>
            <a:r>
              <a:rPr dirty="0" sz="1400">
                <a:latin typeface="Arial"/>
                <a:cs typeface="Arial"/>
              </a:rPr>
              <a:t>Risk</a:t>
            </a:r>
            <a:r>
              <a:rPr dirty="0" sz="1400" spc="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Ratio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=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1.89</a:t>
            </a:r>
            <a:r>
              <a:rPr dirty="0" sz="1400" spc="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→</a:t>
            </a:r>
            <a:r>
              <a:rPr dirty="0" sz="1400" spc="-9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High</a:t>
            </a:r>
            <a:r>
              <a:rPr dirty="0" sz="1400" spc="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sunk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cost</a:t>
            </a:r>
            <a:r>
              <a:rPr dirty="0" sz="1400" spc="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group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is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1.9×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more</a:t>
            </a:r>
            <a:r>
              <a:rPr dirty="0" sz="1400" spc="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likely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1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pay</a:t>
            </a:r>
            <a:endParaRPr sz="1400">
              <a:latin typeface="Arial"/>
              <a:cs typeface="Arial"/>
            </a:endParaRPr>
          </a:p>
          <a:p>
            <a:pPr marL="73660" indent="-69850">
              <a:lnSpc>
                <a:spcPts val="1655"/>
              </a:lnSpc>
              <a:buSzPct val="92857"/>
              <a:buChar char="•"/>
              <a:tabLst>
                <a:tab pos="73660" algn="l"/>
              </a:tabLst>
            </a:pPr>
            <a:r>
              <a:rPr dirty="0" sz="1400">
                <a:latin typeface="Arial"/>
                <a:cs typeface="Arial"/>
              </a:rPr>
              <a:t>Odds</a:t>
            </a:r>
            <a:r>
              <a:rPr dirty="0" sz="1400" spc="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Ratio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=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3.21</a:t>
            </a:r>
            <a:r>
              <a:rPr dirty="0" sz="1400" spc="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→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3.2×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higher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odds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payment</a:t>
            </a:r>
            <a:endParaRPr sz="1400">
              <a:latin typeface="Arial"/>
              <a:cs typeface="Arial"/>
            </a:endParaRPr>
          </a:p>
          <a:p>
            <a:pPr marL="73660" indent="-69850">
              <a:lnSpc>
                <a:spcPts val="1670"/>
              </a:lnSpc>
              <a:buSzPct val="92857"/>
              <a:buChar char="•"/>
              <a:tabLst>
                <a:tab pos="73660" algn="l"/>
              </a:tabLst>
            </a:pPr>
            <a:r>
              <a:rPr dirty="0" sz="1400">
                <a:latin typeface="Arial"/>
                <a:cs typeface="Arial"/>
              </a:rPr>
              <a:t>As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sunk</a:t>
            </a:r>
            <a:r>
              <a:rPr dirty="0" sz="1400" spc="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cost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increases</a:t>
            </a:r>
            <a:r>
              <a:rPr dirty="0" sz="1400" spc="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from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low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high,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payment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rate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nearly</a:t>
            </a:r>
            <a:r>
              <a:rPr dirty="0" sz="1400" spc="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doubles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(32%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→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60%)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0" y="1082166"/>
          <a:ext cx="9202420" cy="121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1235"/>
                <a:gridCol w="2286000"/>
                <a:gridCol w="2285999"/>
                <a:gridCol w="2286000"/>
              </a:tblGrid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Low</a:t>
                      </a:r>
                      <a:r>
                        <a:rPr dirty="0" sz="1400" spc="-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Sunk</a:t>
                      </a:r>
                      <a:r>
                        <a:rPr dirty="0" sz="14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Cost</a:t>
                      </a:r>
                      <a:r>
                        <a:rPr dirty="0" sz="1400" spc="6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 b="1">
                          <a:latin typeface="Arial"/>
                          <a:cs typeface="Arial"/>
                        </a:rPr>
                        <a:t>(1-</a:t>
                      </a:r>
                      <a:r>
                        <a:rPr dirty="0" sz="1400" spc="-35" b="1">
                          <a:latin typeface="Arial"/>
                          <a:cs typeface="Arial"/>
                        </a:rPr>
                        <a:t>2)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High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Sunk</a:t>
                      </a:r>
                      <a:r>
                        <a:rPr dirty="0" sz="1400" spc="-7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Cost</a:t>
                      </a:r>
                      <a:r>
                        <a:rPr dirty="0" sz="1400" spc="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(3-</a:t>
                      </a:r>
                      <a:r>
                        <a:rPr dirty="0" sz="1400" spc="-35" b="1">
                          <a:latin typeface="Arial"/>
                          <a:cs typeface="Arial"/>
                        </a:rPr>
                        <a:t>5)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Total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No</a:t>
                      </a:r>
                      <a:r>
                        <a:rPr dirty="0" sz="14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Payment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15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(68.2%)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6</a:t>
                      </a:r>
                      <a:r>
                        <a:rPr dirty="0" sz="1400" spc="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(40.0%)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21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Made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Payment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3180"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7</a:t>
                      </a:r>
                      <a:r>
                        <a:rPr dirty="0" sz="1400" spc="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(31.8%)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9</a:t>
                      </a:r>
                      <a:r>
                        <a:rPr dirty="0" sz="1400" spc="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(60.0%)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Total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3180"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22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37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Sunk</a:t>
            </a:r>
            <a:r>
              <a:rPr dirty="0" spc="-50"/>
              <a:t> </a:t>
            </a:r>
            <a:r>
              <a:rPr dirty="0"/>
              <a:t>Cost</a:t>
            </a:r>
            <a:r>
              <a:rPr dirty="0" spc="-60"/>
              <a:t> </a:t>
            </a:r>
            <a:r>
              <a:rPr dirty="0"/>
              <a:t>(Statistical</a:t>
            </a:r>
            <a:r>
              <a:rPr dirty="0" spc="-95"/>
              <a:t> </a:t>
            </a:r>
            <a:r>
              <a:rPr dirty="0" spc="-10"/>
              <a:t>Tests)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7875" y="742950"/>
            <a:ext cx="5734050" cy="41529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Sunk</a:t>
            </a:r>
            <a:r>
              <a:rPr dirty="0" spc="-50"/>
              <a:t> </a:t>
            </a:r>
            <a:r>
              <a:rPr dirty="0"/>
              <a:t>Cost</a:t>
            </a:r>
            <a:r>
              <a:rPr dirty="0" spc="-60"/>
              <a:t> </a:t>
            </a:r>
            <a:r>
              <a:rPr dirty="0"/>
              <a:t>(Statistical</a:t>
            </a:r>
            <a:r>
              <a:rPr dirty="0" spc="-95"/>
              <a:t> </a:t>
            </a:r>
            <a:r>
              <a:rPr dirty="0" spc="-10"/>
              <a:t>Tests)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2127" y="751522"/>
            <a:ext cx="6893559" cy="387921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1664"/>
              </a:lnSpc>
              <a:spcBef>
                <a:spcPts val="125"/>
              </a:spcBef>
            </a:pPr>
            <a:r>
              <a:rPr dirty="0" sz="1400">
                <a:latin typeface="Trebuchet MS"/>
                <a:cs typeface="Trebuchet MS"/>
              </a:rPr>
              <a:t>Test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2: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Bayesian</a:t>
            </a:r>
            <a:r>
              <a:rPr dirty="0" sz="1400" spc="9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Bootstrap</a:t>
            </a:r>
            <a:r>
              <a:rPr dirty="0" sz="1400" spc="105">
                <a:latin typeface="Trebuchet MS"/>
                <a:cs typeface="Trebuchet MS"/>
              </a:rPr>
              <a:t> </a:t>
            </a:r>
            <a:r>
              <a:rPr dirty="0" sz="1400" spc="80">
                <a:latin typeface="Trebuchet MS"/>
                <a:cs typeface="Trebuchet MS"/>
              </a:rPr>
              <a:t>Why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this</a:t>
            </a:r>
            <a:r>
              <a:rPr dirty="0" sz="1400" spc="65">
                <a:latin typeface="Trebuchet MS"/>
                <a:cs typeface="Trebuchet MS"/>
              </a:rPr>
              <a:t> </a:t>
            </a:r>
            <a:r>
              <a:rPr dirty="0" sz="1400" spc="45">
                <a:latin typeface="Trebuchet MS"/>
                <a:cs typeface="Trebuchet MS"/>
              </a:rPr>
              <a:t>test?</a:t>
            </a:r>
            <a:endParaRPr sz="1400">
              <a:latin typeface="Trebuchet MS"/>
              <a:cs typeface="Trebuchet MS"/>
            </a:endParaRPr>
          </a:p>
          <a:p>
            <a:pPr marL="298450" indent="-285750">
              <a:lnSpc>
                <a:spcPts val="1664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400">
                <a:latin typeface="Trebuchet MS"/>
                <a:cs typeface="Trebuchet MS"/>
              </a:rPr>
              <a:t>Quantifies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probability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 spc="-30">
                <a:latin typeface="Trebuchet MS"/>
                <a:cs typeface="Trebuchet MS"/>
              </a:rPr>
              <a:t>that</a:t>
            </a:r>
            <a:r>
              <a:rPr dirty="0" sz="1400" spc="-6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effect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exists</a:t>
            </a:r>
            <a:endParaRPr sz="1400">
              <a:latin typeface="Trebuchet MS"/>
              <a:cs typeface="Trebuchet MS"/>
            </a:endParaRPr>
          </a:p>
          <a:p>
            <a:pPr marL="298450" indent="-285750">
              <a:lnSpc>
                <a:spcPts val="1664"/>
              </a:lnSpc>
              <a:spcBef>
                <a:spcPts val="50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400" spc="70">
                <a:latin typeface="Trebuchet MS"/>
                <a:cs typeface="Trebuchet MS"/>
              </a:rPr>
              <a:t>More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informative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than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130">
                <a:latin typeface="Trebuchet MS"/>
                <a:cs typeface="Trebuchet MS"/>
              </a:rPr>
              <a:t>p-</a:t>
            </a:r>
            <a:r>
              <a:rPr dirty="0" sz="1400">
                <a:latin typeface="Trebuchet MS"/>
                <a:cs typeface="Trebuchet MS"/>
              </a:rPr>
              <a:t>values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with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small</a:t>
            </a:r>
            <a:r>
              <a:rPr dirty="0" sz="1400" spc="-70">
                <a:latin typeface="Trebuchet MS"/>
                <a:cs typeface="Trebuchet MS"/>
              </a:rPr>
              <a:t> </a:t>
            </a:r>
            <a:r>
              <a:rPr dirty="0" sz="1400" spc="35">
                <a:latin typeface="Trebuchet MS"/>
                <a:cs typeface="Trebuchet MS"/>
              </a:rPr>
              <a:t>samples</a:t>
            </a:r>
            <a:endParaRPr sz="1400">
              <a:latin typeface="Trebuchet MS"/>
              <a:cs typeface="Trebuchet MS"/>
            </a:endParaRPr>
          </a:p>
          <a:p>
            <a:pPr marL="12700" marR="1583055" indent="285750">
              <a:lnSpc>
                <a:spcPts val="1650"/>
              </a:lnSpc>
              <a:spcBef>
                <a:spcPts val="65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400">
                <a:latin typeface="Trebuchet MS"/>
                <a:cs typeface="Trebuchet MS"/>
              </a:rPr>
              <a:t>Provides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 spc="-55">
                <a:latin typeface="Trebuchet MS"/>
                <a:cs typeface="Trebuchet MS"/>
              </a:rPr>
              <a:t>full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distribution</a:t>
            </a:r>
            <a:r>
              <a:rPr dirty="0" sz="1400" spc="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of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effect</a:t>
            </a:r>
            <a:r>
              <a:rPr dirty="0" sz="1400" spc="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size,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not</a:t>
            </a:r>
            <a:r>
              <a:rPr dirty="0" sz="1400" spc="30">
                <a:latin typeface="Trebuchet MS"/>
                <a:cs typeface="Trebuchet MS"/>
              </a:rPr>
              <a:t> </a:t>
            </a:r>
            <a:r>
              <a:rPr dirty="0" sz="1400" spc="-30">
                <a:latin typeface="Trebuchet MS"/>
                <a:cs typeface="Trebuchet MS"/>
              </a:rPr>
              <a:t>just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point</a:t>
            </a:r>
            <a:r>
              <a:rPr dirty="0" sz="1400" spc="3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estimate Method:</a:t>
            </a:r>
            <a:endParaRPr sz="1400">
              <a:latin typeface="Trebuchet MS"/>
              <a:cs typeface="Trebuchet MS"/>
            </a:endParaRPr>
          </a:p>
          <a:p>
            <a:pPr marL="298450" indent="-285750">
              <a:lnSpc>
                <a:spcPts val="1664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400" spc="80">
                <a:latin typeface="Trebuchet MS"/>
                <a:cs typeface="Trebuchet MS"/>
              </a:rPr>
              <a:t>5,000 </a:t>
            </a:r>
            <a:r>
              <a:rPr dirty="0" sz="1400">
                <a:latin typeface="Trebuchet MS"/>
                <a:cs typeface="Trebuchet MS"/>
              </a:rPr>
              <a:t>bootstrap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resamples</a:t>
            </a:r>
            <a:endParaRPr sz="1400">
              <a:latin typeface="Trebuchet MS"/>
              <a:cs typeface="Trebuchet MS"/>
            </a:endParaRPr>
          </a:p>
          <a:p>
            <a:pPr marL="298450" indent="-285750">
              <a:lnSpc>
                <a:spcPts val="1664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400">
                <a:latin typeface="Trebuchet MS"/>
                <a:cs typeface="Trebuchet MS"/>
              </a:rPr>
              <a:t>Calculate </a:t>
            </a:r>
            <a:r>
              <a:rPr dirty="0" sz="1400" spc="65">
                <a:latin typeface="Trebuchet MS"/>
                <a:cs typeface="Trebuchet MS"/>
              </a:rPr>
              <a:t>odds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ratio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distribution</a:t>
            </a:r>
            <a:endParaRPr sz="1400">
              <a:latin typeface="Trebuchet MS"/>
              <a:cs typeface="Trebuchet MS"/>
            </a:endParaRPr>
          </a:p>
          <a:p>
            <a:pPr marL="12700" marR="2933700" indent="285750">
              <a:lnSpc>
                <a:spcPts val="1650"/>
              </a:lnSpc>
              <a:spcBef>
                <a:spcPts val="130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400">
                <a:latin typeface="Trebuchet MS"/>
                <a:cs typeface="Trebuchet MS"/>
              </a:rPr>
              <a:t>Determine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probability</a:t>
            </a:r>
            <a:r>
              <a:rPr dirty="0" sz="1400" spc="-70">
                <a:latin typeface="Trebuchet MS"/>
                <a:cs typeface="Trebuchet MS"/>
              </a:rPr>
              <a:t> </a:t>
            </a:r>
            <a:r>
              <a:rPr dirty="0" sz="1400" spc="120">
                <a:latin typeface="Trebuchet MS"/>
                <a:cs typeface="Trebuchet MS"/>
              </a:rPr>
              <a:t>OR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 spc="-30">
                <a:latin typeface="Trebuchet MS"/>
                <a:cs typeface="Trebuchet MS"/>
              </a:rPr>
              <a:t>&gt;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 spc="-125">
                <a:latin typeface="Trebuchet MS"/>
                <a:cs typeface="Trebuchet MS"/>
              </a:rPr>
              <a:t>1.0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(effect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exists) Result:</a:t>
            </a:r>
            <a:endParaRPr sz="1400">
              <a:latin typeface="Trebuchet MS"/>
              <a:cs typeface="Trebuchet MS"/>
            </a:endParaRPr>
          </a:p>
          <a:p>
            <a:pPr marL="298450" indent="-285750">
              <a:lnSpc>
                <a:spcPts val="1605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400">
                <a:latin typeface="Trebuchet MS"/>
                <a:cs typeface="Trebuchet MS"/>
              </a:rPr>
              <a:t>Posterior probability</a:t>
            </a:r>
            <a:r>
              <a:rPr dirty="0" sz="1400" spc="-7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effect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exists:</a:t>
            </a:r>
            <a:r>
              <a:rPr dirty="0" sz="1400" spc="20">
                <a:latin typeface="Trebuchet MS"/>
                <a:cs typeface="Trebuchet MS"/>
              </a:rPr>
              <a:t> </a:t>
            </a:r>
            <a:r>
              <a:rPr dirty="0" sz="1400" spc="55">
                <a:latin typeface="Trebuchet MS"/>
                <a:cs typeface="Trebuchet MS"/>
              </a:rPr>
              <a:t>92.3%</a:t>
            </a:r>
            <a:endParaRPr sz="1400">
              <a:latin typeface="Trebuchet MS"/>
              <a:cs typeface="Trebuchet MS"/>
            </a:endParaRPr>
          </a:p>
          <a:p>
            <a:pPr marL="298450" indent="-285750">
              <a:lnSpc>
                <a:spcPts val="1664"/>
              </a:lnSpc>
              <a:spcBef>
                <a:spcPts val="50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400" spc="50">
                <a:latin typeface="Trebuchet MS"/>
                <a:cs typeface="Trebuchet MS"/>
              </a:rPr>
              <a:t>Median</a:t>
            </a:r>
            <a:r>
              <a:rPr dirty="0" sz="1400" spc="-100">
                <a:latin typeface="Trebuchet MS"/>
                <a:cs typeface="Trebuchet MS"/>
              </a:rPr>
              <a:t> </a:t>
            </a:r>
            <a:r>
              <a:rPr dirty="0" sz="1400" spc="120">
                <a:latin typeface="Trebuchet MS"/>
                <a:cs typeface="Trebuchet MS"/>
              </a:rPr>
              <a:t>OR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 spc="210">
                <a:latin typeface="Trebuchet MS"/>
                <a:cs typeface="Trebuchet MS"/>
              </a:rPr>
              <a:t>=</a:t>
            </a:r>
            <a:r>
              <a:rPr dirty="0" sz="1400" spc="-9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1.60</a:t>
            </a:r>
            <a:endParaRPr sz="1400">
              <a:latin typeface="Trebuchet MS"/>
              <a:cs typeface="Trebuchet MS"/>
            </a:endParaRPr>
          </a:p>
          <a:p>
            <a:pPr marL="298450" indent="-285750">
              <a:lnSpc>
                <a:spcPts val="1664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400" spc="155">
                <a:latin typeface="Trebuchet MS"/>
                <a:cs typeface="Trebuchet MS"/>
              </a:rPr>
              <a:t>95%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Credible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 spc="-35">
                <a:latin typeface="Trebuchet MS"/>
                <a:cs typeface="Trebuchet MS"/>
              </a:rPr>
              <a:t>Interval:</a:t>
            </a:r>
            <a:r>
              <a:rPr dirty="0" sz="1400" spc="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[0.82,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3.80]</a:t>
            </a:r>
            <a:endParaRPr sz="1400">
              <a:latin typeface="Trebuchet MS"/>
              <a:cs typeface="Trebuchet MS"/>
            </a:endParaRPr>
          </a:p>
          <a:p>
            <a:pPr marL="12700" marR="3810000" indent="285750">
              <a:lnSpc>
                <a:spcPts val="1650"/>
              </a:lnSpc>
              <a:spcBef>
                <a:spcPts val="125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400" spc="155">
                <a:latin typeface="Trebuchet MS"/>
                <a:cs typeface="Trebuchet MS"/>
              </a:rPr>
              <a:t>90%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Credible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 spc="-35">
                <a:latin typeface="Trebuchet MS"/>
                <a:cs typeface="Trebuchet MS"/>
              </a:rPr>
              <a:t>Interval:</a:t>
            </a:r>
            <a:r>
              <a:rPr dirty="0" sz="1400" spc="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[0.93,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3.20] </a:t>
            </a:r>
            <a:r>
              <a:rPr dirty="0" sz="1400" spc="-10">
                <a:latin typeface="Trebuchet MS"/>
                <a:cs typeface="Trebuchet MS"/>
              </a:rPr>
              <a:t>Interpretation: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05"/>
              </a:lnSpc>
            </a:pPr>
            <a:r>
              <a:rPr dirty="0" sz="1400" spc="135">
                <a:latin typeface="Trebuchet MS"/>
                <a:cs typeface="Trebuchet MS"/>
              </a:rPr>
              <a:t>92%</a:t>
            </a:r>
            <a:r>
              <a:rPr dirty="0" sz="1400" spc="1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probability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that</a:t>
            </a:r>
            <a:r>
              <a:rPr dirty="0" sz="1400" spc="9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sunk</a:t>
            </a:r>
            <a:r>
              <a:rPr dirty="0" sz="1400" spc="7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cost</a:t>
            </a:r>
            <a:r>
              <a:rPr dirty="0" sz="1400" spc="8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increases</a:t>
            </a:r>
            <a:r>
              <a:rPr dirty="0" sz="1400" spc="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payment</a:t>
            </a:r>
            <a:r>
              <a:rPr dirty="0" sz="1400" spc="80">
                <a:latin typeface="Trebuchet MS"/>
                <a:cs typeface="Trebuchet MS"/>
              </a:rPr>
              <a:t> </a:t>
            </a:r>
            <a:r>
              <a:rPr dirty="0" sz="1400" spc="90">
                <a:latin typeface="Trebuchet MS"/>
                <a:cs typeface="Trebuchet MS"/>
              </a:rPr>
              <a:t>odds—</a:t>
            </a:r>
            <a:r>
              <a:rPr dirty="0" sz="1400">
                <a:latin typeface="Trebuchet MS"/>
                <a:cs typeface="Trebuchet MS"/>
              </a:rPr>
              <a:t>this</a:t>
            </a:r>
            <a:r>
              <a:rPr dirty="0" sz="1400" spc="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is</a:t>
            </a:r>
            <a:r>
              <a:rPr dirty="0" sz="1400" spc="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strong</a:t>
            </a:r>
            <a:r>
              <a:rPr dirty="0" sz="1400" spc="10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Bayesian</a:t>
            </a:r>
            <a:endParaRPr sz="1400">
              <a:latin typeface="Trebuchet MS"/>
              <a:cs typeface="Trebuchet MS"/>
            </a:endParaRPr>
          </a:p>
          <a:p>
            <a:pPr marL="12700" marR="5080">
              <a:lnSpc>
                <a:spcPct val="100600"/>
              </a:lnSpc>
              <a:spcBef>
                <a:spcPts val="40"/>
              </a:spcBef>
            </a:pPr>
            <a:r>
              <a:rPr dirty="0" sz="1400">
                <a:latin typeface="Trebuchet MS"/>
                <a:cs typeface="Trebuchet MS"/>
              </a:rPr>
              <a:t>evidence.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While</a:t>
            </a:r>
            <a:r>
              <a:rPr dirty="0" sz="1400" spc="-10">
                <a:latin typeface="Trebuchet MS"/>
                <a:cs typeface="Trebuchet MS"/>
              </a:rPr>
              <a:t> the</a:t>
            </a:r>
            <a:r>
              <a:rPr dirty="0" sz="1400" spc="-85">
                <a:latin typeface="Trebuchet MS"/>
                <a:cs typeface="Trebuchet MS"/>
              </a:rPr>
              <a:t> </a:t>
            </a:r>
            <a:r>
              <a:rPr dirty="0" sz="1400" spc="155">
                <a:latin typeface="Trebuchet MS"/>
                <a:cs typeface="Trebuchet MS"/>
              </a:rPr>
              <a:t>95%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credible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interval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barely </a:t>
            </a:r>
            <a:r>
              <a:rPr dirty="0" sz="1400">
                <a:latin typeface="Trebuchet MS"/>
                <a:cs typeface="Trebuchet MS"/>
              </a:rPr>
              <a:t>includes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125">
                <a:latin typeface="Trebuchet MS"/>
                <a:cs typeface="Trebuchet MS"/>
              </a:rPr>
              <a:t>1.0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(null</a:t>
            </a:r>
            <a:r>
              <a:rPr dirty="0" sz="1400" spc="2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effect),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155">
                <a:latin typeface="Trebuchet MS"/>
                <a:cs typeface="Trebuchet MS"/>
              </a:rPr>
              <a:t>92%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of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the </a:t>
            </a:r>
            <a:r>
              <a:rPr dirty="0" sz="1400">
                <a:latin typeface="Trebuchet MS"/>
                <a:cs typeface="Trebuchet MS"/>
              </a:rPr>
              <a:t>posterior</a:t>
            </a:r>
            <a:r>
              <a:rPr dirty="0" sz="1400" spc="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distribution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is</a:t>
            </a:r>
            <a:r>
              <a:rPr dirty="0" sz="1400" spc="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above</a:t>
            </a:r>
            <a:r>
              <a:rPr dirty="0" sz="1400" spc="30">
                <a:latin typeface="Trebuchet MS"/>
                <a:cs typeface="Trebuchet MS"/>
              </a:rPr>
              <a:t> </a:t>
            </a:r>
            <a:r>
              <a:rPr dirty="0" sz="1400" spc="-130">
                <a:latin typeface="Trebuchet MS"/>
                <a:cs typeface="Trebuchet MS"/>
              </a:rPr>
              <a:t>1.0,</a:t>
            </a:r>
            <a:r>
              <a:rPr dirty="0" sz="1400" spc="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indicating</a:t>
            </a:r>
            <a:r>
              <a:rPr dirty="0" sz="1400" spc="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the</a:t>
            </a:r>
            <a:r>
              <a:rPr dirty="0" sz="1400" spc="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effect</a:t>
            </a:r>
            <a:r>
              <a:rPr dirty="0" sz="1400" spc="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is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 spc="-55">
                <a:latin typeface="Trebuchet MS"/>
                <a:cs typeface="Trebuchet MS"/>
              </a:rPr>
              <a:t>real.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The</a:t>
            </a:r>
            <a:r>
              <a:rPr dirty="0" sz="1400" spc="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median</a:t>
            </a:r>
            <a:r>
              <a:rPr dirty="0" sz="1400" spc="35">
                <a:latin typeface="Trebuchet MS"/>
                <a:cs typeface="Trebuchet MS"/>
              </a:rPr>
              <a:t> </a:t>
            </a:r>
            <a:r>
              <a:rPr dirty="0" sz="1400" spc="85">
                <a:latin typeface="Trebuchet MS"/>
                <a:cs typeface="Trebuchet MS"/>
              </a:rPr>
              <a:t>OR</a:t>
            </a:r>
            <a:r>
              <a:rPr dirty="0" sz="1400" spc="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of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1.6 </a:t>
            </a:r>
            <a:r>
              <a:rPr dirty="0" sz="1400" spc="70">
                <a:latin typeface="Trebuchet MS"/>
                <a:cs typeface="Trebuchet MS"/>
              </a:rPr>
              <a:t>suggests</a:t>
            </a:r>
            <a:r>
              <a:rPr dirty="0" sz="1400" spc="-7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typical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effect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size.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Sunk</a:t>
            </a:r>
            <a:r>
              <a:rPr dirty="0" spc="-50"/>
              <a:t> </a:t>
            </a:r>
            <a:r>
              <a:rPr dirty="0"/>
              <a:t>Cost</a:t>
            </a:r>
            <a:r>
              <a:rPr dirty="0" spc="-60"/>
              <a:t> </a:t>
            </a:r>
            <a:r>
              <a:rPr dirty="0"/>
              <a:t>(Statistical</a:t>
            </a:r>
            <a:r>
              <a:rPr dirty="0" spc="-95"/>
              <a:t> </a:t>
            </a:r>
            <a:r>
              <a:rPr dirty="0" spc="-10"/>
              <a:t>Tests)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2127" y="751522"/>
            <a:ext cx="6900545" cy="39020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>
                <a:latin typeface="Trebuchet MS"/>
                <a:cs typeface="Trebuchet MS"/>
              </a:rPr>
              <a:t>Test</a:t>
            </a:r>
            <a:r>
              <a:rPr dirty="0" sz="1400" spc="2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3:</a:t>
            </a:r>
            <a:r>
              <a:rPr dirty="0" sz="1400" spc="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Propensity</a:t>
            </a:r>
            <a:r>
              <a:rPr dirty="0" sz="1400" spc="1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Score</a:t>
            </a:r>
            <a:r>
              <a:rPr dirty="0" sz="1400" spc="130">
                <a:latin typeface="Trebuchet MS"/>
                <a:cs typeface="Trebuchet MS"/>
              </a:rPr>
              <a:t> </a:t>
            </a:r>
            <a:r>
              <a:rPr dirty="0" sz="1400" spc="40">
                <a:latin typeface="Trebuchet MS"/>
                <a:cs typeface="Trebuchet MS"/>
              </a:rPr>
              <a:t>Matching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550" spc="35">
                <a:latin typeface="Trebuchet MS"/>
                <a:cs typeface="Trebuchet MS"/>
              </a:rPr>
              <a:t>Method:</a:t>
            </a:r>
            <a:endParaRPr sz="155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550" spc="80">
                <a:latin typeface="Trebuchet MS"/>
                <a:cs typeface="Trebuchet MS"/>
              </a:rPr>
              <a:t>Match</a:t>
            </a:r>
            <a:r>
              <a:rPr dirty="0" sz="1550" spc="5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high/low</a:t>
            </a:r>
            <a:r>
              <a:rPr dirty="0" sz="1550" spc="60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sunk</a:t>
            </a:r>
            <a:r>
              <a:rPr dirty="0" sz="1550" spc="50">
                <a:latin typeface="Trebuchet MS"/>
                <a:cs typeface="Trebuchet MS"/>
              </a:rPr>
              <a:t> </a:t>
            </a:r>
            <a:r>
              <a:rPr dirty="0" sz="1550" spc="80">
                <a:latin typeface="Trebuchet MS"/>
                <a:cs typeface="Trebuchet MS"/>
              </a:rPr>
              <a:t>cost</a:t>
            </a:r>
            <a:r>
              <a:rPr dirty="0" sz="1550" spc="1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individuals</a:t>
            </a:r>
            <a:r>
              <a:rPr dirty="0" sz="1550" spc="4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with</a:t>
            </a:r>
            <a:r>
              <a:rPr dirty="0" sz="1550" spc="55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similar:</a:t>
            </a:r>
            <a:endParaRPr sz="155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90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550" spc="50">
                <a:latin typeface="Trebuchet MS"/>
                <a:cs typeface="Trebuchet MS"/>
              </a:rPr>
              <a:t>Social</a:t>
            </a:r>
            <a:r>
              <a:rPr dirty="0" sz="1550" spc="3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proof</a:t>
            </a:r>
            <a:r>
              <a:rPr dirty="0" sz="1550" spc="12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influence</a:t>
            </a:r>
            <a:endParaRPr sz="155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550">
                <a:latin typeface="Trebuchet MS"/>
                <a:cs typeface="Trebuchet MS"/>
              </a:rPr>
              <a:t>Vulnerability</a:t>
            </a:r>
            <a:r>
              <a:rPr dirty="0" sz="1550" spc="135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score</a:t>
            </a:r>
            <a:endParaRPr sz="155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550">
                <a:latin typeface="Trebuchet MS"/>
                <a:cs typeface="Trebuchet MS"/>
              </a:rPr>
              <a:t>Familiarity</a:t>
            </a:r>
            <a:r>
              <a:rPr dirty="0" sz="1550" spc="4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with</a:t>
            </a:r>
            <a:r>
              <a:rPr dirty="0" sz="1550" spc="25">
                <a:latin typeface="Trebuchet MS"/>
                <a:cs typeface="Trebuchet MS"/>
              </a:rPr>
              <a:t> </a:t>
            </a:r>
            <a:r>
              <a:rPr dirty="0" sz="1550" spc="105">
                <a:latin typeface="Trebuchet MS"/>
                <a:cs typeface="Trebuchet MS"/>
              </a:rPr>
              <a:t>scams</a:t>
            </a:r>
            <a:endParaRPr sz="1550">
              <a:latin typeface="Trebuchet MS"/>
              <a:cs typeface="Trebuchet MS"/>
            </a:endParaRPr>
          </a:p>
          <a:p>
            <a:pPr marL="12700" marR="2702560" indent="285750">
              <a:lnSpc>
                <a:spcPct val="101000"/>
              </a:lnSpc>
              <a:spcBef>
                <a:spcPts val="75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550" spc="90">
                <a:latin typeface="Trebuchet MS"/>
                <a:cs typeface="Trebuchet MS"/>
              </a:rPr>
              <a:t>Compare</a:t>
            </a:r>
            <a:r>
              <a:rPr dirty="0" sz="1550" spc="15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payment</a:t>
            </a:r>
            <a:r>
              <a:rPr dirty="0" sz="1550" spc="-1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rates</a:t>
            </a:r>
            <a:r>
              <a:rPr dirty="0" sz="1550" spc="2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in</a:t>
            </a:r>
            <a:r>
              <a:rPr dirty="0" sz="1550" spc="25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matched</a:t>
            </a:r>
            <a:r>
              <a:rPr dirty="0" sz="1550" spc="4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pairs Result:</a:t>
            </a:r>
            <a:endParaRPr sz="155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90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550" spc="75">
                <a:latin typeface="Trebuchet MS"/>
                <a:cs typeface="Trebuchet MS"/>
              </a:rPr>
              <a:t>Matched</a:t>
            </a:r>
            <a:r>
              <a:rPr dirty="0" sz="1550" spc="55">
                <a:latin typeface="Trebuchet MS"/>
                <a:cs typeface="Trebuchet MS"/>
              </a:rPr>
              <a:t> </a:t>
            </a:r>
            <a:r>
              <a:rPr dirty="0" sz="1550" spc="-50">
                <a:latin typeface="Trebuchet MS"/>
                <a:cs typeface="Trebuchet MS"/>
              </a:rPr>
              <a:t>15</a:t>
            </a:r>
            <a:r>
              <a:rPr dirty="0" sz="1550" spc="3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pairs</a:t>
            </a:r>
            <a:r>
              <a:rPr dirty="0" sz="1550" spc="40">
                <a:latin typeface="Trebuchet MS"/>
                <a:cs typeface="Trebuchet MS"/>
              </a:rPr>
              <a:t> </a:t>
            </a:r>
            <a:r>
              <a:rPr dirty="0" sz="1550" spc="114">
                <a:latin typeface="Trebuchet MS"/>
                <a:cs typeface="Trebuchet MS"/>
              </a:rPr>
              <a:t>(30</a:t>
            </a:r>
            <a:r>
              <a:rPr dirty="0" sz="1550" spc="100">
                <a:latin typeface="Trebuchet MS"/>
                <a:cs typeface="Trebuchet MS"/>
              </a:rPr>
              <a:t> </a:t>
            </a:r>
            <a:r>
              <a:rPr dirty="0" sz="1550" spc="35">
                <a:latin typeface="Trebuchet MS"/>
                <a:cs typeface="Trebuchet MS"/>
              </a:rPr>
              <a:t>people)</a:t>
            </a:r>
            <a:endParaRPr sz="155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550" spc="85">
                <a:latin typeface="Trebuchet MS"/>
                <a:cs typeface="Trebuchet MS"/>
              </a:rPr>
              <a:t>High</a:t>
            </a:r>
            <a:r>
              <a:rPr dirty="0" sz="1550" spc="55">
                <a:latin typeface="Trebuchet MS"/>
                <a:cs typeface="Trebuchet MS"/>
              </a:rPr>
              <a:t> sunk </a:t>
            </a:r>
            <a:r>
              <a:rPr dirty="0" sz="1550" spc="80">
                <a:latin typeface="Trebuchet MS"/>
                <a:cs typeface="Trebuchet MS"/>
              </a:rPr>
              <a:t>cost</a:t>
            </a:r>
            <a:r>
              <a:rPr dirty="0" sz="1550" spc="2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(matched):</a:t>
            </a:r>
            <a:r>
              <a:rPr dirty="0" sz="1550" spc="120">
                <a:latin typeface="Trebuchet MS"/>
                <a:cs typeface="Trebuchet MS"/>
              </a:rPr>
              <a:t> </a:t>
            </a:r>
            <a:r>
              <a:rPr dirty="0" sz="1550" spc="105">
                <a:latin typeface="Trebuchet MS"/>
                <a:cs typeface="Trebuchet MS"/>
              </a:rPr>
              <a:t>60.0%</a:t>
            </a:r>
            <a:r>
              <a:rPr dirty="0" sz="1550" spc="135">
                <a:latin typeface="Trebuchet MS"/>
                <a:cs typeface="Trebuchet MS"/>
              </a:rPr>
              <a:t> </a:t>
            </a:r>
            <a:r>
              <a:rPr dirty="0" sz="1550" spc="-20">
                <a:latin typeface="Trebuchet MS"/>
                <a:cs typeface="Trebuchet MS"/>
              </a:rPr>
              <a:t>paid</a:t>
            </a:r>
            <a:endParaRPr sz="155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550" spc="60">
                <a:latin typeface="Trebuchet MS"/>
                <a:cs typeface="Trebuchet MS"/>
              </a:rPr>
              <a:t>Low</a:t>
            </a:r>
            <a:r>
              <a:rPr dirty="0" sz="1550" spc="55">
                <a:latin typeface="Trebuchet MS"/>
                <a:cs typeface="Trebuchet MS"/>
              </a:rPr>
              <a:t> sunk</a:t>
            </a:r>
            <a:r>
              <a:rPr dirty="0" sz="1550" spc="60">
                <a:latin typeface="Trebuchet MS"/>
                <a:cs typeface="Trebuchet MS"/>
              </a:rPr>
              <a:t> </a:t>
            </a:r>
            <a:r>
              <a:rPr dirty="0" sz="1550" spc="80">
                <a:latin typeface="Trebuchet MS"/>
                <a:cs typeface="Trebuchet MS"/>
              </a:rPr>
              <a:t>cost</a:t>
            </a:r>
            <a:r>
              <a:rPr dirty="0" sz="1550" spc="15">
                <a:latin typeface="Trebuchet MS"/>
                <a:cs typeface="Trebuchet MS"/>
              </a:rPr>
              <a:t> </a:t>
            </a:r>
            <a:r>
              <a:rPr dirty="0" sz="1550" spc="10">
                <a:latin typeface="Trebuchet MS"/>
                <a:cs typeface="Trebuchet MS"/>
              </a:rPr>
              <a:t>(matched):</a:t>
            </a:r>
            <a:r>
              <a:rPr dirty="0" sz="1550" spc="40">
                <a:latin typeface="Trebuchet MS"/>
                <a:cs typeface="Trebuchet MS"/>
              </a:rPr>
              <a:t> </a:t>
            </a:r>
            <a:r>
              <a:rPr dirty="0" sz="1550" spc="75">
                <a:latin typeface="Trebuchet MS"/>
                <a:cs typeface="Trebuchet MS"/>
              </a:rPr>
              <a:t>26.7%</a:t>
            </a:r>
            <a:r>
              <a:rPr dirty="0" sz="1550" spc="140">
                <a:latin typeface="Trebuchet MS"/>
                <a:cs typeface="Trebuchet MS"/>
              </a:rPr>
              <a:t> </a:t>
            </a:r>
            <a:r>
              <a:rPr dirty="0" sz="1550" spc="-20">
                <a:latin typeface="Trebuchet MS"/>
                <a:cs typeface="Trebuchet MS"/>
              </a:rPr>
              <a:t>paid</a:t>
            </a:r>
            <a:endParaRPr sz="1550">
              <a:latin typeface="Trebuchet MS"/>
              <a:cs typeface="Trebuchet MS"/>
            </a:endParaRPr>
          </a:p>
          <a:p>
            <a:pPr marL="12700" marR="1162050" indent="285750">
              <a:lnSpc>
                <a:spcPct val="101000"/>
              </a:lnSpc>
              <a:spcBef>
                <a:spcPts val="75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550" spc="75">
                <a:latin typeface="Trebuchet MS"/>
                <a:cs typeface="Trebuchet MS"/>
              </a:rPr>
              <a:t>Average</a:t>
            </a:r>
            <a:r>
              <a:rPr dirty="0" sz="1550" spc="7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Treatment</a:t>
            </a:r>
            <a:r>
              <a:rPr dirty="0" sz="1550" spc="11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Effect</a:t>
            </a:r>
            <a:r>
              <a:rPr dirty="0" sz="1550" spc="11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(ATE):</a:t>
            </a:r>
            <a:r>
              <a:rPr dirty="0" sz="1550" spc="135">
                <a:latin typeface="Trebuchet MS"/>
                <a:cs typeface="Trebuchet MS"/>
              </a:rPr>
              <a:t> </a:t>
            </a:r>
            <a:r>
              <a:rPr dirty="0" sz="1550" spc="75">
                <a:latin typeface="Trebuchet MS"/>
                <a:cs typeface="Trebuchet MS"/>
              </a:rPr>
              <a:t>+33.3</a:t>
            </a:r>
            <a:r>
              <a:rPr dirty="0" sz="1550" spc="95">
                <a:latin typeface="Trebuchet MS"/>
                <a:cs typeface="Trebuchet MS"/>
              </a:rPr>
              <a:t> </a:t>
            </a:r>
            <a:r>
              <a:rPr dirty="0" sz="1550" spc="45">
                <a:latin typeface="Trebuchet MS"/>
                <a:cs typeface="Trebuchet MS"/>
              </a:rPr>
              <a:t>percentage</a:t>
            </a:r>
            <a:r>
              <a:rPr dirty="0" sz="1550" spc="75">
                <a:latin typeface="Trebuchet MS"/>
                <a:cs typeface="Trebuchet MS"/>
              </a:rPr>
              <a:t> </a:t>
            </a:r>
            <a:r>
              <a:rPr dirty="0" sz="1550" spc="40">
                <a:latin typeface="Trebuchet MS"/>
                <a:cs typeface="Trebuchet MS"/>
              </a:rPr>
              <a:t>points </a:t>
            </a:r>
            <a:r>
              <a:rPr dirty="0" sz="1550" spc="-10">
                <a:latin typeface="Trebuchet MS"/>
                <a:cs typeface="Trebuchet MS"/>
              </a:rPr>
              <a:t>Interpretation:</a:t>
            </a:r>
            <a:endParaRPr sz="1550">
              <a:latin typeface="Trebuchet MS"/>
              <a:cs typeface="Trebuchet MS"/>
            </a:endParaRPr>
          </a:p>
          <a:p>
            <a:pPr marL="12700" marR="5080">
              <a:lnSpc>
                <a:spcPct val="103000"/>
              </a:lnSpc>
              <a:spcBef>
                <a:spcPts val="40"/>
              </a:spcBef>
            </a:pPr>
            <a:r>
              <a:rPr dirty="0" sz="1550" spc="120">
                <a:latin typeface="Trebuchet MS"/>
                <a:cs typeface="Trebuchet MS"/>
              </a:rPr>
              <a:t>Among</a:t>
            </a:r>
            <a:r>
              <a:rPr dirty="0" sz="1550" spc="45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people</a:t>
            </a:r>
            <a:r>
              <a:rPr dirty="0" sz="1550" spc="45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who</a:t>
            </a:r>
            <a:r>
              <a:rPr dirty="0" sz="1550" spc="8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are</a:t>
            </a:r>
            <a:r>
              <a:rPr dirty="0" sz="1550" spc="4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otherwise</a:t>
            </a:r>
            <a:r>
              <a:rPr dirty="0" sz="1550" spc="4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similar</a:t>
            </a:r>
            <a:r>
              <a:rPr dirty="0" sz="1550" spc="65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(matched </a:t>
            </a:r>
            <a:r>
              <a:rPr dirty="0" sz="1550" spc="80">
                <a:latin typeface="Trebuchet MS"/>
                <a:cs typeface="Trebuchet MS"/>
              </a:rPr>
              <a:t>on</a:t>
            </a:r>
            <a:r>
              <a:rPr dirty="0" sz="1550" spc="45">
                <a:latin typeface="Trebuchet MS"/>
                <a:cs typeface="Trebuchet MS"/>
              </a:rPr>
              <a:t> </a:t>
            </a:r>
            <a:r>
              <a:rPr dirty="0" sz="1550" spc="75">
                <a:latin typeface="Trebuchet MS"/>
                <a:cs typeface="Trebuchet MS"/>
              </a:rPr>
              <a:t>demographics</a:t>
            </a:r>
            <a:r>
              <a:rPr dirty="0" sz="1550" spc="114">
                <a:latin typeface="Trebuchet MS"/>
                <a:cs typeface="Trebuchet MS"/>
              </a:rPr>
              <a:t> </a:t>
            </a:r>
            <a:r>
              <a:rPr dirty="0" sz="1550" spc="-25">
                <a:latin typeface="Trebuchet MS"/>
                <a:cs typeface="Trebuchet MS"/>
              </a:rPr>
              <a:t>and </a:t>
            </a:r>
            <a:r>
              <a:rPr dirty="0" sz="1550" spc="60">
                <a:latin typeface="Trebuchet MS"/>
                <a:cs typeface="Trebuchet MS"/>
              </a:rPr>
              <a:t>psychology),</a:t>
            </a:r>
            <a:r>
              <a:rPr dirty="0" sz="1550" spc="25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high</a:t>
            </a:r>
            <a:r>
              <a:rPr dirty="0" sz="1550" spc="70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sunk</a:t>
            </a:r>
            <a:r>
              <a:rPr dirty="0" sz="1550">
                <a:latin typeface="Trebuchet MS"/>
                <a:cs typeface="Trebuchet MS"/>
              </a:rPr>
              <a:t> </a:t>
            </a:r>
            <a:r>
              <a:rPr dirty="0" sz="1550" spc="60">
                <a:latin typeface="Trebuchet MS"/>
                <a:cs typeface="Trebuchet MS"/>
              </a:rPr>
              <a:t>cost</a:t>
            </a:r>
            <a:r>
              <a:rPr dirty="0" sz="1550" spc="4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is</a:t>
            </a:r>
            <a:r>
              <a:rPr dirty="0" sz="1550" spc="75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associated</a:t>
            </a:r>
            <a:r>
              <a:rPr dirty="0" sz="1550" spc="1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with a</a:t>
            </a:r>
            <a:r>
              <a:rPr dirty="0" sz="1550" spc="60">
                <a:latin typeface="Trebuchet MS"/>
                <a:cs typeface="Trebuchet MS"/>
              </a:rPr>
              <a:t> </a:t>
            </a:r>
            <a:r>
              <a:rPr dirty="0" sz="1550" spc="140">
                <a:latin typeface="Trebuchet MS"/>
                <a:cs typeface="Trebuchet MS"/>
              </a:rPr>
              <a:t>33</a:t>
            </a:r>
            <a:r>
              <a:rPr dirty="0" sz="1550" spc="-50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percentage</a:t>
            </a:r>
            <a:r>
              <a:rPr dirty="0" sz="1550" spc="5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point </a:t>
            </a:r>
            <a:r>
              <a:rPr dirty="0" sz="1550" spc="45">
                <a:latin typeface="Trebuchet MS"/>
                <a:cs typeface="Trebuchet MS"/>
              </a:rPr>
              <a:t>increase</a:t>
            </a:r>
            <a:r>
              <a:rPr dirty="0" sz="1550" spc="-1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in</a:t>
            </a:r>
            <a:r>
              <a:rPr dirty="0" sz="1550" spc="-5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payment</a:t>
            </a:r>
            <a:r>
              <a:rPr dirty="0" sz="1550" spc="-45">
                <a:latin typeface="Trebuchet MS"/>
                <a:cs typeface="Trebuchet MS"/>
              </a:rPr>
              <a:t> </a:t>
            </a:r>
            <a:r>
              <a:rPr dirty="0" sz="1550" spc="-20">
                <a:latin typeface="Trebuchet MS"/>
                <a:cs typeface="Trebuchet MS"/>
              </a:rPr>
              <a:t>rate.</a:t>
            </a:r>
            <a:endParaRPr sz="1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5564" y="203199"/>
            <a:ext cx="4430395" cy="3924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Random</a:t>
            </a:r>
            <a:r>
              <a:rPr dirty="0" spc="-45"/>
              <a:t> </a:t>
            </a:r>
            <a:r>
              <a:rPr dirty="0"/>
              <a:t>Forest</a:t>
            </a:r>
            <a:r>
              <a:rPr dirty="0" spc="-60"/>
              <a:t> </a:t>
            </a:r>
            <a:r>
              <a:rPr dirty="0"/>
              <a:t>Feature</a:t>
            </a:r>
            <a:r>
              <a:rPr dirty="0" spc="-65"/>
              <a:t> </a:t>
            </a:r>
            <a:r>
              <a:rPr dirty="0" spc="-10"/>
              <a:t>Importance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645223"/>
            <a:ext cx="7494905" cy="152209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b="1">
                <a:latin typeface="Trebuchet MS"/>
                <a:cs typeface="Trebuchet MS"/>
              </a:rPr>
              <a:t>Method:</a:t>
            </a:r>
            <a:r>
              <a:rPr dirty="0" sz="1400" spc="85" b="1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Random</a:t>
            </a:r>
            <a:r>
              <a:rPr dirty="0" sz="1400" spc="1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Forest</a:t>
            </a:r>
            <a:r>
              <a:rPr dirty="0" sz="1400" spc="15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Classification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400">
              <a:latin typeface="Trebuchet MS"/>
              <a:cs typeface="Trebuchet MS"/>
            </a:endParaRPr>
          </a:p>
          <a:p>
            <a:pPr marL="298450" indent="-285750">
              <a:lnSpc>
                <a:spcPts val="1664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400">
                <a:latin typeface="Trebuchet MS"/>
                <a:cs typeface="Trebuchet MS"/>
              </a:rPr>
              <a:t>Algorithm: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45">
                <a:latin typeface="Trebuchet MS"/>
                <a:cs typeface="Trebuchet MS"/>
              </a:rPr>
              <a:t>Ensemble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of</a:t>
            </a:r>
            <a:r>
              <a:rPr dirty="0" sz="1400" spc="114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1,000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decision</a:t>
            </a:r>
            <a:r>
              <a:rPr dirty="0" sz="1400" spc="7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trees</a:t>
            </a:r>
            <a:endParaRPr sz="1400">
              <a:latin typeface="Trebuchet MS"/>
              <a:cs typeface="Trebuchet MS"/>
            </a:endParaRPr>
          </a:p>
          <a:p>
            <a:pPr marL="298450" marR="5080" indent="-286385">
              <a:lnSpc>
                <a:spcPts val="1650"/>
              </a:lnSpc>
              <a:spcBef>
                <a:spcPts val="70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400">
                <a:latin typeface="Trebuchet MS"/>
                <a:cs typeface="Trebuchet MS"/>
              </a:rPr>
              <a:t>Features:</a:t>
            </a:r>
            <a:r>
              <a:rPr dirty="0" sz="1400" spc="55">
                <a:latin typeface="Trebuchet MS"/>
                <a:cs typeface="Trebuchet MS"/>
              </a:rPr>
              <a:t> </a:t>
            </a:r>
            <a:r>
              <a:rPr dirty="0" sz="1400" spc="50">
                <a:latin typeface="Trebuchet MS"/>
                <a:cs typeface="Trebuchet MS"/>
              </a:rPr>
              <a:t>7</a:t>
            </a:r>
            <a:r>
              <a:rPr dirty="0" sz="1400" spc="7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predictors</a:t>
            </a:r>
            <a:r>
              <a:rPr dirty="0" sz="1400" spc="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(sunk</a:t>
            </a:r>
            <a:r>
              <a:rPr dirty="0" sz="1400" spc="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cost,</a:t>
            </a:r>
            <a:r>
              <a:rPr dirty="0" sz="1400" spc="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social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proof,</a:t>
            </a:r>
            <a:r>
              <a:rPr dirty="0" sz="1400" spc="2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vulnerability,</a:t>
            </a:r>
            <a:r>
              <a:rPr dirty="0" sz="1400" spc="30">
                <a:latin typeface="Trebuchet MS"/>
                <a:cs typeface="Trebuchet MS"/>
              </a:rPr>
              <a:t> </a:t>
            </a:r>
            <a:r>
              <a:rPr dirty="0" sz="1400" spc="-40">
                <a:latin typeface="Trebuchet MS"/>
                <a:cs typeface="Trebuchet MS"/>
              </a:rPr>
              <a:t>familiarity,</a:t>
            </a:r>
            <a:r>
              <a:rPr dirty="0" sz="1400" spc="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confidence,</a:t>
            </a:r>
            <a:r>
              <a:rPr dirty="0" sz="1400" spc="3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age, </a:t>
            </a:r>
            <a:r>
              <a:rPr dirty="0" sz="1400" spc="-10">
                <a:latin typeface="Trebuchet MS"/>
                <a:cs typeface="Trebuchet MS"/>
              </a:rPr>
              <a:t>education)</a:t>
            </a:r>
            <a:endParaRPr sz="1400">
              <a:latin typeface="Trebuchet MS"/>
              <a:cs typeface="Trebuchet MS"/>
            </a:endParaRPr>
          </a:p>
          <a:p>
            <a:pPr marL="298450" indent="-285750">
              <a:lnSpc>
                <a:spcPts val="1664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400" spc="-10">
                <a:latin typeface="Trebuchet MS"/>
                <a:cs typeface="Trebuchet MS"/>
              </a:rPr>
              <a:t>Target: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 spc="75">
                <a:latin typeface="Trebuchet MS"/>
                <a:cs typeface="Trebuchet MS"/>
              </a:rPr>
              <a:t>Made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payment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(binary)</a:t>
            </a:r>
            <a:endParaRPr sz="1400">
              <a:latin typeface="Trebuchet MS"/>
              <a:cs typeface="Trebuchet MS"/>
            </a:endParaRPr>
          </a:p>
          <a:p>
            <a:pPr marL="298450" indent="-285750">
              <a:lnSpc>
                <a:spcPts val="1664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400" spc="-10">
                <a:latin typeface="Trebuchet MS"/>
                <a:cs typeface="Trebuchet MS"/>
              </a:rPr>
              <a:t>Validation:</a:t>
            </a:r>
            <a:r>
              <a:rPr dirty="0" sz="1400" spc="-95">
                <a:latin typeface="Trebuchet MS"/>
                <a:cs typeface="Trebuchet MS"/>
              </a:rPr>
              <a:t> </a:t>
            </a:r>
            <a:r>
              <a:rPr dirty="0" sz="1400" spc="180">
                <a:latin typeface="Trebuchet MS"/>
                <a:cs typeface="Trebuchet MS"/>
              </a:rPr>
              <a:t>5-</a:t>
            </a:r>
            <a:r>
              <a:rPr dirty="0" sz="1400">
                <a:latin typeface="Trebuchet MS"/>
                <a:cs typeface="Trebuchet MS"/>
              </a:rPr>
              <a:t>fold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80">
                <a:latin typeface="Trebuchet MS"/>
                <a:cs typeface="Trebuchet MS"/>
              </a:rPr>
              <a:t>cross-</a:t>
            </a:r>
            <a:r>
              <a:rPr dirty="0" sz="1400" spc="-10">
                <a:latin typeface="Trebuchet MS"/>
                <a:cs typeface="Trebuchet MS"/>
              </a:rPr>
              <a:t>validation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4" name="object 4" descr="A graph of a random forest feature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4775" y="1619250"/>
            <a:ext cx="5038725" cy="30670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Social</a:t>
            </a:r>
            <a:r>
              <a:rPr dirty="0" spc="-65"/>
              <a:t> </a:t>
            </a:r>
            <a:r>
              <a:rPr dirty="0" spc="-20"/>
              <a:t>Proof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644905"/>
            <a:ext cx="8343265" cy="270954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b="1">
                <a:latin typeface="Trebuchet MS"/>
                <a:cs typeface="Trebuchet MS"/>
              </a:rPr>
              <a:t>Hypothesis:</a:t>
            </a:r>
            <a:r>
              <a:rPr dirty="0" sz="1550" spc="150" b="1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Social</a:t>
            </a:r>
            <a:r>
              <a:rPr dirty="0" sz="1550" spc="6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Proof</a:t>
            </a:r>
            <a:r>
              <a:rPr dirty="0" sz="1550" spc="190">
                <a:latin typeface="Trebuchet MS"/>
                <a:cs typeface="Trebuchet MS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→</a:t>
            </a:r>
            <a:r>
              <a:rPr dirty="0" sz="1550" spc="260">
                <a:latin typeface="Times New Roman"/>
                <a:cs typeface="Times New Roman"/>
              </a:rPr>
              <a:t> </a:t>
            </a:r>
            <a:r>
              <a:rPr dirty="0" sz="1550">
                <a:latin typeface="Trebuchet MS"/>
                <a:cs typeface="Trebuchet MS"/>
              </a:rPr>
              <a:t>Trust</a:t>
            </a:r>
            <a:r>
              <a:rPr dirty="0" sz="1550" spc="10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Increase</a:t>
            </a:r>
            <a:r>
              <a:rPr dirty="0" sz="1550" spc="155">
                <a:latin typeface="Trebuchet MS"/>
                <a:cs typeface="Trebuchet MS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→</a:t>
            </a:r>
            <a:r>
              <a:rPr dirty="0" sz="1550" spc="260">
                <a:latin typeface="Times New Roman"/>
                <a:cs typeface="Times New Roman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Payment</a:t>
            </a:r>
            <a:r>
              <a:rPr dirty="0" sz="1550" spc="10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(mediation</a:t>
            </a:r>
            <a:r>
              <a:rPr dirty="0" sz="1550" spc="155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model)</a:t>
            </a:r>
            <a:endParaRPr sz="15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550" b="1">
                <a:latin typeface="Trebuchet MS"/>
                <a:cs typeface="Trebuchet MS"/>
              </a:rPr>
              <a:t>Theoretical</a:t>
            </a:r>
            <a:r>
              <a:rPr dirty="0" sz="1550" spc="75" b="1">
                <a:latin typeface="Trebuchet MS"/>
                <a:cs typeface="Trebuchet MS"/>
              </a:rPr>
              <a:t> </a:t>
            </a:r>
            <a:r>
              <a:rPr dirty="0" sz="1550" spc="-10" b="1">
                <a:latin typeface="Trebuchet MS"/>
                <a:cs typeface="Trebuchet MS"/>
              </a:rPr>
              <a:t>Framework</a:t>
            </a: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b="1">
                <a:latin typeface="Trebuchet MS"/>
                <a:cs typeface="Trebuchet MS"/>
              </a:rPr>
              <a:t>Cialdini</a:t>
            </a:r>
            <a:r>
              <a:rPr dirty="0" sz="1550" spc="40" b="1">
                <a:latin typeface="Trebuchet MS"/>
                <a:cs typeface="Trebuchet MS"/>
              </a:rPr>
              <a:t> </a:t>
            </a:r>
            <a:r>
              <a:rPr dirty="0" sz="1550" spc="60" b="1">
                <a:latin typeface="Trebuchet MS"/>
                <a:cs typeface="Trebuchet MS"/>
              </a:rPr>
              <a:t>(2006):</a:t>
            </a:r>
            <a:r>
              <a:rPr dirty="0" sz="1550" spc="35" b="1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"Influence:</a:t>
            </a:r>
            <a:r>
              <a:rPr dirty="0" sz="1550" spc="114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The</a:t>
            </a:r>
            <a:r>
              <a:rPr dirty="0" sz="1550" spc="55">
                <a:latin typeface="Trebuchet MS"/>
                <a:cs typeface="Trebuchet MS"/>
              </a:rPr>
              <a:t> </a:t>
            </a:r>
            <a:r>
              <a:rPr dirty="0" sz="1550" spc="80">
                <a:latin typeface="Trebuchet MS"/>
                <a:cs typeface="Trebuchet MS"/>
              </a:rPr>
              <a:t>Psychology</a:t>
            </a:r>
            <a:r>
              <a:rPr dirty="0" sz="1550" spc="6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of</a:t>
            </a:r>
            <a:r>
              <a:rPr dirty="0" sz="1550" spc="55">
                <a:latin typeface="Trebuchet MS"/>
                <a:cs typeface="Trebuchet MS"/>
              </a:rPr>
              <a:t> </a:t>
            </a:r>
            <a:r>
              <a:rPr dirty="0" sz="1550" spc="35">
                <a:latin typeface="Trebuchet MS"/>
                <a:cs typeface="Trebuchet MS"/>
              </a:rPr>
              <a:t>Persuasion"</a:t>
            </a: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90">
                <a:latin typeface="Trebuchet MS"/>
                <a:cs typeface="Trebuchet MS"/>
              </a:rPr>
              <a:t>When</a:t>
            </a:r>
            <a:r>
              <a:rPr dirty="0" sz="1550" spc="114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people</a:t>
            </a:r>
            <a:r>
              <a:rPr dirty="0" sz="1550" spc="114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are</a:t>
            </a:r>
            <a:r>
              <a:rPr dirty="0" sz="1550" spc="114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unsure,</a:t>
            </a:r>
            <a:r>
              <a:rPr dirty="0" sz="1550" spc="14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they</a:t>
            </a:r>
            <a:r>
              <a:rPr dirty="0" sz="1550" spc="12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look</a:t>
            </a:r>
            <a:r>
              <a:rPr dirty="0" sz="1550" spc="11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to</a:t>
            </a:r>
            <a:r>
              <a:rPr dirty="0" sz="1550" spc="15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similar</a:t>
            </a:r>
            <a:r>
              <a:rPr dirty="0" sz="1550" spc="14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others</a:t>
            </a:r>
            <a:r>
              <a:rPr dirty="0" sz="1550" spc="10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to</a:t>
            </a:r>
            <a:r>
              <a:rPr dirty="0" sz="1550" spc="65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provide</a:t>
            </a:r>
            <a:r>
              <a:rPr dirty="0" sz="1550" spc="12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correct</a:t>
            </a:r>
            <a:r>
              <a:rPr dirty="0" sz="1550" spc="15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actions.</a:t>
            </a:r>
            <a:r>
              <a:rPr dirty="0" sz="1550" spc="10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The</a:t>
            </a:r>
            <a:r>
              <a:rPr dirty="0" sz="1550" spc="114">
                <a:latin typeface="Trebuchet MS"/>
                <a:cs typeface="Trebuchet MS"/>
              </a:rPr>
              <a:t> </a:t>
            </a:r>
            <a:r>
              <a:rPr dirty="0" sz="1550" spc="30">
                <a:latin typeface="Trebuchet MS"/>
                <a:cs typeface="Trebuchet MS"/>
              </a:rPr>
              <a:t>more</a:t>
            </a: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550" spc="50">
                <a:latin typeface="Trebuchet MS"/>
                <a:cs typeface="Trebuchet MS"/>
              </a:rPr>
              <a:t>people</a:t>
            </a:r>
            <a:r>
              <a:rPr dirty="0" sz="1550" spc="4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undertaking</a:t>
            </a:r>
            <a:r>
              <a:rPr dirty="0" sz="1550" spc="5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that</a:t>
            </a:r>
            <a:r>
              <a:rPr dirty="0" sz="1550" spc="-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action,</a:t>
            </a:r>
            <a:r>
              <a:rPr dirty="0" sz="1550" spc="7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the</a:t>
            </a:r>
            <a:r>
              <a:rPr dirty="0" sz="1550" spc="40">
                <a:latin typeface="Trebuchet MS"/>
                <a:cs typeface="Trebuchet MS"/>
              </a:rPr>
              <a:t> </a:t>
            </a:r>
            <a:r>
              <a:rPr dirty="0" sz="1550" spc="70">
                <a:latin typeface="Trebuchet MS"/>
                <a:cs typeface="Trebuchet MS"/>
              </a:rPr>
              <a:t>more</a:t>
            </a:r>
            <a:r>
              <a:rPr dirty="0" sz="1550" spc="4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they</a:t>
            </a:r>
            <a:r>
              <a:rPr dirty="0" sz="1550" spc="45">
                <a:latin typeface="Trebuchet MS"/>
                <a:cs typeface="Trebuchet MS"/>
              </a:rPr>
              <a:t> </a:t>
            </a:r>
            <a:r>
              <a:rPr dirty="0" sz="1550" spc="70">
                <a:latin typeface="Trebuchet MS"/>
                <a:cs typeface="Trebuchet MS"/>
              </a:rPr>
              <a:t>consider</a:t>
            </a:r>
            <a:r>
              <a:rPr dirty="0" sz="1550" spc="-1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it</a:t>
            </a:r>
            <a:r>
              <a:rPr dirty="0" sz="1550" spc="-5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correct.</a:t>
            </a:r>
            <a:endParaRPr sz="15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550" b="1">
                <a:latin typeface="Trebuchet MS"/>
                <a:cs typeface="Trebuchet MS"/>
              </a:rPr>
              <a:t>Informational</a:t>
            </a:r>
            <a:r>
              <a:rPr dirty="0" sz="1550" spc="5" b="1">
                <a:latin typeface="Trebuchet MS"/>
                <a:cs typeface="Trebuchet MS"/>
              </a:rPr>
              <a:t> </a:t>
            </a:r>
            <a:r>
              <a:rPr dirty="0" sz="1550" spc="75" b="1">
                <a:latin typeface="Trebuchet MS"/>
                <a:cs typeface="Trebuchet MS"/>
              </a:rPr>
              <a:t>Cascades</a:t>
            </a:r>
            <a:r>
              <a:rPr dirty="0" sz="1550" spc="15" b="1">
                <a:latin typeface="Trebuchet MS"/>
                <a:cs typeface="Trebuchet MS"/>
              </a:rPr>
              <a:t> </a:t>
            </a:r>
            <a:r>
              <a:rPr dirty="0" sz="1550" spc="-10" b="1">
                <a:latin typeface="Trebuchet MS"/>
                <a:cs typeface="Trebuchet MS"/>
              </a:rPr>
              <a:t>Theory:</a:t>
            </a:r>
            <a:endParaRPr sz="155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550">
                <a:latin typeface="Trebuchet MS"/>
                <a:cs typeface="Trebuchet MS"/>
              </a:rPr>
              <a:t>Testimonials,</a:t>
            </a:r>
            <a:r>
              <a:rPr dirty="0" sz="1550" spc="20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likes,</a:t>
            </a:r>
            <a:r>
              <a:rPr dirty="0" sz="1550" spc="204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reviews</a:t>
            </a:r>
            <a:r>
              <a:rPr dirty="0" sz="1550" spc="16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signal</a:t>
            </a:r>
            <a:r>
              <a:rPr dirty="0" sz="1550" spc="175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legitimacy</a:t>
            </a:r>
            <a:endParaRPr sz="155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90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550" spc="70">
                <a:latin typeface="Trebuchet MS"/>
                <a:cs typeface="Trebuchet MS"/>
              </a:rPr>
              <a:t>Reduce</a:t>
            </a:r>
            <a:r>
              <a:rPr dirty="0" sz="1550" spc="8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uncertainty</a:t>
            </a:r>
            <a:r>
              <a:rPr dirty="0" sz="1550" spc="8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in</a:t>
            </a:r>
            <a:r>
              <a:rPr dirty="0" sz="1550" spc="8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risky</a:t>
            </a:r>
            <a:r>
              <a:rPr dirty="0" sz="1550" spc="90">
                <a:latin typeface="Trebuchet MS"/>
                <a:cs typeface="Trebuchet MS"/>
              </a:rPr>
              <a:t> </a:t>
            </a:r>
            <a:r>
              <a:rPr dirty="0" sz="1550" spc="60">
                <a:latin typeface="Trebuchet MS"/>
                <a:cs typeface="Trebuchet MS"/>
              </a:rPr>
              <a:t>decisions</a:t>
            </a:r>
            <a:endParaRPr sz="155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550" spc="55">
                <a:latin typeface="Trebuchet MS"/>
                <a:cs typeface="Trebuchet MS"/>
              </a:rPr>
              <a:t>Create</a:t>
            </a:r>
            <a:r>
              <a:rPr dirty="0" sz="1550" spc="8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herd</a:t>
            </a:r>
            <a:r>
              <a:rPr dirty="0" sz="1550" spc="90">
                <a:latin typeface="Trebuchet MS"/>
                <a:cs typeface="Trebuchet MS"/>
              </a:rPr>
              <a:t> </a:t>
            </a:r>
            <a:r>
              <a:rPr dirty="0" sz="1550" spc="35">
                <a:latin typeface="Trebuchet MS"/>
                <a:cs typeface="Trebuchet MS"/>
              </a:rPr>
              <a:t>behavior</a:t>
            </a:r>
            <a:endParaRPr sz="1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Social</a:t>
            </a:r>
            <a:r>
              <a:rPr dirty="0" spc="-65"/>
              <a:t> </a:t>
            </a:r>
            <a:r>
              <a:rPr dirty="0" spc="-20"/>
              <a:t>Proof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145" y="1217866"/>
            <a:ext cx="7948295" cy="17354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b="1">
                <a:latin typeface="Trebuchet MS"/>
                <a:cs typeface="Trebuchet MS"/>
              </a:rPr>
              <a:t>H2a</a:t>
            </a:r>
            <a:r>
              <a:rPr dirty="0" sz="1550" spc="80" b="1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(Direct</a:t>
            </a:r>
            <a:r>
              <a:rPr dirty="0" sz="1550" spc="114" b="1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Effect):</a:t>
            </a:r>
            <a:r>
              <a:rPr dirty="0" sz="1550" spc="120" b="1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Higher</a:t>
            </a:r>
            <a:r>
              <a:rPr dirty="0" sz="1550" spc="3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social</a:t>
            </a:r>
            <a:r>
              <a:rPr dirty="0" sz="1550" spc="114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proof</a:t>
            </a:r>
            <a:r>
              <a:rPr dirty="0" sz="1550" spc="10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influence</a:t>
            </a:r>
            <a:r>
              <a:rPr dirty="0" sz="1550" spc="120">
                <a:latin typeface="Trebuchet MS"/>
                <a:cs typeface="Trebuchet MS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→</a:t>
            </a:r>
            <a:r>
              <a:rPr dirty="0" sz="1550" spc="204">
                <a:latin typeface="Times New Roman"/>
                <a:cs typeface="Times New Roman"/>
              </a:rPr>
              <a:t> </a:t>
            </a:r>
            <a:r>
              <a:rPr dirty="0" sz="1550" spc="60">
                <a:latin typeface="Trebuchet MS"/>
                <a:cs typeface="Trebuchet MS"/>
              </a:rPr>
              <a:t>Higher</a:t>
            </a:r>
            <a:r>
              <a:rPr dirty="0" sz="1550" spc="35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payment </a:t>
            </a:r>
            <a:r>
              <a:rPr dirty="0" sz="1550" spc="-10">
                <a:latin typeface="Trebuchet MS"/>
                <a:cs typeface="Trebuchet MS"/>
              </a:rPr>
              <a:t>likelihood</a:t>
            </a:r>
            <a:endParaRPr sz="15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550" b="1">
                <a:latin typeface="Trebuchet MS"/>
                <a:cs typeface="Trebuchet MS"/>
              </a:rPr>
              <a:t>H2b</a:t>
            </a:r>
            <a:r>
              <a:rPr dirty="0" sz="1550" spc="200" b="1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(Mediation):</a:t>
            </a:r>
            <a:r>
              <a:rPr dirty="0" sz="1550" spc="165" b="1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Social</a:t>
            </a:r>
            <a:r>
              <a:rPr dirty="0" sz="1550" spc="6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Proof</a:t>
            </a:r>
            <a:r>
              <a:rPr dirty="0" sz="1550" spc="210">
                <a:latin typeface="Trebuchet MS"/>
                <a:cs typeface="Trebuchet MS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→</a:t>
            </a:r>
            <a:r>
              <a:rPr dirty="0" sz="1550" spc="260">
                <a:latin typeface="Times New Roman"/>
                <a:cs typeface="Times New Roman"/>
              </a:rPr>
              <a:t> </a:t>
            </a:r>
            <a:r>
              <a:rPr dirty="0" sz="1550">
                <a:latin typeface="Trebuchet MS"/>
                <a:cs typeface="Trebuchet MS"/>
              </a:rPr>
              <a:t>Trust</a:t>
            </a:r>
            <a:r>
              <a:rPr dirty="0" sz="1550" spc="114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Increase</a:t>
            </a:r>
            <a:r>
              <a:rPr dirty="0" sz="1550" spc="125">
                <a:latin typeface="Trebuchet MS"/>
                <a:cs typeface="Trebuchet MS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→</a:t>
            </a:r>
            <a:r>
              <a:rPr dirty="0" sz="1550" spc="260">
                <a:latin typeface="Times New Roman"/>
                <a:cs typeface="Times New Roman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Payment</a:t>
            </a:r>
            <a:r>
              <a:rPr dirty="0" sz="1550" spc="130">
                <a:latin typeface="Trebuchet MS"/>
                <a:cs typeface="Trebuchet MS"/>
              </a:rPr>
              <a:t> </a:t>
            </a:r>
            <a:r>
              <a:rPr dirty="0" sz="1550" i="1">
                <a:latin typeface="Trebuchet MS"/>
                <a:cs typeface="Trebuchet MS"/>
              </a:rPr>
              <a:t>(Social</a:t>
            </a:r>
            <a:r>
              <a:rPr dirty="0" sz="1550" spc="165" i="1">
                <a:latin typeface="Trebuchet MS"/>
                <a:cs typeface="Trebuchet MS"/>
              </a:rPr>
              <a:t> </a:t>
            </a:r>
            <a:r>
              <a:rPr dirty="0" sz="1550" i="1">
                <a:latin typeface="Trebuchet MS"/>
                <a:cs typeface="Trebuchet MS"/>
              </a:rPr>
              <a:t>proof</a:t>
            </a:r>
            <a:r>
              <a:rPr dirty="0" sz="1550" spc="160" i="1">
                <a:latin typeface="Trebuchet MS"/>
                <a:cs typeface="Trebuchet MS"/>
              </a:rPr>
              <a:t> </a:t>
            </a:r>
            <a:r>
              <a:rPr dirty="0" sz="1550" spc="-10" i="1">
                <a:latin typeface="Trebuchet MS"/>
                <a:cs typeface="Trebuchet MS"/>
              </a:rPr>
              <a:t>works</a:t>
            </a: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550" b="1" i="1">
                <a:latin typeface="Trebuchet MS"/>
                <a:cs typeface="Trebuchet MS"/>
              </a:rPr>
              <a:t>through</a:t>
            </a:r>
            <a:r>
              <a:rPr dirty="0" sz="1550" spc="15" b="1" i="1">
                <a:latin typeface="Trebuchet MS"/>
                <a:cs typeface="Trebuchet MS"/>
              </a:rPr>
              <a:t> </a:t>
            </a:r>
            <a:r>
              <a:rPr dirty="0" sz="1550" i="1">
                <a:latin typeface="Trebuchet MS"/>
                <a:cs typeface="Trebuchet MS"/>
              </a:rPr>
              <a:t>building</a:t>
            </a:r>
            <a:r>
              <a:rPr dirty="0" sz="1550" spc="55" i="1">
                <a:latin typeface="Trebuchet MS"/>
                <a:cs typeface="Trebuchet MS"/>
              </a:rPr>
              <a:t> </a:t>
            </a:r>
            <a:r>
              <a:rPr dirty="0" sz="1550" spc="-40" i="1">
                <a:latin typeface="Trebuchet MS"/>
                <a:cs typeface="Trebuchet MS"/>
              </a:rPr>
              <a:t>trust,</a:t>
            </a:r>
            <a:r>
              <a:rPr dirty="0" sz="1550" spc="-5" i="1">
                <a:latin typeface="Trebuchet MS"/>
                <a:cs typeface="Trebuchet MS"/>
              </a:rPr>
              <a:t> </a:t>
            </a:r>
            <a:r>
              <a:rPr dirty="0" sz="1550" i="1">
                <a:latin typeface="Trebuchet MS"/>
                <a:cs typeface="Trebuchet MS"/>
              </a:rPr>
              <a:t>not</a:t>
            </a:r>
            <a:r>
              <a:rPr dirty="0" sz="1550" spc="85" i="1">
                <a:latin typeface="Trebuchet MS"/>
                <a:cs typeface="Trebuchet MS"/>
              </a:rPr>
              <a:t> </a:t>
            </a:r>
            <a:r>
              <a:rPr dirty="0" sz="1550" spc="-10" i="1">
                <a:latin typeface="Trebuchet MS"/>
                <a:cs typeface="Trebuchet MS"/>
              </a:rPr>
              <a:t>just</a:t>
            </a:r>
            <a:r>
              <a:rPr dirty="0" sz="1550" spc="90" i="1">
                <a:latin typeface="Trebuchet MS"/>
                <a:cs typeface="Trebuchet MS"/>
              </a:rPr>
              <a:t> </a:t>
            </a:r>
            <a:r>
              <a:rPr dirty="0" sz="1550" i="1">
                <a:latin typeface="Trebuchet MS"/>
                <a:cs typeface="Trebuchet MS"/>
              </a:rPr>
              <a:t>direct</a:t>
            </a:r>
            <a:r>
              <a:rPr dirty="0" sz="1550" spc="5" i="1">
                <a:latin typeface="Trebuchet MS"/>
                <a:cs typeface="Trebuchet MS"/>
              </a:rPr>
              <a:t> </a:t>
            </a:r>
            <a:r>
              <a:rPr dirty="0" sz="1550" spc="40" i="1">
                <a:latin typeface="Trebuchet MS"/>
                <a:cs typeface="Trebuchet MS"/>
              </a:rPr>
              <a:t>persuasion)</a:t>
            </a:r>
            <a:endParaRPr sz="15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550">
              <a:latin typeface="Trebuchet MS"/>
              <a:cs typeface="Trebuchet MS"/>
            </a:endParaRPr>
          </a:p>
          <a:p>
            <a:pPr marL="12700" marR="5080">
              <a:lnSpc>
                <a:spcPct val="104900"/>
              </a:lnSpc>
              <a:spcBef>
                <a:spcPts val="5"/>
              </a:spcBef>
            </a:pPr>
            <a:r>
              <a:rPr dirty="0" sz="1550" spc="60" b="1">
                <a:latin typeface="Trebuchet MS"/>
                <a:cs typeface="Trebuchet MS"/>
              </a:rPr>
              <a:t>H2c</a:t>
            </a:r>
            <a:r>
              <a:rPr dirty="0" sz="1550" spc="140" b="1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(Interaction):</a:t>
            </a:r>
            <a:r>
              <a:rPr dirty="0" sz="1550" spc="85" b="1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Professional</a:t>
            </a:r>
            <a:r>
              <a:rPr dirty="0" sz="1550" spc="120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Appearance</a:t>
            </a:r>
            <a:r>
              <a:rPr dirty="0" sz="1550" spc="195">
                <a:latin typeface="Trebuchet MS"/>
                <a:cs typeface="Trebuchet MS"/>
              </a:rPr>
              <a:t> </a:t>
            </a:r>
            <a:r>
              <a:rPr dirty="0" sz="1550">
                <a:latin typeface="Arial"/>
                <a:cs typeface="Arial"/>
              </a:rPr>
              <a:t>×</a:t>
            </a:r>
            <a:r>
              <a:rPr dirty="0" sz="1550" spc="155">
                <a:latin typeface="Arial"/>
                <a:cs typeface="Arial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Social</a:t>
            </a:r>
            <a:r>
              <a:rPr dirty="0" sz="1550" spc="2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Proof</a:t>
            </a:r>
            <a:r>
              <a:rPr dirty="0" sz="1550" spc="135">
                <a:latin typeface="Trebuchet MS"/>
                <a:cs typeface="Trebuchet MS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→</a:t>
            </a:r>
            <a:r>
              <a:rPr dirty="0" sz="1550" spc="215">
                <a:latin typeface="Times New Roman"/>
                <a:cs typeface="Times New Roman"/>
              </a:rPr>
              <a:t> </a:t>
            </a:r>
            <a:r>
              <a:rPr dirty="0" sz="1550">
                <a:latin typeface="Trebuchet MS"/>
                <a:cs typeface="Trebuchet MS"/>
              </a:rPr>
              <a:t>Amplified</a:t>
            </a:r>
            <a:r>
              <a:rPr dirty="0" sz="1550" spc="114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effect</a:t>
            </a:r>
            <a:r>
              <a:rPr dirty="0" sz="1550" spc="110">
                <a:latin typeface="Trebuchet MS"/>
                <a:cs typeface="Trebuchet MS"/>
              </a:rPr>
              <a:t> </a:t>
            </a:r>
            <a:r>
              <a:rPr dirty="0" sz="1550" spc="80" i="1">
                <a:latin typeface="Trebuchet MS"/>
                <a:cs typeface="Trebuchet MS"/>
              </a:rPr>
              <a:t>(When</a:t>
            </a:r>
            <a:r>
              <a:rPr dirty="0" sz="1550" spc="80" i="1">
                <a:latin typeface="Trebuchet MS"/>
                <a:cs typeface="Trebuchet MS"/>
              </a:rPr>
              <a:t> </a:t>
            </a:r>
            <a:r>
              <a:rPr dirty="0" sz="1550" i="1">
                <a:latin typeface="Trebuchet MS"/>
                <a:cs typeface="Trebuchet MS"/>
              </a:rPr>
              <a:t>both</a:t>
            </a:r>
            <a:r>
              <a:rPr dirty="0" sz="1550" spc="60" i="1">
                <a:latin typeface="Trebuchet MS"/>
                <a:cs typeface="Trebuchet MS"/>
              </a:rPr>
              <a:t> </a:t>
            </a:r>
            <a:r>
              <a:rPr dirty="0" sz="1550" i="1">
                <a:latin typeface="Trebuchet MS"/>
                <a:cs typeface="Trebuchet MS"/>
              </a:rPr>
              <a:t>present,</a:t>
            </a:r>
            <a:r>
              <a:rPr dirty="0" sz="1550" spc="10" i="1">
                <a:latin typeface="Trebuchet MS"/>
                <a:cs typeface="Trebuchet MS"/>
              </a:rPr>
              <a:t> </a:t>
            </a:r>
            <a:r>
              <a:rPr dirty="0" sz="1550" i="1">
                <a:latin typeface="Trebuchet MS"/>
                <a:cs typeface="Trebuchet MS"/>
              </a:rPr>
              <a:t>multiplicative</a:t>
            </a:r>
            <a:r>
              <a:rPr dirty="0" sz="1550" spc="60" i="1">
                <a:latin typeface="Trebuchet MS"/>
                <a:cs typeface="Trebuchet MS"/>
              </a:rPr>
              <a:t> </a:t>
            </a:r>
            <a:r>
              <a:rPr dirty="0" sz="1550" spc="-20" i="1">
                <a:latin typeface="Trebuchet MS"/>
                <a:cs typeface="Trebuchet MS"/>
              </a:rPr>
              <a:t>risk)</a:t>
            </a:r>
            <a:endParaRPr sz="1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Social</a:t>
            </a:r>
            <a:r>
              <a:rPr dirty="0" spc="-65"/>
              <a:t> </a:t>
            </a:r>
            <a:r>
              <a:rPr dirty="0" spc="-20"/>
              <a:t>Proof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882014"/>
            <a:ext cx="8063230" cy="270954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0">
                <a:latin typeface="Trebuchet MS"/>
                <a:cs typeface="Trebuchet MS"/>
              </a:rPr>
              <a:t>Operationalization</a:t>
            </a: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>
                <a:latin typeface="Trebuchet MS"/>
                <a:cs typeface="Trebuchet MS"/>
              </a:rPr>
              <a:t>Independent</a:t>
            </a:r>
            <a:r>
              <a:rPr dirty="0" sz="1550" spc="36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Variable</a:t>
            </a:r>
            <a:r>
              <a:rPr dirty="0" sz="1550" spc="315">
                <a:latin typeface="Trebuchet MS"/>
                <a:cs typeface="Trebuchet MS"/>
              </a:rPr>
              <a:t> </a:t>
            </a:r>
            <a:r>
              <a:rPr dirty="0" sz="1550" spc="-20">
                <a:latin typeface="Trebuchet MS"/>
                <a:cs typeface="Trebuchet MS"/>
              </a:rPr>
              <a:t>(IV):</a:t>
            </a:r>
            <a:endParaRPr sz="155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550">
                <a:latin typeface="Trebuchet MS"/>
                <a:cs typeface="Trebuchet MS"/>
              </a:rPr>
              <a:t>Question:</a:t>
            </a:r>
            <a:r>
              <a:rPr dirty="0" sz="1550" spc="95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"How</a:t>
            </a:r>
            <a:r>
              <a:rPr dirty="0" sz="1550" spc="130">
                <a:latin typeface="Trebuchet MS"/>
                <a:cs typeface="Trebuchet MS"/>
              </a:rPr>
              <a:t> </a:t>
            </a:r>
            <a:r>
              <a:rPr dirty="0" sz="1550" spc="85">
                <a:latin typeface="Trebuchet MS"/>
                <a:cs typeface="Trebuchet MS"/>
              </a:rPr>
              <a:t>much</a:t>
            </a:r>
            <a:r>
              <a:rPr dirty="0" sz="1550" spc="114">
                <a:latin typeface="Trebuchet MS"/>
                <a:cs typeface="Trebuchet MS"/>
              </a:rPr>
              <a:t> </a:t>
            </a:r>
            <a:r>
              <a:rPr dirty="0" sz="1550" spc="65">
                <a:latin typeface="Trebuchet MS"/>
                <a:cs typeface="Trebuchet MS"/>
              </a:rPr>
              <a:t>did</a:t>
            </a:r>
            <a:r>
              <a:rPr dirty="0" sz="1550" spc="14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social</a:t>
            </a:r>
            <a:r>
              <a:rPr dirty="0" sz="1550" spc="13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proof</a:t>
            </a:r>
            <a:r>
              <a:rPr dirty="0" sz="1550" spc="12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(likes/testimonials)</a:t>
            </a:r>
            <a:r>
              <a:rPr dirty="0" sz="1550" spc="15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influence</a:t>
            </a:r>
            <a:r>
              <a:rPr dirty="0" sz="1550" spc="125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your</a:t>
            </a:r>
            <a:r>
              <a:rPr dirty="0" sz="1550" spc="55">
                <a:latin typeface="Trebuchet MS"/>
                <a:cs typeface="Trebuchet MS"/>
              </a:rPr>
              <a:t> </a:t>
            </a:r>
            <a:r>
              <a:rPr dirty="0" sz="1550" spc="70">
                <a:latin typeface="Trebuchet MS"/>
                <a:cs typeface="Trebuchet MS"/>
              </a:rPr>
              <a:t>decision?"</a:t>
            </a:r>
            <a:endParaRPr sz="155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550">
                <a:latin typeface="Trebuchet MS"/>
                <a:cs typeface="Trebuchet MS"/>
              </a:rPr>
              <a:t>Scale:</a:t>
            </a:r>
            <a:r>
              <a:rPr dirty="0" sz="1550" spc="-25">
                <a:latin typeface="Trebuchet MS"/>
                <a:cs typeface="Trebuchet MS"/>
              </a:rPr>
              <a:t> </a:t>
            </a:r>
            <a:r>
              <a:rPr dirty="0" sz="1550" spc="-335">
                <a:latin typeface="Trebuchet MS"/>
                <a:cs typeface="Trebuchet MS"/>
              </a:rPr>
              <a:t>1</a:t>
            </a:r>
            <a:r>
              <a:rPr dirty="0" sz="1550" spc="30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(Not</a:t>
            </a:r>
            <a:r>
              <a:rPr dirty="0" sz="1550" spc="3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at</a:t>
            </a:r>
            <a:r>
              <a:rPr dirty="0" sz="1550" spc="35">
                <a:latin typeface="Trebuchet MS"/>
                <a:cs typeface="Trebuchet MS"/>
              </a:rPr>
              <a:t> </a:t>
            </a:r>
            <a:r>
              <a:rPr dirty="0" sz="1550" spc="-25">
                <a:latin typeface="Trebuchet MS"/>
                <a:cs typeface="Trebuchet MS"/>
              </a:rPr>
              <a:t>all)</a:t>
            </a:r>
            <a:r>
              <a:rPr dirty="0" sz="1550" spc="-6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to</a:t>
            </a:r>
            <a:r>
              <a:rPr dirty="0" sz="1550" spc="-40">
                <a:latin typeface="Trebuchet MS"/>
                <a:cs typeface="Trebuchet MS"/>
              </a:rPr>
              <a:t> </a:t>
            </a:r>
            <a:r>
              <a:rPr dirty="0" sz="1550" spc="170">
                <a:latin typeface="Trebuchet MS"/>
                <a:cs typeface="Trebuchet MS"/>
              </a:rPr>
              <a:t>5</a:t>
            </a:r>
            <a:r>
              <a:rPr dirty="0" sz="1550" spc="50">
                <a:latin typeface="Trebuchet MS"/>
                <a:cs typeface="Trebuchet MS"/>
              </a:rPr>
              <a:t> </a:t>
            </a:r>
            <a:r>
              <a:rPr dirty="0" sz="1550" spc="80">
                <a:latin typeface="Trebuchet MS"/>
                <a:cs typeface="Trebuchet MS"/>
              </a:rPr>
              <a:t>(A</a:t>
            </a:r>
            <a:r>
              <a:rPr dirty="0" sz="1550" spc="55">
                <a:latin typeface="Trebuchet MS"/>
                <a:cs typeface="Trebuchet MS"/>
              </a:rPr>
              <a:t> </a:t>
            </a:r>
            <a:r>
              <a:rPr dirty="0" sz="1550" spc="-20">
                <a:latin typeface="Trebuchet MS"/>
                <a:cs typeface="Trebuchet MS"/>
              </a:rPr>
              <a:t>lot)</a:t>
            </a:r>
            <a:endParaRPr sz="155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550">
                <a:latin typeface="Trebuchet MS"/>
                <a:cs typeface="Trebuchet MS"/>
              </a:rPr>
              <a:t>Sample:</a:t>
            </a:r>
            <a:r>
              <a:rPr dirty="0" sz="1550" spc="5">
                <a:latin typeface="Trebuchet MS"/>
                <a:cs typeface="Trebuchet MS"/>
              </a:rPr>
              <a:t> </a:t>
            </a:r>
            <a:r>
              <a:rPr dirty="0" sz="1550" spc="140">
                <a:latin typeface="Trebuchet MS"/>
                <a:cs typeface="Trebuchet MS"/>
              </a:rPr>
              <a:t>N=37</a:t>
            </a:r>
            <a:r>
              <a:rPr dirty="0" sz="1550" spc="45">
                <a:latin typeface="Trebuchet MS"/>
                <a:cs typeface="Trebuchet MS"/>
              </a:rPr>
              <a:t> </a:t>
            </a:r>
            <a:r>
              <a:rPr dirty="0" sz="1550" spc="-25">
                <a:latin typeface="Trebuchet MS"/>
                <a:cs typeface="Trebuchet MS"/>
              </a:rPr>
              <a:t>(all</a:t>
            </a:r>
            <a:r>
              <a:rPr dirty="0" sz="1550" spc="35">
                <a:latin typeface="Trebuchet MS"/>
                <a:cs typeface="Trebuchet MS"/>
              </a:rPr>
              <a:t> </a:t>
            </a:r>
            <a:r>
              <a:rPr dirty="0" sz="1550" spc="85">
                <a:latin typeface="Trebuchet MS"/>
                <a:cs typeface="Trebuchet MS"/>
              </a:rPr>
              <a:t>who</a:t>
            </a:r>
            <a:r>
              <a:rPr dirty="0" sz="1550" spc="-15">
                <a:latin typeface="Trebuchet MS"/>
                <a:cs typeface="Trebuchet MS"/>
              </a:rPr>
              <a:t> </a:t>
            </a:r>
            <a:r>
              <a:rPr dirty="0" sz="1550" spc="85">
                <a:latin typeface="Trebuchet MS"/>
                <a:cs typeface="Trebuchet MS"/>
              </a:rPr>
              <a:t>engaged)</a:t>
            </a:r>
            <a:endParaRPr sz="15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70"/>
              </a:spcBef>
              <a:buFont typeface="Arial"/>
              <a:buChar char="•"/>
            </a:pP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550" spc="60">
                <a:latin typeface="Trebuchet MS"/>
                <a:cs typeface="Trebuchet MS"/>
              </a:rPr>
              <a:t>Mediator</a:t>
            </a:r>
            <a:r>
              <a:rPr dirty="0" sz="1550" spc="-50">
                <a:latin typeface="Trebuchet MS"/>
                <a:cs typeface="Trebuchet MS"/>
              </a:rPr>
              <a:t> </a:t>
            </a:r>
            <a:r>
              <a:rPr dirty="0" sz="1550" spc="35">
                <a:latin typeface="Trebuchet MS"/>
                <a:cs typeface="Trebuchet MS"/>
              </a:rPr>
              <a:t>(M):</a:t>
            </a:r>
            <a:endParaRPr sz="155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550">
                <a:latin typeface="Trebuchet MS"/>
                <a:cs typeface="Trebuchet MS"/>
              </a:rPr>
              <a:t>Trust</a:t>
            </a:r>
            <a:r>
              <a:rPr dirty="0" sz="1550" spc="4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susceptibility:</a:t>
            </a:r>
            <a:r>
              <a:rPr dirty="0" sz="1550" spc="7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Inverse</a:t>
            </a:r>
            <a:r>
              <a:rPr dirty="0" sz="1550" spc="9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of</a:t>
            </a:r>
            <a:r>
              <a:rPr dirty="0" sz="1550" spc="90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confidence</a:t>
            </a:r>
            <a:r>
              <a:rPr dirty="0" sz="1550" spc="95">
                <a:latin typeface="Trebuchet MS"/>
                <a:cs typeface="Trebuchet MS"/>
              </a:rPr>
              <a:t> </a:t>
            </a:r>
            <a:r>
              <a:rPr dirty="0" sz="1550" spc="75">
                <a:latin typeface="Trebuchet MS"/>
                <a:cs typeface="Trebuchet MS"/>
              </a:rPr>
              <a:t>(6</a:t>
            </a:r>
            <a:r>
              <a:rPr dirty="0" sz="1550" spc="140">
                <a:latin typeface="Trebuchet MS"/>
                <a:cs typeface="Trebuchet MS"/>
              </a:rPr>
              <a:t> </a:t>
            </a:r>
            <a:r>
              <a:rPr dirty="0" sz="1550" spc="245">
                <a:latin typeface="Trebuchet MS"/>
                <a:cs typeface="Trebuchet MS"/>
              </a:rPr>
              <a:t>-</a:t>
            </a:r>
            <a:r>
              <a:rPr dirty="0" sz="1550" spc="105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confidence</a:t>
            </a:r>
            <a:r>
              <a:rPr dirty="0" sz="1550" spc="90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score)</a:t>
            </a:r>
            <a:endParaRPr sz="1550">
              <a:latin typeface="Trebuchet MS"/>
              <a:cs typeface="Trebuchet MS"/>
            </a:endParaRPr>
          </a:p>
          <a:p>
            <a:pPr marL="12700" marR="3907154" indent="285750">
              <a:lnSpc>
                <a:spcPct val="104900"/>
              </a:lnSpc>
              <a:spcBef>
                <a:spcPts val="5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550" spc="60">
                <a:latin typeface="Trebuchet MS"/>
                <a:cs typeface="Trebuchet MS"/>
              </a:rPr>
              <a:t>Higher</a:t>
            </a:r>
            <a:r>
              <a:rPr dirty="0" sz="1550" spc="-55">
                <a:latin typeface="Trebuchet MS"/>
                <a:cs typeface="Trebuchet MS"/>
              </a:rPr>
              <a:t> </a:t>
            </a:r>
            <a:r>
              <a:rPr dirty="0" sz="1550" spc="80">
                <a:latin typeface="Trebuchet MS"/>
                <a:cs typeface="Trebuchet MS"/>
              </a:rPr>
              <a:t>score</a:t>
            </a:r>
            <a:r>
              <a:rPr dirty="0" sz="1550">
                <a:latin typeface="Trebuchet MS"/>
                <a:cs typeface="Trebuchet MS"/>
              </a:rPr>
              <a:t> </a:t>
            </a:r>
            <a:r>
              <a:rPr dirty="0" sz="1550" spc="235">
                <a:latin typeface="Trebuchet MS"/>
                <a:cs typeface="Trebuchet MS"/>
              </a:rPr>
              <a:t>=</a:t>
            </a:r>
            <a:r>
              <a:rPr dirty="0" sz="1550" spc="-10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more</a:t>
            </a:r>
            <a:r>
              <a:rPr dirty="0" sz="155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trusting/susceptible </a:t>
            </a:r>
            <a:r>
              <a:rPr dirty="0" sz="1550" spc="65">
                <a:latin typeface="Trebuchet MS"/>
                <a:cs typeface="Trebuchet MS"/>
              </a:rPr>
              <a:t>Dependent </a:t>
            </a:r>
            <a:r>
              <a:rPr dirty="0" sz="1550">
                <a:latin typeface="Trebuchet MS"/>
                <a:cs typeface="Trebuchet MS"/>
              </a:rPr>
              <a:t>Variable</a:t>
            </a:r>
            <a:r>
              <a:rPr dirty="0" sz="1550" spc="125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(DV):</a:t>
            </a:r>
            <a:endParaRPr sz="155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550" spc="114">
                <a:latin typeface="Trebuchet MS"/>
                <a:cs typeface="Trebuchet MS"/>
              </a:rPr>
              <a:t>Made</a:t>
            </a:r>
            <a:r>
              <a:rPr dirty="0" sz="1550" spc="10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payment:</a:t>
            </a:r>
            <a:r>
              <a:rPr dirty="0" sz="1550" spc="8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Binary</a:t>
            </a:r>
            <a:r>
              <a:rPr dirty="0" sz="1550" spc="11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(N=16</a:t>
            </a:r>
            <a:r>
              <a:rPr dirty="0" sz="1550" spc="13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paid,</a:t>
            </a:r>
            <a:r>
              <a:rPr dirty="0" sz="1550" spc="45">
                <a:latin typeface="Trebuchet MS"/>
                <a:cs typeface="Trebuchet MS"/>
              </a:rPr>
              <a:t> </a:t>
            </a:r>
            <a:r>
              <a:rPr dirty="0" sz="1550" spc="-50">
                <a:latin typeface="Trebuchet MS"/>
                <a:cs typeface="Trebuchet MS"/>
              </a:rPr>
              <a:t>21</a:t>
            </a:r>
            <a:r>
              <a:rPr dirty="0" sz="1550" spc="14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did</a:t>
            </a:r>
            <a:r>
              <a:rPr dirty="0" sz="1550" spc="12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not</a:t>
            </a:r>
            <a:r>
              <a:rPr dirty="0" sz="1550" spc="55">
                <a:latin typeface="Trebuchet MS"/>
                <a:cs typeface="Trebuchet MS"/>
              </a:rPr>
              <a:t> pay)</a:t>
            </a:r>
            <a:endParaRPr sz="1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Descriptive</a:t>
            </a:r>
            <a:r>
              <a:rPr dirty="0" spc="-95"/>
              <a:t> </a:t>
            </a:r>
            <a:r>
              <a:rPr dirty="0"/>
              <a:t>Pattern</a:t>
            </a:r>
            <a:r>
              <a:rPr dirty="0" spc="-85"/>
              <a:t> </a:t>
            </a:r>
            <a:r>
              <a:rPr dirty="0"/>
              <a:t>(Surprising</a:t>
            </a:r>
            <a:r>
              <a:rPr dirty="0" spc="-35"/>
              <a:t> </a:t>
            </a:r>
            <a:r>
              <a:rPr dirty="0" spc="-10"/>
              <a:t>Finding)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8964" y="1196466"/>
          <a:ext cx="9161780" cy="121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/>
                <a:gridCol w="2286000"/>
                <a:gridCol w="2286000"/>
                <a:gridCol w="2220595"/>
              </a:tblGrid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 spc="-10" b="1">
                          <a:latin typeface="Trebuchet MS"/>
                          <a:cs typeface="Trebuchet MS"/>
                        </a:rPr>
                        <a:t>Group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 spc="25" b="1">
                          <a:latin typeface="Trebuchet MS"/>
                          <a:cs typeface="Trebuchet MS"/>
                        </a:rPr>
                        <a:t>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 b="1">
                          <a:latin typeface="Trebuchet MS"/>
                          <a:cs typeface="Trebuchet MS"/>
                        </a:rPr>
                        <a:t>Median</a:t>
                      </a:r>
                      <a:r>
                        <a:rPr dirty="0" sz="1400" spc="1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b="1">
                          <a:latin typeface="Trebuchet MS"/>
                          <a:cs typeface="Trebuchet MS"/>
                        </a:rPr>
                        <a:t>Social</a:t>
                      </a:r>
                      <a:r>
                        <a:rPr dirty="0" sz="1400" spc="9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 b="1">
                          <a:latin typeface="Trebuchet MS"/>
                          <a:cs typeface="Trebuchet MS"/>
                        </a:rPr>
                        <a:t>Proof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 spc="-20" b="1">
                          <a:latin typeface="Trebuchet MS"/>
                          <a:cs typeface="Trebuchet MS"/>
                        </a:rPr>
                        <a:t>Mean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3F3F3"/>
                      </a:solidFill>
                      <a:prstDash val="solid"/>
                    </a:lnL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 spc="-20" b="1">
                          <a:latin typeface="Trebuchet MS"/>
                          <a:cs typeface="Trebuchet MS"/>
                        </a:rPr>
                        <a:t>Paid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 spc="-25">
                          <a:latin typeface="Trebuchet MS"/>
                          <a:cs typeface="Trebuchet MS"/>
                        </a:rPr>
                        <a:t>16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 spc="-10">
                          <a:latin typeface="Trebuchet MS"/>
                          <a:cs typeface="Trebuchet MS"/>
                        </a:rPr>
                        <a:t>2.5/5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 spc="30">
                          <a:latin typeface="Trebuchet MS"/>
                          <a:cs typeface="Trebuchet MS"/>
                        </a:rPr>
                        <a:t>2.X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3F3F3"/>
                      </a:solidFill>
                      <a:prstDash val="solid"/>
                    </a:lnL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 b="1">
                          <a:latin typeface="Trebuchet MS"/>
                          <a:cs typeface="Trebuchet MS"/>
                        </a:rPr>
                        <a:t>Did</a:t>
                      </a:r>
                      <a:r>
                        <a:rPr dirty="0" sz="1400" spc="5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b="1">
                          <a:latin typeface="Trebuchet MS"/>
                          <a:cs typeface="Trebuchet MS"/>
                        </a:rPr>
                        <a:t>Not</a:t>
                      </a:r>
                      <a:r>
                        <a:rPr dirty="0" sz="1400" spc="8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25" b="1">
                          <a:latin typeface="Trebuchet MS"/>
                          <a:cs typeface="Trebuchet MS"/>
                        </a:rPr>
                        <a:t>Pay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 spc="-25">
                          <a:latin typeface="Trebuchet MS"/>
                          <a:cs typeface="Trebuchet MS"/>
                        </a:rPr>
                        <a:t>21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 spc="-10">
                          <a:latin typeface="Trebuchet MS"/>
                          <a:cs typeface="Trebuchet MS"/>
                        </a:rPr>
                        <a:t>2.0/5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 spc="30">
                          <a:latin typeface="Trebuchet MS"/>
                          <a:cs typeface="Trebuchet MS"/>
                        </a:rPr>
                        <a:t>2.X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3F3F3"/>
                      </a:solidFill>
                      <a:prstDash val="solid"/>
                    </a:lnL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 spc="-10" b="1">
                          <a:latin typeface="Trebuchet MS"/>
                          <a:cs typeface="Trebuchet MS"/>
                        </a:rPr>
                        <a:t>Difference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 spc="60">
                          <a:latin typeface="Trebuchet MS"/>
                          <a:cs typeface="Trebuchet MS"/>
                        </a:rPr>
                        <a:t>+0.5</a:t>
                      </a:r>
                      <a:r>
                        <a:rPr dirty="0" sz="140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>
                          <a:latin typeface="Trebuchet MS"/>
                          <a:cs typeface="Trebuchet MS"/>
                        </a:rPr>
                        <a:t>points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 spc="-10">
                          <a:latin typeface="Trebuchet MS"/>
                          <a:cs typeface="Trebuchet MS"/>
                        </a:rPr>
                        <a:t>Small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3F3F3"/>
                      </a:solidFill>
                      <a:prstDash val="solid"/>
                    </a:lnL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44145" y="2927413"/>
            <a:ext cx="7210425" cy="12490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02870" indent="-100330">
              <a:lnSpc>
                <a:spcPct val="100000"/>
              </a:lnSpc>
              <a:spcBef>
                <a:spcPts val="125"/>
              </a:spcBef>
              <a:buSzPct val="83870"/>
              <a:buChar char="•"/>
              <a:tabLst>
                <a:tab pos="102870" algn="l"/>
              </a:tabLst>
            </a:pPr>
            <a:r>
              <a:rPr dirty="0" sz="1550" spc="50">
                <a:latin typeface="Trebuchet MS"/>
                <a:cs typeface="Trebuchet MS"/>
              </a:rPr>
              <a:t>Payers</a:t>
            </a:r>
            <a:r>
              <a:rPr dirty="0" sz="1550" spc="80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have</a:t>
            </a:r>
            <a:r>
              <a:rPr dirty="0" sz="1550" spc="10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only</a:t>
            </a:r>
            <a:r>
              <a:rPr dirty="0" sz="1550" spc="10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slightly</a:t>
            </a:r>
            <a:r>
              <a:rPr dirty="0" sz="1550" spc="10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higher</a:t>
            </a:r>
            <a:r>
              <a:rPr dirty="0" sz="1550" spc="12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social</a:t>
            </a:r>
            <a:r>
              <a:rPr dirty="0" sz="1550" spc="10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proof</a:t>
            </a:r>
            <a:r>
              <a:rPr dirty="0" sz="1550" spc="9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influence</a:t>
            </a:r>
            <a:r>
              <a:rPr dirty="0" sz="1550" spc="100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(2.5</a:t>
            </a:r>
            <a:r>
              <a:rPr dirty="0" sz="1550" spc="75">
                <a:latin typeface="Trebuchet MS"/>
                <a:cs typeface="Trebuchet MS"/>
              </a:rPr>
              <a:t> </a:t>
            </a:r>
            <a:r>
              <a:rPr dirty="0" sz="1550" spc="85">
                <a:latin typeface="Trebuchet MS"/>
                <a:cs typeface="Trebuchet MS"/>
              </a:rPr>
              <a:t>vs </a:t>
            </a:r>
            <a:r>
              <a:rPr dirty="0" sz="1550" spc="40">
                <a:latin typeface="Trebuchet MS"/>
                <a:cs typeface="Trebuchet MS"/>
              </a:rPr>
              <a:t>2.0)</a:t>
            </a:r>
            <a:endParaRPr sz="15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70"/>
              </a:spcBef>
              <a:buFont typeface="Trebuchet MS"/>
              <a:buChar char="•"/>
            </a:pPr>
            <a:endParaRPr sz="1550">
              <a:latin typeface="Trebuchet MS"/>
              <a:cs typeface="Trebuchet MS"/>
            </a:endParaRPr>
          </a:p>
          <a:p>
            <a:pPr marL="102870" indent="-100330">
              <a:lnSpc>
                <a:spcPct val="100000"/>
              </a:lnSpc>
              <a:spcBef>
                <a:spcPts val="5"/>
              </a:spcBef>
              <a:buSzPct val="83870"/>
              <a:buChar char="•"/>
              <a:tabLst>
                <a:tab pos="102870" algn="l"/>
              </a:tabLst>
            </a:pPr>
            <a:r>
              <a:rPr dirty="0" sz="1550" spc="60">
                <a:latin typeface="Trebuchet MS"/>
                <a:cs typeface="Trebuchet MS"/>
              </a:rPr>
              <a:t>Both</a:t>
            </a:r>
            <a:r>
              <a:rPr dirty="0" sz="1550" spc="50">
                <a:latin typeface="Trebuchet MS"/>
                <a:cs typeface="Trebuchet MS"/>
              </a:rPr>
              <a:t> </a:t>
            </a:r>
            <a:r>
              <a:rPr dirty="0" sz="1550" spc="95">
                <a:latin typeface="Trebuchet MS"/>
                <a:cs typeface="Trebuchet MS"/>
              </a:rPr>
              <a:t>groups</a:t>
            </a:r>
            <a:r>
              <a:rPr dirty="0" sz="1550" spc="50">
                <a:latin typeface="Trebuchet MS"/>
                <a:cs typeface="Trebuchet MS"/>
              </a:rPr>
              <a:t> have</a:t>
            </a:r>
            <a:r>
              <a:rPr dirty="0" sz="1550" spc="6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low</a:t>
            </a:r>
            <a:r>
              <a:rPr dirty="0" sz="1550" spc="6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overall</a:t>
            </a:r>
            <a:r>
              <a:rPr dirty="0" sz="1550" spc="6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social</a:t>
            </a:r>
            <a:r>
              <a:rPr dirty="0" sz="1550" spc="7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proof</a:t>
            </a:r>
            <a:r>
              <a:rPr dirty="0" sz="1550" spc="60">
                <a:latin typeface="Trebuchet MS"/>
                <a:cs typeface="Trebuchet MS"/>
              </a:rPr>
              <a:t> </a:t>
            </a:r>
            <a:r>
              <a:rPr dirty="0" sz="1550" spc="75">
                <a:latin typeface="Trebuchet MS"/>
                <a:cs typeface="Trebuchet MS"/>
              </a:rPr>
              <a:t>scores</a:t>
            </a:r>
            <a:r>
              <a:rPr dirty="0" sz="1550" spc="45">
                <a:latin typeface="Trebuchet MS"/>
                <a:cs typeface="Trebuchet MS"/>
              </a:rPr>
              <a:t> </a:t>
            </a:r>
            <a:r>
              <a:rPr dirty="0" sz="1550" spc="65">
                <a:latin typeface="Trebuchet MS"/>
                <a:cs typeface="Trebuchet MS"/>
              </a:rPr>
              <a:t>(medians</a:t>
            </a:r>
            <a:r>
              <a:rPr dirty="0" sz="1550" spc="50">
                <a:latin typeface="Trebuchet MS"/>
                <a:cs typeface="Trebuchet MS"/>
              </a:rPr>
              <a:t> </a:t>
            </a:r>
            <a:r>
              <a:rPr dirty="0" sz="1550" spc="125">
                <a:latin typeface="Trebuchet MS"/>
                <a:cs typeface="Trebuchet MS"/>
              </a:rPr>
              <a:t>2.0-</a:t>
            </a:r>
            <a:r>
              <a:rPr dirty="0" sz="1550">
                <a:latin typeface="Trebuchet MS"/>
                <a:cs typeface="Trebuchet MS"/>
              </a:rPr>
              <a:t>2.5</a:t>
            </a:r>
            <a:r>
              <a:rPr dirty="0" sz="1550" spc="4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out</a:t>
            </a:r>
            <a:r>
              <a:rPr dirty="0" sz="1550" spc="1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of</a:t>
            </a:r>
            <a:r>
              <a:rPr dirty="0" sz="1550" spc="60">
                <a:latin typeface="Trebuchet MS"/>
                <a:cs typeface="Trebuchet MS"/>
              </a:rPr>
              <a:t> </a:t>
            </a:r>
            <a:r>
              <a:rPr dirty="0" sz="1550" spc="85">
                <a:latin typeface="Trebuchet MS"/>
                <a:cs typeface="Trebuchet MS"/>
              </a:rPr>
              <a:t>5)</a:t>
            </a:r>
            <a:endParaRPr sz="15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45"/>
              </a:spcBef>
              <a:buFont typeface="Trebuchet MS"/>
              <a:buChar char="•"/>
            </a:pPr>
            <a:endParaRPr sz="1550">
              <a:latin typeface="Trebuchet MS"/>
              <a:cs typeface="Trebuchet MS"/>
            </a:endParaRPr>
          </a:p>
          <a:p>
            <a:pPr marL="102870" indent="-100330">
              <a:lnSpc>
                <a:spcPct val="100000"/>
              </a:lnSpc>
              <a:buSzPct val="83870"/>
              <a:buChar char="•"/>
              <a:tabLst>
                <a:tab pos="102870" algn="l"/>
              </a:tabLst>
            </a:pPr>
            <a:r>
              <a:rPr dirty="0" sz="1550" spc="50">
                <a:latin typeface="Trebuchet MS"/>
                <a:cs typeface="Trebuchet MS"/>
              </a:rPr>
              <a:t>Social</a:t>
            </a:r>
            <a:r>
              <a:rPr dirty="0" sz="1550">
                <a:latin typeface="Trebuchet MS"/>
                <a:cs typeface="Trebuchet MS"/>
              </a:rPr>
              <a:t> proof</a:t>
            </a:r>
            <a:r>
              <a:rPr dirty="0" sz="1550" spc="90">
                <a:latin typeface="Trebuchet MS"/>
                <a:cs typeface="Trebuchet MS"/>
              </a:rPr>
              <a:t> </a:t>
            </a:r>
            <a:r>
              <a:rPr dirty="0" sz="1550" spc="75">
                <a:latin typeface="Trebuchet MS"/>
                <a:cs typeface="Trebuchet MS"/>
              </a:rPr>
              <a:t>was </a:t>
            </a:r>
            <a:r>
              <a:rPr dirty="0" sz="1550">
                <a:latin typeface="Trebuchet MS"/>
                <a:cs typeface="Trebuchet MS"/>
              </a:rPr>
              <a:t>not</a:t>
            </a:r>
            <a:r>
              <a:rPr dirty="0" sz="1550" spc="4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a</a:t>
            </a:r>
            <a:r>
              <a:rPr dirty="0" sz="1550" spc="6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major</a:t>
            </a:r>
            <a:r>
              <a:rPr dirty="0" sz="1550" spc="114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factor</a:t>
            </a:r>
            <a:r>
              <a:rPr dirty="0" sz="1550" spc="2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in</a:t>
            </a:r>
            <a:r>
              <a:rPr dirty="0" sz="1550" spc="8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these</a:t>
            </a:r>
            <a:r>
              <a:rPr dirty="0" sz="1550" spc="9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encounters.</a:t>
            </a:r>
            <a:endParaRPr sz="1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33570" y="959084"/>
            <a:ext cx="515798" cy="316427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31595" y="3378105"/>
            <a:ext cx="0" cy="623570"/>
          </a:xfrm>
          <a:custGeom>
            <a:avLst/>
            <a:gdLst/>
            <a:ahLst/>
            <a:cxnLst/>
            <a:rect l="l" t="t" r="r" b="b"/>
            <a:pathLst>
              <a:path w="0" h="623570">
                <a:moveTo>
                  <a:pt x="0" y="623081"/>
                </a:moveTo>
                <a:lnTo>
                  <a:pt x="0" y="0"/>
                </a:lnTo>
              </a:path>
            </a:pathLst>
          </a:custGeom>
          <a:ln w="91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72169" y="2535113"/>
            <a:ext cx="0" cy="1442085"/>
          </a:xfrm>
          <a:custGeom>
            <a:avLst/>
            <a:gdLst/>
            <a:ahLst/>
            <a:cxnLst/>
            <a:rect l="l" t="t" r="r" b="b"/>
            <a:pathLst>
              <a:path w="0" h="1442085">
                <a:moveTo>
                  <a:pt x="0" y="1441638"/>
                </a:moveTo>
                <a:lnTo>
                  <a:pt x="0" y="0"/>
                </a:lnTo>
              </a:path>
            </a:pathLst>
          </a:custGeom>
          <a:ln w="91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018668" y="1093475"/>
            <a:ext cx="0" cy="1454150"/>
          </a:xfrm>
          <a:custGeom>
            <a:avLst/>
            <a:gdLst/>
            <a:ahLst/>
            <a:cxnLst/>
            <a:rect l="l" t="t" r="r" b="b"/>
            <a:pathLst>
              <a:path w="0" h="1454150">
                <a:moveTo>
                  <a:pt x="0" y="1453855"/>
                </a:moveTo>
                <a:lnTo>
                  <a:pt x="0" y="0"/>
                </a:lnTo>
              </a:path>
            </a:pathLst>
          </a:custGeom>
          <a:ln w="91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168219" y="2535113"/>
            <a:ext cx="0" cy="1442085"/>
          </a:xfrm>
          <a:custGeom>
            <a:avLst/>
            <a:gdLst/>
            <a:ahLst/>
            <a:cxnLst/>
            <a:rect l="l" t="t" r="r" b="b"/>
            <a:pathLst>
              <a:path w="0" h="1442085">
                <a:moveTo>
                  <a:pt x="0" y="1441638"/>
                </a:moveTo>
                <a:lnTo>
                  <a:pt x="0" y="0"/>
                </a:lnTo>
              </a:path>
            </a:pathLst>
          </a:custGeom>
          <a:ln w="91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874322" y="2339637"/>
            <a:ext cx="0" cy="1637664"/>
          </a:xfrm>
          <a:custGeom>
            <a:avLst/>
            <a:gdLst/>
            <a:ahLst/>
            <a:cxnLst/>
            <a:rect l="l" t="t" r="r" b="b"/>
            <a:pathLst>
              <a:path w="0" h="1637664">
                <a:moveTo>
                  <a:pt x="0" y="1637114"/>
                </a:moveTo>
                <a:lnTo>
                  <a:pt x="0" y="0"/>
                </a:lnTo>
              </a:path>
            </a:pathLst>
          </a:custGeom>
          <a:ln w="91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023873" y="1814294"/>
            <a:ext cx="0" cy="549910"/>
          </a:xfrm>
          <a:custGeom>
            <a:avLst/>
            <a:gdLst/>
            <a:ahLst/>
            <a:cxnLst/>
            <a:rect l="l" t="t" r="r" b="b"/>
            <a:pathLst>
              <a:path w="0" h="549910">
                <a:moveTo>
                  <a:pt x="0" y="549777"/>
                </a:moveTo>
                <a:lnTo>
                  <a:pt x="0" y="0"/>
                </a:lnTo>
              </a:path>
            </a:pathLst>
          </a:custGeom>
          <a:ln w="61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173424" y="2339637"/>
            <a:ext cx="0" cy="1637664"/>
          </a:xfrm>
          <a:custGeom>
            <a:avLst/>
            <a:gdLst/>
            <a:ahLst/>
            <a:cxnLst/>
            <a:rect l="l" t="t" r="r" b="b"/>
            <a:pathLst>
              <a:path w="0" h="1637664">
                <a:moveTo>
                  <a:pt x="0" y="1637114"/>
                </a:moveTo>
                <a:lnTo>
                  <a:pt x="0" y="0"/>
                </a:lnTo>
              </a:path>
            </a:pathLst>
          </a:custGeom>
          <a:ln w="91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103049" y="962139"/>
            <a:ext cx="403225" cy="0"/>
          </a:xfrm>
          <a:custGeom>
            <a:avLst/>
            <a:gdLst/>
            <a:ahLst/>
            <a:cxnLst/>
            <a:rect l="l" t="t" r="r" b="b"/>
            <a:pathLst>
              <a:path w="403225" h="0">
                <a:moveTo>
                  <a:pt x="0" y="0"/>
                </a:moveTo>
                <a:lnTo>
                  <a:pt x="402872" y="0"/>
                </a:lnTo>
              </a:path>
            </a:pathLst>
          </a:custGeom>
          <a:ln w="91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568039" y="4105033"/>
            <a:ext cx="842644" cy="0"/>
          </a:xfrm>
          <a:custGeom>
            <a:avLst/>
            <a:gdLst/>
            <a:ahLst/>
            <a:cxnLst/>
            <a:rect l="l" t="t" r="r" b="b"/>
            <a:pathLst>
              <a:path w="842645" h="0">
                <a:moveTo>
                  <a:pt x="0" y="0"/>
                </a:moveTo>
                <a:lnTo>
                  <a:pt x="842369" y="0"/>
                </a:lnTo>
              </a:path>
            </a:pathLst>
          </a:custGeom>
          <a:ln w="91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2" name="object 12"/>
          <p:cNvGrpSpPr/>
          <p:nvPr/>
        </p:nvGrpSpPr>
        <p:grpSpPr>
          <a:xfrm>
            <a:off x="596678" y="1082784"/>
            <a:ext cx="3673475" cy="3016250"/>
            <a:chOff x="596678" y="1082784"/>
            <a:chExt cx="3673475" cy="3016250"/>
          </a:xfrm>
        </p:grpSpPr>
        <p:sp>
          <p:nvSpPr>
            <p:cNvPr id="13" name="object 13"/>
            <p:cNvSpPr/>
            <p:nvPr/>
          </p:nvSpPr>
          <p:spPr>
            <a:xfrm>
              <a:off x="601256" y="1084312"/>
              <a:ext cx="735965" cy="0"/>
            </a:xfrm>
            <a:custGeom>
              <a:avLst/>
              <a:gdLst/>
              <a:ahLst/>
              <a:cxnLst/>
              <a:rect l="l" t="t" r="r" b="b"/>
              <a:pathLst>
                <a:path w="735965" h="0">
                  <a:moveTo>
                    <a:pt x="0" y="0"/>
                  </a:moveTo>
                  <a:lnTo>
                    <a:pt x="73554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98204" y="1084312"/>
              <a:ext cx="2997200" cy="3014980"/>
            </a:xfrm>
            <a:custGeom>
              <a:avLst/>
              <a:gdLst/>
              <a:ahLst/>
              <a:cxnLst/>
              <a:rect l="l" t="t" r="r" b="b"/>
              <a:pathLst>
                <a:path w="2997200" h="3014979">
                  <a:moveTo>
                    <a:pt x="729443" y="3014612"/>
                  </a:moveTo>
                  <a:lnTo>
                    <a:pt x="729443" y="0"/>
                  </a:lnTo>
                </a:path>
                <a:path w="2997200" h="3014979">
                  <a:moveTo>
                    <a:pt x="0" y="882698"/>
                  </a:moveTo>
                  <a:lnTo>
                    <a:pt x="543267" y="882698"/>
                  </a:lnTo>
                </a:path>
                <a:path w="2997200" h="3014979">
                  <a:moveTo>
                    <a:pt x="6104" y="3014612"/>
                  </a:moveTo>
                  <a:lnTo>
                    <a:pt x="6104" y="0"/>
                  </a:lnTo>
                </a:path>
                <a:path w="2997200" h="3014979">
                  <a:moveTo>
                    <a:pt x="723338" y="882698"/>
                  </a:moveTo>
                  <a:lnTo>
                    <a:pt x="1455834" y="882698"/>
                  </a:lnTo>
                </a:path>
                <a:path w="2997200" h="3014979">
                  <a:moveTo>
                    <a:pt x="543267" y="3014612"/>
                  </a:moveTo>
                  <a:lnTo>
                    <a:pt x="543267" y="876589"/>
                  </a:lnTo>
                </a:path>
                <a:path w="2997200" h="3014979">
                  <a:moveTo>
                    <a:pt x="1455834" y="3014612"/>
                  </a:moveTo>
                  <a:lnTo>
                    <a:pt x="1455834" y="876589"/>
                  </a:lnTo>
                </a:path>
                <a:path w="2997200" h="3014979">
                  <a:moveTo>
                    <a:pt x="1449729" y="1307248"/>
                  </a:moveTo>
                  <a:lnTo>
                    <a:pt x="2997125" y="1307248"/>
                  </a:lnTo>
                </a:path>
                <a:path w="2997200" h="3014979">
                  <a:moveTo>
                    <a:pt x="537163" y="1734852"/>
                  </a:moveTo>
                  <a:lnTo>
                    <a:pt x="1089586" y="1734852"/>
                  </a:lnTo>
                </a:path>
                <a:path w="2997200" h="3014979">
                  <a:moveTo>
                    <a:pt x="1642009" y="3014612"/>
                  </a:moveTo>
                  <a:lnTo>
                    <a:pt x="1642009" y="1301139"/>
                  </a:lnTo>
                </a:path>
              </a:pathLst>
            </a:custGeom>
            <a:ln w="152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783481" y="2385451"/>
              <a:ext cx="0" cy="1713864"/>
            </a:xfrm>
            <a:custGeom>
              <a:avLst/>
              <a:gdLst/>
              <a:ahLst/>
              <a:cxnLst/>
              <a:rect l="l" t="t" r="r" b="b"/>
              <a:pathLst>
                <a:path w="0" h="1713864">
                  <a:moveTo>
                    <a:pt x="0" y="1713472"/>
                  </a:moveTo>
                  <a:lnTo>
                    <a:pt x="0" y="0"/>
                  </a:lnTo>
                </a:path>
              </a:pathLst>
            </a:custGeom>
            <a:ln w="244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338956" y="2385451"/>
              <a:ext cx="0" cy="1713864"/>
            </a:xfrm>
            <a:custGeom>
              <a:avLst/>
              <a:gdLst/>
              <a:ahLst/>
              <a:cxnLst/>
              <a:rect l="l" t="t" r="r" b="b"/>
              <a:pathLst>
                <a:path w="0" h="1713864">
                  <a:moveTo>
                    <a:pt x="0" y="1713472"/>
                  </a:moveTo>
                  <a:lnTo>
                    <a:pt x="0" y="0"/>
                  </a:lnTo>
                </a:path>
              </a:pathLst>
            </a:custGeom>
            <a:ln w="152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595330" y="2388506"/>
              <a:ext cx="0" cy="1710689"/>
            </a:xfrm>
            <a:custGeom>
              <a:avLst/>
              <a:gdLst/>
              <a:ahLst/>
              <a:cxnLst/>
              <a:rect l="l" t="t" r="r" b="b"/>
              <a:pathLst>
                <a:path w="0" h="1710689">
                  <a:moveTo>
                    <a:pt x="0" y="171041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98204" y="2813056"/>
              <a:ext cx="3672204" cy="1285875"/>
            </a:xfrm>
            <a:custGeom>
              <a:avLst/>
              <a:gdLst/>
              <a:ahLst/>
              <a:cxnLst/>
              <a:rect l="l" t="t" r="r" b="b"/>
              <a:pathLst>
                <a:path w="3672204" h="1285875">
                  <a:moveTo>
                    <a:pt x="1089586" y="1285868"/>
                  </a:moveTo>
                  <a:lnTo>
                    <a:pt x="1089586" y="0"/>
                  </a:lnTo>
                </a:path>
                <a:path w="3672204" h="1285875">
                  <a:moveTo>
                    <a:pt x="2997125" y="864372"/>
                  </a:moveTo>
                  <a:lnTo>
                    <a:pt x="3668579" y="864372"/>
                  </a:lnTo>
                </a:path>
                <a:path w="3672204" h="1285875">
                  <a:moveTo>
                    <a:pt x="0" y="1276705"/>
                  </a:moveTo>
                  <a:lnTo>
                    <a:pt x="3671631" y="1276705"/>
                  </a:lnTo>
                </a:path>
              </a:pathLst>
            </a:custGeom>
            <a:ln w="152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266784" y="3674374"/>
              <a:ext cx="0" cy="424815"/>
            </a:xfrm>
            <a:custGeom>
              <a:avLst/>
              <a:gdLst/>
              <a:ahLst/>
              <a:cxnLst/>
              <a:rect l="l" t="t" r="r" b="b"/>
              <a:pathLst>
                <a:path w="0" h="424814">
                  <a:moveTo>
                    <a:pt x="0" y="4245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247151" y="1030123"/>
            <a:ext cx="93980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50">
                <a:solidFill>
                  <a:srgbClr val="505252"/>
                </a:solidFill>
                <a:latin typeface="Arial"/>
                <a:cs typeface="Arial"/>
              </a:rPr>
              <a:t>7</a:t>
            </a:r>
            <a:endParaRPr sz="9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28169" y="710692"/>
            <a:ext cx="319341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0">
                <a:solidFill>
                  <a:srgbClr val="505252"/>
                </a:solidFill>
                <a:latin typeface="Arial"/>
                <a:cs typeface="Arial"/>
              </a:rPr>
              <a:t>Social </a:t>
            </a:r>
            <a:r>
              <a:rPr dirty="0" sz="1300" spc="-10">
                <a:solidFill>
                  <a:srgbClr val="505252"/>
                </a:solidFill>
                <a:latin typeface="Arial"/>
                <a:cs typeface="Arial"/>
              </a:rPr>
              <a:t>Proof</a:t>
            </a:r>
            <a:r>
              <a:rPr dirty="0" sz="1300" spc="285">
                <a:solidFill>
                  <a:srgbClr val="505252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05252"/>
                </a:solidFill>
                <a:latin typeface="Arial"/>
                <a:cs typeface="Arial"/>
              </a:rPr>
              <a:t>nf</a:t>
            </a:r>
            <a:r>
              <a:rPr dirty="0" sz="1300">
                <a:solidFill>
                  <a:srgbClr val="6D6D6D"/>
                </a:solidFill>
                <a:latin typeface="Arial"/>
                <a:cs typeface="Arial"/>
              </a:rPr>
              <a:t>l</a:t>
            </a:r>
            <a:r>
              <a:rPr dirty="0" sz="1300">
                <a:solidFill>
                  <a:srgbClr val="505252"/>
                </a:solidFill>
                <a:latin typeface="Arial"/>
                <a:cs typeface="Arial"/>
              </a:rPr>
              <a:t>uence</a:t>
            </a:r>
            <a:r>
              <a:rPr dirty="0" sz="1300" spc="-90">
                <a:solidFill>
                  <a:srgbClr val="505252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05252"/>
                </a:solidFill>
                <a:latin typeface="Arial"/>
                <a:cs typeface="Arial"/>
              </a:rPr>
              <a:t>by</a:t>
            </a:r>
            <a:r>
              <a:rPr dirty="0" sz="1300" spc="-50">
                <a:solidFill>
                  <a:srgbClr val="505252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505252"/>
                </a:solidFill>
                <a:latin typeface="Arial"/>
                <a:cs typeface="Arial"/>
              </a:rPr>
              <a:t>Payment</a:t>
            </a:r>
            <a:r>
              <a:rPr dirty="0" sz="1300" spc="20">
                <a:solidFill>
                  <a:srgbClr val="505252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505252"/>
                </a:solidFill>
                <a:latin typeface="Arial"/>
                <a:cs typeface="Arial"/>
              </a:rPr>
              <a:t>Decis</a:t>
            </a:r>
            <a:r>
              <a:rPr dirty="0" sz="1300" spc="-10">
                <a:solidFill>
                  <a:srgbClr val="2D241D"/>
                </a:solidFill>
                <a:latin typeface="Arial"/>
                <a:cs typeface="Arial"/>
              </a:rPr>
              <a:t>i</a:t>
            </a:r>
            <a:r>
              <a:rPr dirty="0" sz="1300" spc="-10">
                <a:solidFill>
                  <a:srgbClr val="505252"/>
                </a:solidFill>
                <a:latin typeface="Arial"/>
                <a:cs typeface="Arial"/>
              </a:rPr>
              <a:t>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xfrm>
            <a:off x="2997787" y="243891"/>
            <a:ext cx="1177290" cy="112522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dirty="0" baseline="-12731" sz="10800" spc="615">
                <a:solidFill>
                  <a:srgbClr val="648CA8"/>
                </a:solidFill>
                <a:latin typeface="Arial"/>
                <a:cs typeface="Arial"/>
              </a:rPr>
              <a:t>-</a:t>
            </a:r>
            <a:r>
              <a:rPr dirty="0" baseline="19444" sz="1500" spc="-262">
                <a:solidFill>
                  <a:srgbClr val="6D6D6D"/>
                </a:solidFill>
                <a:latin typeface="Arial"/>
                <a:cs typeface="Arial"/>
              </a:rPr>
              <a:t>.</a:t>
            </a:r>
            <a:r>
              <a:rPr dirty="0" sz="750" spc="-35">
                <a:solidFill>
                  <a:srgbClr val="505252"/>
                </a:solidFill>
                <a:latin typeface="Arial"/>
                <a:cs typeface="Arial"/>
              </a:rPr>
              <a:t>D</a:t>
            </a:r>
            <a:r>
              <a:rPr dirty="0" baseline="19444" sz="1500" spc="-697">
                <a:solidFill>
                  <a:srgbClr val="3D3D3B"/>
                </a:solidFill>
                <a:latin typeface="Arial"/>
                <a:cs typeface="Arial"/>
              </a:rPr>
              <a:t>d</a:t>
            </a:r>
            <a:r>
              <a:rPr dirty="0" sz="750" spc="50">
                <a:solidFill>
                  <a:srgbClr val="2D241D"/>
                </a:solidFill>
                <a:latin typeface="Arial"/>
                <a:cs typeface="Arial"/>
              </a:rPr>
              <a:t>1</a:t>
            </a:r>
            <a:r>
              <a:rPr dirty="0" sz="750" spc="50">
                <a:solidFill>
                  <a:srgbClr val="BABABA"/>
                </a:solidFill>
                <a:latin typeface="Arial"/>
                <a:cs typeface="Arial"/>
              </a:rPr>
              <a:t>1</a:t>
            </a:r>
            <a:r>
              <a:rPr dirty="0" sz="750" spc="295">
                <a:solidFill>
                  <a:srgbClr val="BABABA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6D6D6D"/>
                </a:solidFill>
                <a:latin typeface="Arial"/>
                <a:cs typeface="Arial"/>
              </a:rPr>
              <a:t>N</a:t>
            </a:r>
            <a:r>
              <a:rPr dirty="0" sz="1000">
                <a:solidFill>
                  <a:srgbClr val="505252"/>
                </a:solidFill>
                <a:latin typeface="Arial"/>
                <a:cs typeface="Arial"/>
              </a:rPr>
              <a:t>ot</a:t>
            </a:r>
            <a:r>
              <a:rPr dirty="0" sz="1000" spc="90">
                <a:solidFill>
                  <a:srgbClr val="505252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3D3D3B"/>
                </a:solidFill>
                <a:latin typeface="Arial"/>
                <a:cs typeface="Arial"/>
              </a:rPr>
              <a:t>Pay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671794" y="710692"/>
            <a:ext cx="268859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0">
                <a:solidFill>
                  <a:srgbClr val="505252"/>
                </a:solidFill>
                <a:latin typeface="Arial"/>
                <a:cs typeface="Arial"/>
              </a:rPr>
              <a:t>Social</a:t>
            </a:r>
            <a:r>
              <a:rPr dirty="0" sz="1300" spc="-10">
                <a:solidFill>
                  <a:srgbClr val="505252"/>
                </a:solidFill>
                <a:latin typeface="Arial"/>
                <a:cs typeface="Arial"/>
              </a:rPr>
              <a:t> </a:t>
            </a:r>
            <a:r>
              <a:rPr dirty="0" sz="1300" spc="-35">
                <a:solidFill>
                  <a:srgbClr val="505252"/>
                </a:solidFill>
                <a:latin typeface="Arial"/>
                <a:cs typeface="Arial"/>
              </a:rPr>
              <a:t>Proof</a:t>
            </a:r>
            <a:r>
              <a:rPr dirty="0" sz="1300" spc="55">
                <a:solidFill>
                  <a:srgbClr val="505252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D3D3B"/>
                </a:solidFill>
                <a:latin typeface="Arial"/>
                <a:cs typeface="Arial"/>
              </a:rPr>
              <a:t>Distribution</a:t>
            </a:r>
            <a:r>
              <a:rPr dirty="0" sz="1300" spc="35">
                <a:solidFill>
                  <a:srgbClr val="3D3D3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05252"/>
                </a:solidFill>
                <a:latin typeface="Arial"/>
                <a:cs typeface="Arial"/>
              </a:rPr>
              <a:t>by</a:t>
            </a:r>
            <a:r>
              <a:rPr dirty="0" sz="1300" spc="-45">
                <a:solidFill>
                  <a:srgbClr val="505252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D3D3B"/>
                </a:solidFill>
                <a:latin typeface="Arial"/>
                <a:cs typeface="Arial"/>
              </a:rPr>
              <a:t>Payment</a:t>
            </a:r>
            <a:endParaRPr sz="13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17307" y="1200148"/>
            <a:ext cx="133223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6535" sz="1275" spc="127">
                <a:solidFill>
                  <a:srgbClr val="675649"/>
                </a:solidFill>
                <a:latin typeface="Times New Roman"/>
                <a:cs typeface="Times New Roman"/>
              </a:rPr>
              <a:t>[::::J</a:t>
            </a:r>
            <a:r>
              <a:rPr dirty="0" baseline="6535" sz="1275" spc="217">
                <a:solidFill>
                  <a:srgbClr val="675649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6D6D6D"/>
                </a:solidFill>
                <a:latin typeface="Arial"/>
                <a:cs typeface="Arial"/>
              </a:rPr>
              <a:t>M</a:t>
            </a:r>
            <a:r>
              <a:rPr dirty="0" sz="1000">
                <a:solidFill>
                  <a:srgbClr val="505252"/>
                </a:solidFill>
                <a:latin typeface="Arial"/>
                <a:cs typeface="Arial"/>
              </a:rPr>
              <a:t>ade</a:t>
            </a:r>
            <a:r>
              <a:rPr dirty="0" sz="1000" spc="145">
                <a:solidFill>
                  <a:srgbClr val="505252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3D3D3B"/>
                </a:solidFill>
                <a:latin typeface="Arial"/>
                <a:cs typeface="Arial"/>
              </a:rPr>
              <a:t>Pay</a:t>
            </a:r>
            <a:r>
              <a:rPr dirty="0" sz="1000" spc="-10">
                <a:solidFill>
                  <a:srgbClr val="6D6D6D"/>
                </a:solidFill>
                <a:latin typeface="Arial"/>
                <a:cs typeface="Arial"/>
              </a:rPr>
              <a:t>m</a:t>
            </a:r>
            <a:r>
              <a:rPr dirty="0" sz="1000" spc="-10">
                <a:solidFill>
                  <a:srgbClr val="505252"/>
                </a:solidFill>
                <a:latin typeface="Arial"/>
                <a:cs typeface="Arial"/>
              </a:rPr>
              <a:t>e</a:t>
            </a:r>
            <a:r>
              <a:rPr dirty="0" sz="1000" spc="-10">
                <a:solidFill>
                  <a:srgbClr val="6D6D6D"/>
                </a:solidFill>
                <a:latin typeface="Arial"/>
                <a:cs typeface="Arial"/>
              </a:rPr>
              <a:t>n</a:t>
            </a:r>
            <a:r>
              <a:rPr dirty="0" sz="1150" spc="-10">
                <a:solidFill>
                  <a:srgbClr val="3D3D3B"/>
                </a:solidFill>
                <a:latin typeface="Times New Roman"/>
                <a:cs typeface="Times New Roman"/>
              </a:rPr>
              <a:t>t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48238" y="1454673"/>
            <a:ext cx="99695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505252"/>
                </a:solidFill>
                <a:latin typeface="Arial"/>
                <a:cs typeface="Arial"/>
              </a:rPr>
              <a:t>6</a:t>
            </a:r>
            <a:endParaRPr sz="9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47755" y="1879224"/>
            <a:ext cx="99695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505252"/>
                </a:solidFill>
                <a:latin typeface="Arial"/>
                <a:cs typeface="Arial"/>
              </a:rPr>
              <a:t>5</a:t>
            </a:r>
            <a:endParaRPr sz="9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9020" y="2192132"/>
            <a:ext cx="262890" cy="28575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150"/>
              </a:spcBef>
            </a:pPr>
            <a:r>
              <a:rPr dirty="0" sz="650" spc="-25">
                <a:solidFill>
                  <a:srgbClr val="505252"/>
                </a:solidFill>
                <a:latin typeface="Arial"/>
                <a:cs typeface="Arial"/>
              </a:rPr>
              <a:t>&gt;,</a:t>
            </a:r>
            <a:endParaRPr sz="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950" spc="95">
                <a:solidFill>
                  <a:srgbClr val="6D6D6D"/>
                </a:solidFill>
                <a:latin typeface="Arial"/>
                <a:cs typeface="Arial"/>
              </a:rPr>
              <a:t>�</a:t>
            </a:r>
            <a:r>
              <a:rPr dirty="0" sz="950" spc="229">
                <a:solidFill>
                  <a:srgbClr val="6D6D6D"/>
                </a:solidFill>
                <a:latin typeface="Arial"/>
                <a:cs typeface="Arial"/>
              </a:rPr>
              <a:t> </a:t>
            </a:r>
            <a:r>
              <a:rPr dirty="0" sz="950" spc="-150">
                <a:solidFill>
                  <a:srgbClr val="505252"/>
                </a:solidFill>
                <a:latin typeface="Arial"/>
                <a:cs typeface="Arial"/>
              </a:rPr>
              <a:t>4</a:t>
            </a:r>
            <a:endParaRPr sz="9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9467" y="2421620"/>
            <a:ext cx="10858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505252"/>
                </a:solidFill>
                <a:latin typeface="Arial"/>
                <a:cs typeface="Arial"/>
              </a:rPr>
              <a:t>(lJ</a:t>
            </a:r>
            <a:endParaRPr sz="6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538" y="2478888"/>
            <a:ext cx="111125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40">
                <a:solidFill>
                  <a:srgbClr val="505252"/>
                </a:solidFill>
                <a:latin typeface="Arial"/>
                <a:cs typeface="Arial"/>
              </a:rPr>
              <a:t>:::;</a:t>
            </a:r>
            <a:endParaRPr sz="7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5727" y="2506885"/>
            <a:ext cx="302260" cy="39243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73025">
              <a:lnSpc>
                <a:spcPct val="100000"/>
              </a:lnSpc>
              <a:spcBef>
                <a:spcPts val="400"/>
              </a:spcBef>
            </a:pPr>
            <a:r>
              <a:rPr dirty="0" sz="950" spc="-25">
                <a:solidFill>
                  <a:srgbClr val="505252"/>
                </a:solidFill>
                <a:latin typeface="Arial"/>
                <a:cs typeface="Arial"/>
              </a:rPr>
              <a:t>rr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  <a:tabLst>
                <a:tab pos="234315" algn="l"/>
              </a:tabLst>
            </a:pPr>
            <a:r>
              <a:rPr dirty="0" sz="950" spc="-50">
                <a:solidFill>
                  <a:srgbClr val="505252"/>
                </a:solidFill>
                <a:latin typeface="Arial"/>
                <a:cs typeface="Arial"/>
              </a:rPr>
              <a:t>�</a:t>
            </a:r>
            <a:r>
              <a:rPr dirty="0" sz="950">
                <a:solidFill>
                  <a:srgbClr val="505252"/>
                </a:solidFill>
                <a:latin typeface="Arial"/>
                <a:cs typeface="Arial"/>
              </a:rPr>
              <a:t>	</a:t>
            </a:r>
            <a:r>
              <a:rPr dirty="0" sz="950" spc="-50">
                <a:solidFill>
                  <a:srgbClr val="505252"/>
                </a:solidFill>
                <a:latin typeface="Arial"/>
                <a:cs typeface="Arial"/>
              </a:rPr>
              <a:t>3</a:t>
            </a:r>
            <a:endParaRPr sz="9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49585" y="3168400"/>
            <a:ext cx="9271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505252"/>
                </a:solidFill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38077" y="3583279"/>
            <a:ext cx="9271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505252"/>
                </a:solidFill>
                <a:latin typeface="Times New Roman"/>
                <a:cs typeface="Times New Roman"/>
              </a:rPr>
              <a:t>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56911" y="4014192"/>
            <a:ext cx="96520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50">
                <a:solidFill>
                  <a:srgbClr val="6D6D6D"/>
                </a:solidFill>
                <a:latin typeface="Arial"/>
                <a:cs typeface="Arial"/>
              </a:rPr>
              <a:t>0</a:t>
            </a:r>
            <a:endParaRPr sz="9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723022" y="1001871"/>
            <a:ext cx="22796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20">
                <a:solidFill>
                  <a:srgbClr val="505252"/>
                </a:solidFill>
                <a:latin typeface="Courier New"/>
                <a:cs typeface="Courier New"/>
              </a:rPr>
              <a:t>5</a:t>
            </a:r>
            <a:r>
              <a:rPr dirty="0" sz="1100" spc="-120">
                <a:solidFill>
                  <a:srgbClr val="6D6D6D"/>
                </a:solidFill>
                <a:latin typeface="Courier New"/>
                <a:cs typeface="Courier New"/>
              </a:rPr>
              <a:t>.</a:t>
            </a:r>
            <a:r>
              <a:rPr dirty="0" sz="1100" spc="-120">
                <a:solidFill>
                  <a:srgbClr val="505252"/>
                </a:solidFill>
                <a:latin typeface="Courier New"/>
                <a:cs typeface="Courier New"/>
              </a:rPr>
              <a:t>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721693" y="1356172"/>
            <a:ext cx="214629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55">
                <a:solidFill>
                  <a:srgbClr val="505252"/>
                </a:solidFill>
                <a:latin typeface="Courier New"/>
                <a:cs typeface="Courier New"/>
              </a:rPr>
              <a:t>4.5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712536" y="1710472"/>
            <a:ext cx="2381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95">
                <a:solidFill>
                  <a:srgbClr val="505252"/>
                </a:solidFill>
                <a:latin typeface="Courier New"/>
                <a:cs typeface="Courier New"/>
              </a:rPr>
              <a:t>4</a:t>
            </a:r>
            <a:r>
              <a:rPr dirty="0" sz="1100" spc="-95">
                <a:solidFill>
                  <a:srgbClr val="6D6D6D"/>
                </a:solidFill>
                <a:latin typeface="Courier New"/>
                <a:cs typeface="Courier New"/>
              </a:rPr>
              <a:t>.</a:t>
            </a:r>
            <a:r>
              <a:rPr dirty="0" sz="1100" spc="-95">
                <a:solidFill>
                  <a:srgbClr val="505252"/>
                </a:solidFill>
                <a:latin typeface="Courier New"/>
                <a:cs typeface="Courier New"/>
              </a:rPr>
              <a:t>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563793" y="1847408"/>
            <a:ext cx="10287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35">
                <a:solidFill>
                  <a:srgbClr val="505252"/>
                </a:solidFill>
                <a:latin typeface="Arial"/>
                <a:cs typeface="Arial"/>
              </a:rPr>
              <a:t>(1)</a:t>
            </a:r>
            <a:endParaRPr sz="6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562344" y="1904676"/>
            <a:ext cx="704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840"/>
              </a:lnSpc>
              <a:spcBef>
                <a:spcPts val="100"/>
              </a:spcBef>
            </a:pPr>
            <a:r>
              <a:rPr dirty="0" sz="750" spc="-50">
                <a:solidFill>
                  <a:srgbClr val="505252"/>
                </a:solidFill>
                <a:latin typeface="Arial"/>
                <a:cs typeface="Arial"/>
              </a:rPr>
              <a:t>u</a:t>
            </a:r>
            <a:endParaRPr sz="750">
              <a:latin typeface="Arial"/>
              <a:cs typeface="Arial"/>
            </a:endParaRPr>
          </a:p>
          <a:p>
            <a:pPr marL="15240">
              <a:lnSpc>
                <a:spcPts val="600"/>
              </a:lnSpc>
            </a:pPr>
            <a:r>
              <a:rPr dirty="0" sz="550" spc="-50">
                <a:solidFill>
                  <a:srgbClr val="3D3D3B"/>
                </a:solidFill>
                <a:latin typeface="Arial"/>
                <a:cs typeface="Arial"/>
              </a:rPr>
              <a:t>C</a:t>
            </a:r>
            <a:endParaRPr sz="5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539615" y="2073936"/>
            <a:ext cx="42100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44444" sz="1125">
                <a:solidFill>
                  <a:srgbClr val="505252"/>
                </a:solidFill>
                <a:latin typeface="Arial"/>
                <a:cs typeface="Arial"/>
              </a:rPr>
              <a:t>a,</a:t>
            </a:r>
            <a:r>
              <a:rPr dirty="0" baseline="44444" sz="1125" spc="615">
                <a:solidFill>
                  <a:srgbClr val="505252"/>
                </a:solidFill>
                <a:latin typeface="Arial"/>
                <a:cs typeface="Arial"/>
              </a:rPr>
              <a:t> </a:t>
            </a:r>
            <a:r>
              <a:rPr dirty="0" sz="1100" spc="-100">
                <a:solidFill>
                  <a:srgbClr val="505252"/>
                </a:solidFill>
                <a:latin typeface="Courier New"/>
                <a:cs typeface="Courier New"/>
              </a:rPr>
              <a:t>3.5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560436" y="2143168"/>
            <a:ext cx="7683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40">
                <a:solidFill>
                  <a:srgbClr val="6D6D6D"/>
                </a:solidFill>
                <a:latin typeface="Arial"/>
                <a:cs typeface="Arial"/>
              </a:rPr>
              <a:t>::i</a:t>
            </a:r>
            <a:endParaRPr sz="7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537820" y="2204254"/>
            <a:ext cx="99060" cy="217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60">
                <a:solidFill>
                  <a:srgbClr val="505252"/>
                </a:solidFill>
                <a:latin typeface="Arial"/>
                <a:cs typeface="Arial"/>
              </a:rPr>
              <a:t>q::</a:t>
            </a:r>
            <a:endParaRPr sz="700">
              <a:latin typeface="Arial"/>
              <a:cs typeface="Arial"/>
            </a:endParaRPr>
          </a:p>
          <a:p>
            <a:pPr marL="39370">
              <a:lnSpc>
                <a:spcPct val="100000"/>
              </a:lnSpc>
              <a:spcBef>
                <a:spcPts val="5"/>
              </a:spcBef>
            </a:pPr>
            <a:r>
              <a:rPr dirty="0" sz="550" spc="-50">
                <a:solidFill>
                  <a:srgbClr val="3D3D3B"/>
                </a:solidFill>
                <a:latin typeface="Arial"/>
                <a:cs typeface="Arial"/>
              </a:rPr>
              <a:t>C</a:t>
            </a:r>
            <a:endParaRPr sz="5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540215" y="2446564"/>
            <a:ext cx="80645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-40">
                <a:solidFill>
                  <a:srgbClr val="3D3D3B"/>
                </a:solidFill>
                <a:latin typeface="Arial"/>
                <a:cs typeface="Arial"/>
              </a:rPr>
              <a:t>4,-</a:t>
            </a:r>
            <a:endParaRPr sz="5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723022" y="2428237"/>
            <a:ext cx="22796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20">
                <a:solidFill>
                  <a:srgbClr val="505252"/>
                </a:solidFill>
                <a:latin typeface="Courier New"/>
                <a:cs typeface="Courier New"/>
              </a:rPr>
              <a:t>3</a:t>
            </a:r>
            <a:r>
              <a:rPr dirty="0" sz="1100" spc="-120">
                <a:solidFill>
                  <a:srgbClr val="6D6D6D"/>
                </a:solidFill>
                <a:latin typeface="Courier New"/>
                <a:cs typeface="Courier New"/>
              </a:rPr>
              <a:t>.</a:t>
            </a:r>
            <a:r>
              <a:rPr dirty="0" sz="1100" spc="-120">
                <a:solidFill>
                  <a:srgbClr val="505252"/>
                </a:solidFill>
                <a:latin typeface="Courier New"/>
                <a:cs typeface="Courier New"/>
              </a:rPr>
              <a:t>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514513" y="2395658"/>
            <a:ext cx="18161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700" spc="-80">
                <a:solidFill>
                  <a:srgbClr val="505252"/>
                </a:solidFill>
                <a:latin typeface="Arial"/>
                <a:cs typeface="Arial"/>
              </a:rPr>
              <a:t>0</a:t>
            </a:r>
            <a:r>
              <a:rPr dirty="0" baseline="-33333" sz="2250" spc="-120">
                <a:solidFill>
                  <a:srgbClr val="505252"/>
                </a:solidFill>
                <a:latin typeface="Arial"/>
                <a:cs typeface="Arial"/>
              </a:rPr>
              <a:t>e</a:t>
            </a:r>
            <a:endParaRPr baseline="-33333" sz="22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393812" y="2648159"/>
            <a:ext cx="304165" cy="57340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65100">
              <a:lnSpc>
                <a:spcPct val="100000"/>
              </a:lnSpc>
              <a:spcBef>
                <a:spcPts val="204"/>
              </a:spcBef>
            </a:pPr>
            <a:r>
              <a:rPr dirty="0" sz="850" spc="-25">
                <a:solidFill>
                  <a:srgbClr val="3D3D3B"/>
                </a:solidFill>
                <a:latin typeface="Arial"/>
                <a:cs typeface="Arial"/>
              </a:rPr>
              <a:t>a..</a:t>
            </a:r>
            <a:endParaRPr sz="8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65"/>
              </a:spcBef>
            </a:pPr>
            <a:r>
              <a:rPr dirty="0" sz="1300" spc="210">
                <a:solidFill>
                  <a:srgbClr val="6D6D6D"/>
                </a:solidFill>
                <a:latin typeface="Arial"/>
                <a:cs typeface="Arial"/>
              </a:rPr>
              <a:t>-</a:t>
            </a:r>
            <a:r>
              <a:rPr dirty="0" sz="1300" spc="-500">
                <a:solidFill>
                  <a:srgbClr val="505252"/>
                </a:solidFill>
                <a:latin typeface="Arial"/>
                <a:cs typeface="Arial"/>
              </a:rPr>
              <a:t>�</a:t>
            </a:r>
            <a:r>
              <a:rPr dirty="0" baseline="-29629" sz="1125" spc="254">
                <a:solidFill>
                  <a:srgbClr val="505252"/>
                </a:solidFill>
                <a:latin typeface="Arial"/>
                <a:cs typeface="Arial"/>
              </a:rPr>
              <a:t>u</a:t>
            </a:r>
            <a:endParaRPr baseline="-29629" sz="1125">
              <a:latin typeface="Arial"/>
              <a:cs typeface="Arial"/>
            </a:endParaRPr>
          </a:p>
          <a:p>
            <a:pPr marL="182880">
              <a:lnSpc>
                <a:spcPts val="775"/>
              </a:lnSpc>
              <a:spcBef>
                <a:spcPts val="25"/>
              </a:spcBef>
            </a:pPr>
            <a:r>
              <a:rPr dirty="0" sz="750" spc="-50">
                <a:solidFill>
                  <a:srgbClr val="505252"/>
                </a:solidFill>
                <a:latin typeface="Arial"/>
                <a:cs typeface="Arial"/>
              </a:rPr>
              <a:t>0</a:t>
            </a:r>
            <a:endParaRPr sz="750">
              <a:latin typeface="Arial"/>
              <a:cs typeface="Arial"/>
            </a:endParaRPr>
          </a:p>
          <a:p>
            <a:pPr marL="167640">
              <a:lnSpc>
                <a:spcPts val="655"/>
              </a:lnSpc>
            </a:pPr>
            <a:r>
              <a:rPr dirty="0" sz="650" spc="-25">
                <a:solidFill>
                  <a:srgbClr val="505252"/>
                </a:solidFill>
                <a:latin typeface="Arial"/>
                <a:cs typeface="Arial"/>
              </a:rPr>
              <a:t>t/l</a:t>
            </a:r>
            <a:endParaRPr sz="6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724561" y="2782538"/>
            <a:ext cx="23558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0">
                <a:solidFill>
                  <a:srgbClr val="505252"/>
                </a:solidFill>
                <a:latin typeface="Courier New"/>
                <a:cs typeface="Courier New"/>
              </a:rPr>
              <a:t>2</a:t>
            </a:r>
            <a:r>
              <a:rPr dirty="0" sz="1100" spc="-100">
                <a:solidFill>
                  <a:srgbClr val="6D6D6D"/>
                </a:solidFill>
                <a:latin typeface="Courier New"/>
                <a:cs typeface="Courier New"/>
              </a:rPr>
              <a:t>.</a:t>
            </a:r>
            <a:r>
              <a:rPr dirty="0" sz="1100" spc="-100">
                <a:solidFill>
                  <a:srgbClr val="505252"/>
                </a:solidFill>
                <a:latin typeface="Courier New"/>
                <a:cs typeface="Courier New"/>
              </a:rPr>
              <a:t>5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724561" y="3142947"/>
            <a:ext cx="23558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0">
                <a:solidFill>
                  <a:srgbClr val="505252"/>
                </a:solidFill>
                <a:latin typeface="Courier New"/>
                <a:cs typeface="Courier New"/>
              </a:rPr>
              <a:t>2</a:t>
            </a:r>
            <a:r>
              <a:rPr dirty="0" sz="1100" spc="-100">
                <a:solidFill>
                  <a:srgbClr val="6D6D6D"/>
                </a:solidFill>
                <a:latin typeface="Courier New"/>
                <a:cs typeface="Courier New"/>
              </a:rPr>
              <a:t>.</a:t>
            </a:r>
            <a:r>
              <a:rPr dirty="0" sz="1100" spc="-100">
                <a:solidFill>
                  <a:srgbClr val="505252"/>
                </a:solidFill>
                <a:latin typeface="Courier New"/>
                <a:cs typeface="Courier New"/>
              </a:rPr>
              <a:t>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720784" y="3497248"/>
            <a:ext cx="22987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14">
                <a:solidFill>
                  <a:srgbClr val="505252"/>
                </a:solidFill>
                <a:latin typeface="Courier New"/>
                <a:cs typeface="Courier New"/>
              </a:rPr>
              <a:t>1</a:t>
            </a:r>
            <a:r>
              <a:rPr dirty="0" sz="1100" spc="-114">
                <a:solidFill>
                  <a:srgbClr val="6D6D6D"/>
                </a:solidFill>
                <a:latin typeface="Courier New"/>
                <a:cs typeface="Courier New"/>
              </a:rPr>
              <a:t>.</a:t>
            </a:r>
            <a:r>
              <a:rPr dirty="0" sz="1100" spc="-114">
                <a:solidFill>
                  <a:srgbClr val="505252"/>
                </a:solidFill>
                <a:latin typeface="Courier New"/>
                <a:cs typeface="Courier New"/>
              </a:rPr>
              <a:t>5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720784" y="3851549"/>
            <a:ext cx="22987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14">
                <a:solidFill>
                  <a:srgbClr val="505252"/>
                </a:solidFill>
                <a:latin typeface="Courier New"/>
                <a:cs typeface="Courier New"/>
              </a:rPr>
              <a:t>1</a:t>
            </a:r>
            <a:r>
              <a:rPr dirty="0" sz="1100" spc="-114">
                <a:solidFill>
                  <a:srgbClr val="6D6D6D"/>
                </a:solidFill>
                <a:latin typeface="Courier New"/>
                <a:cs typeface="Courier New"/>
              </a:rPr>
              <a:t>.</a:t>
            </a:r>
            <a:r>
              <a:rPr dirty="0" sz="1100" spc="-114">
                <a:solidFill>
                  <a:srgbClr val="505252"/>
                </a:solidFill>
                <a:latin typeface="Courier New"/>
                <a:cs typeface="Courier New"/>
              </a:rPr>
              <a:t>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84519" y="4086379"/>
            <a:ext cx="3874135" cy="356870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  <a:tabLst>
                <a:tab pos="473075" algn="l"/>
                <a:tab pos="925830" algn="l"/>
                <a:tab pos="1383665" algn="l"/>
                <a:tab pos="1842770" algn="l"/>
                <a:tab pos="2291715" algn="l"/>
                <a:tab pos="2757170" algn="l"/>
                <a:tab pos="3208655" algn="l"/>
                <a:tab pos="3658870" algn="l"/>
              </a:tabLst>
            </a:pPr>
            <a:r>
              <a:rPr dirty="0" sz="1100" spc="-25">
                <a:solidFill>
                  <a:srgbClr val="505252"/>
                </a:solidFill>
                <a:latin typeface="Courier New"/>
                <a:cs typeface="Courier New"/>
              </a:rPr>
              <a:t>1</a:t>
            </a:r>
            <a:r>
              <a:rPr dirty="0" sz="1100" spc="-25">
                <a:solidFill>
                  <a:srgbClr val="6D6D6D"/>
                </a:solidFill>
                <a:latin typeface="Courier New"/>
                <a:cs typeface="Courier New"/>
              </a:rPr>
              <a:t>.</a:t>
            </a:r>
            <a:r>
              <a:rPr dirty="0" sz="1100" spc="-25">
                <a:solidFill>
                  <a:srgbClr val="505252"/>
                </a:solidFill>
                <a:latin typeface="Courier New"/>
                <a:cs typeface="Courier New"/>
              </a:rPr>
              <a:t>0</a:t>
            </a:r>
            <a:r>
              <a:rPr dirty="0" sz="1100">
                <a:solidFill>
                  <a:srgbClr val="505252"/>
                </a:solidFill>
                <a:latin typeface="Courier New"/>
                <a:cs typeface="Courier New"/>
              </a:rPr>
              <a:t>	</a:t>
            </a:r>
            <a:r>
              <a:rPr dirty="0" sz="1100" spc="-25">
                <a:solidFill>
                  <a:srgbClr val="505252"/>
                </a:solidFill>
                <a:latin typeface="Courier New"/>
                <a:cs typeface="Courier New"/>
              </a:rPr>
              <a:t>1</a:t>
            </a:r>
            <a:r>
              <a:rPr dirty="0" sz="1100" spc="-25">
                <a:solidFill>
                  <a:srgbClr val="6D6D6D"/>
                </a:solidFill>
                <a:latin typeface="Courier New"/>
                <a:cs typeface="Courier New"/>
              </a:rPr>
              <a:t>.</a:t>
            </a:r>
            <a:r>
              <a:rPr dirty="0" sz="1100" spc="-25">
                <a:solidFill>
                  <a:srgbClr val="505252"/>
                </a:solidFill>
                <a:latin typeface="Courier New"/>
                <a:cs typeface="Courier New"/>
              </a:rPr>
              <a:t>5</a:t>
            </a:r>
            <a:r>
              <a:rPr dirty="0" sz="1100">
                <a:solidFill>
                  <a:srgbClr val="505252"/>
                </a:solidFill>
                <a:latin typeface="Courier New"/>
                <a:cs typeface="Courier New"/>
              </a:rPr>
              <a:t>	</a:t>
            </a:r>
            <a:r>
              <a:rPr dirty="0" sz="1100" spc="-25">
                <a:solidFill>
                  <a:srgbClr val="505252"/>
                </a:solidFill>
                <a:latin typeface="Courier New"/>
                <a:cs typeface="Courier New"/>
              </a:rPr>
              <a:t>2</a:t>
            </a:r>
            <a:r>
              <a:rPr dirty="0" sz="1100" spc="-25">
                <a:solidFill>
                  <a:srgbClr val="6D6D6D"/>
                </a:solidFill>
                <a:latin typeface="Courier New"/>
                <a:cs typeface="Courier New"/>
              </a:rPr>
              <a:t>.</a:t>
            </a:r>
            <a:r>
              <a:rPr dirty="0" sz="1100" spc="-25">
                <a:solidFill>
                  <a:srgbClr val="505252"/>
                </a:solidFill>
                <a:latin typeface="Courier New"/>
                <a:cs typeface="Courier New"/>
              </a:rPr>
              <a:t>0</a:t>
            </a:r>
            <a:r>
              <a:rPr dirty="0" sz="1100">
                <a:solidFill>
                  <a:srgbClr val="505252"/>
                </a:solidFill>
                <a:latin typeface="Courier New"/>
                <a:cs typeface="Courier New"/>
              </a:rPr>
              <a:t>	</a:t>
            </a:r>
            <a:r>
              <a:rPr dirty="0" sz="1100" spc="-25">
                <a:solidFill>
                  <a:srgbClr val="505252"/>
                </a:solidFill>
                <a:latin typeface="Courier New"/>
                <a:cs typeface="Courier New"/>
              </a:rPr>
              <a:t>2</a:t>
            </a:r>
            <a:r>
              <a:rPr dirty="0" sz="1100" spc="-25">
                <a:solidFill>
                  <a:srgbClr val="6D6D6D"/>
                </a:solidFill>
                <a:latin typeface="Courier New"/>
                <a:cs typeface="Courier New"/>
              </a:rPr>
              <a:t>.</a:t>
            </a:r>
            <a:r>
              <a:rPr dirty="0" sz="1100" spc="-25">
                <a:solidFill>
                  <a:srgbClr val="505252"/>
                </a:solidFill>
                <a:latin typeface="Courier New"/>
                <a:cs typeface="Courier New"/>
              </a:rPr>
              <a:t>5</a:t>
            </a:r>
            <a:r>
              <a:rPr dirty="0" sz="1100">
                <a:solidFill>
                  <a:srgbClr val="505252"/>
                </a:solidFill>
                <a:latin typeface="Courier New"/>
                <a:cs typeface="Courier New"/>
              </a:rPr>
              <a:t>	</a:t>
            </a:r>
            <a:r>
              <a:rPr dirty="0" sz="1100" spc="-25">
                <a:solidFill>
                  <a:srgbClr val="505252"/>
                </a:solidFill>
                <a:latin typeface="Courier New"/>
                <a:cs typeface="Courier New"/>
              </a:rPr>
              <a:t>3</a:t>
            </a:r>
            <a:r>
              <a:rPr dirty="0" sz="1100" spc="-25">
                <a:solidFill>
                  <a:srgbClr val="6D6D6D"/>
                </a:solidFill>
                <a:latin typeface="Courier New"/>
                <a:cs typeface="Courier New"/>
              </a:rPr>
              <a:t>.</a:t>
            </a:r>
            <a:r>
              <a:rPr dirty="0" sz="1100" spc="-25">
                <a:solidFill>
                  <a:srgbClr val="505252"/>
                </a:solidFill>
                <a:latin typeface="Courier New"/>
                <a:cs typeface="Courier New"/>
              </a:rPr>
              <a:t>0</a:t>
            </a:r>
            <a:r>
              <a:rPr dirty="0" sz="1100">
                <a:solidFill>
                  <a:srgbClr val="505252"/>
                </a:solidFill>
                <a:latin typeface="Courier New"/>
                <a:cs typeface="Courier New"/>
              </a:rPr>
              <a:t>	</a:t>
            </a:r>
            <a:r>
              <a:rPr dirty="0" sz="1100" spc="-25">
                <a:solidFill>
                  <a:srgbClr val="505252"/>
                </a:solidFill>
                <a:latin typeface="Courier New"/>
                <a:cs typeface="Courier New"/>
              </a:rPr>
              <a:t>3</a:t>
            </a:r>
            <a:r>
              <a:rPr dirty="0" sz="1100" spc="-25">
                <a:solidFill>
                  <a:srgbClr val="6D6D6D"/>
                </a:solidFill>
                <a:latin typeface="Courier New"/>
                <a:cs typeface="Courier New"/>
              </a:rPr>
              <a:t>.</a:t>
            </a:r>
            <a:r>
              <a:rPr dirty="0" sz="1100" spc="-25">
                <a:solidFill>
                  <a:srgbClr val="505252"/>
                </a:solidFill>
                <a:latin typeface="Courier New"/>
                <a:cs typeface="Courier New"/>
              </a:rPr>
              <a:t>5</a:t>
            </a:r>
            <a:r>
              <a:rPr dirty="0" sz="1100">
                <a:solidFill>
                  <a:srgbClr val="505252"/>
                </a:solidFill>
                <a:latin typeface="Courier New"/>
                <a:cs typeface="Courier New"/>
              </a:rPr>
              <a:t>	</a:t>
            </a:r>
            <a:r>
              <a:rPr dirty="0" sz="1100" spc="-25">
                <a:solidFill>
                  <a:srgbClr val="505252"/>
                </a:solidFill>
                <a:latin typeface="Courier New"/>
                <a:cs typeface="Courier New"/>
              </a:rPr>
              <a:t>4</a:t>
            </a:r>
            <a:r>
              <a:rPr dirty="0" sz="1100" spc="-25">
                <a:solidFill>
                  <a:srgbClr val="6D6D6D"/>
                </a:solidFill>
                <a:latin typeface="Courier New"/>
                <a:cs typeface="Courier New"/>
              </a:rPr>
              <a:t>.</a:t>
            </a:r>
            <a:r>
              <a:rPr dirty="0" sz="1100" spc="-25">
                <a:solidFill>
                  <a:srgbClr val="505252"/>
                </a:solidFill>
                <a:latin typeface="Courier New"/>
                <a:cs typeface="Courier New"/>
              </a:rPr>
              <a:t>0</a:t>
            </a:r>
            <a:r>
              <a:rPr dirty="0" sz="1100">
                <a:solidFill>
                  <a:srgbClr val="505252"/>
                </a:solidFill>
                <a:latin typeface="Courier New"/>
                <a:cs typeface="Courier New"/>
              </a:rPr>
              <a:t>	</a:t>
            </a:r>
            <a:r>
              <a:rPr dirty="0" sz="1100" spc="-25">
                <a:solidFill>
                  <a:srgbClr val="505252"/>
                </a:solidFill>
                <a:latin typeface="Courier New"/>
                <a:cs typeface="Courier New"/>
              </a:rPr>
              <a:t>4</a:t>
            </a:r>
            <a:r>
              <a:rPr dirty="0" sz="1100" spc="-25">
                <a:solidFill>
                  <a:srgbClr val="6D6D6D"/>
                </a:solidFill>
                <a:latin typeface="Courier New"/>
                <a:cs typeface="Courier New"/>
              </a:rPr>
              <a:t>.</a:t>
            </a:r>
            <a:r>
              <a:rPr dirty="0" sz="1100" spc="-25">
                <a:solidFill>
                  <a:srgbClr val="505252"/>
                </a:solidFill>
                <a:latin typeface="Courier New"/>
                <a:cs typeface="Courier New"/>
              </a:rPr>
              <a:t>5</a:t>
            </a:r>
            <a:r>
              <a:rPr dirty="0" sz="1100">
                <a:solidFill>
                  <a:srgbClr val="505252"/>
                </a:solidFill>
                <a:latin typeface="Courier New"/>
                <a:cs typeface="Courier New"/>
              </a:rPr>
              <a:t>	</a:t>
            </a:r>
            <a:r>
              <a:rPr dirty="0" sz="1100" spc="-120">
                <a:solidFill>
                  <a:srgbClr val="505252"/>
                </a:solidFill>
                <a:latin typeface="Courier New"/>
                <a:cs typeface="Courier New"/>
              </a:rPr>
              <a:t>5</a:t>
            </a:r>
            <a:r>
              <a:rPr dirty="0" sz="1100" spc="-120">
                <a:solidFill>
                  <a:srgbClr val="6D6D6D"/>
                </a:solidFill>
                <a:latin typeface="Courier New"/>
                <a:cs typeface="Courier New"/>
              </a:rPr>
              <a:t>.</a:t>
            </a:r>
            <a:r>
              <a:rPr dirty="0" sz="1100" spc="-120">
                <a:solidFill>
                  <a:srgbClr val="505252"/>
                </a:solidFill>
                <a:latin typeface="Courier New"/>
                <a:cs typeface="Courier New"/>
              </a:rPr>
              <a:t>0</a:t>
            </a:r>
            <a:endParaRPr sz="1100">
              <a:latin typeface="Courier New"/>
              <a:cs typeface="Courier New"/>
            </a:endParaRPr>
          </a:p>
          <a:p>
            <a:pPr marL="1120140">
              <a:lnSpc>
                <a:spcPct val="100000"/>
              </a:lnSpc>
              <a:spcBef>
                <a:spcPts val="190"/>
              </a:spcBef>
            </a:pPr>
            <a:r>
              <a:rPr dirty="0" sz="650">
                <a:solidFill>
                  <a:srgbClr val="505252"/>
                </a:solidFill>
                <a:latin typeface="Arial"/>
                <a:cs typeface="Arial"/>
              </a:rPr>
              <a:t>c,...,,..</a:t>
            </a:r>
            <a:r>
              <a:rPr dirty="0" sz="650">
                <a:solidFill>
                  <a:srgbClr val="6D6D6D"/>
                </a:solidFill>
                <a:latin typeface="Arial"/>
                <a:cs typeface="Arial"/>
              </a:rPr>
              <a:t>;</a:t>
            </a:r>
            <a:r>
              <a:rPr dirty="0" sz="650">
                <a:solidFill>
                  <a:srgbClr val="505252"/>
                </a:solidFill>
                <a:latin typeface="Arial"/>
                <a:cs typeface="Arial"/>
              </a:rPr>
              <a:t>...,</a:t>
            </a:r>
            <a:r>
              <a:rPr dirty="0" sz="650">
                <a:solidFill>
                  <a:srgbClr val="898989"/>
                </a:solidFill>
                <a:latin typeface="Arial"/>
                <a:cs typeface="Arial"/>
              </a:rPr>
              <a:t>1</a:t>
            </a:r>
            <a:r>
              <a:rPr dirty="0" sz="650" spc="14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3D3D3B"/>
                </a:solidFill>
                <a:latin typeface="Arial"/>
                <a:cs typeface="Arial"/>
              </a:rPr>
              <a:t>n</a:t>
            </a:r>
            <a:r>
              <a:rPr dirty="0" sz="650">
                <a:solidFill>
                  <a:srgbClr val="6D6D6D"/>
                </a:solidFill>
                <a:latin typeface="Arial"/>
                <a:cs typeface="Arial"/>
              </a:rPr>
              <a:t>,</a:t>
            </a:r>
            <a:r>
              <a:rPr dirty="0" sz="650">
                <a:solidFill>
                  <a:srgbClr val="505252"/>
                </a:solidFill>
                <a:latin typeface="Arial"/>
                <a:cs typeface="Arial"/>
              </a:rPr>
              <a:t>...</a:t>
            </a:r>
            <a:r>
              <a:rPr dirty="0" sz="500">
                <a:solidFill>
                  <a:srgbClr val="6D6D6D"/>
                </a:solidFill>
                <a:latin typeface="Times New Roman"/>
                <a:cs typeface="Times New Roman"/>
              </a:rPr>
              <a:t>_</a:t>
            </a:r>
            <a:r>
              <a:rPr dirty="0" sz="500">
                <a:solidFill>
                  <a:srgbClr val="505252"/>
                </a:solidFill>
                <a:latin typeface="Times New Roman"/>
                <a:cs typeface="Times New Roman"/>
              </a:rPr>
              <a:t>,...,,r:</a:t>
            </a:r>
            <a:r>
              <a:rPr dirty="0" sz="500" spc="15">
                <a:solidFill>
                  <a:srgbClr val="505252"/>
                </a:solidFill>
                <a:latin typeface="Times New Roman"/>
                <a:cs typeface="Times New Roman"/>
              </a:rPr>
              <a:t> </a:t>
            </a:r>
            <a:r>
              <a:rPr dirty="0" sz="500" spc="65">
                <a:solidFill>
                  <a:srgbClr val="505252"/>
                </a:solidFill>
                <a:latin typeface="Times New Roman"/>
                <a:cs typeface="Times New Roman"/>
              </a:rPr>
              <a:t>h-</a:t>
            </a:r>
            <a:r>
              <a:rPr dirty="0" sz="500">
                <a:solidFill>
                  <a:srgbClr val="505252"/>
                </a:solidFill>
                <a:latin typeface="Times New Roman"/>
                <a:cs typeface="Times New Roman"/>
              </a:rPr>
              <a:t>,,-</a:t>
            </a:r>
            <a:r>
              <a:rPr dirty="0" sz="500" spc="80">
                <a:solidFill>
                  <a:srgbClr val="505252"/>
                </a:solidFill>
                <a:latin typeface="Times New Roman"/>
                <a:cs typeface="Times New Roman"/>
              </a:rPr>
              <a:t>A</a:t>
            </a:r>
            <a:r>
              <a:rPr dirty="0" sz="500" spc="80">
                <a:solidFill>
                  <a:srgbClr val="6D6D6D"/>
                </a:solidFill>
                <a:latin typeface="Times New Roman"/>
                <a:cs typeface="Times New Roman"/>
              </a:rPr>
              <a:t>,</a:t>
            </a:r>
            <a:r>
              <a:rPr dirty="0" sz="500" spc="140">
                <a:solidFill>
                  <a:srgbClr val="6D6D6D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6D6D6D"/>
                </a:solidFill>
                <a:latin typeface="Times New Roman"/>
                <a:cs typeface="Times New Roman"/>
              </a:rPr>
              <a:t>,</a:t>
            </a:r>
            <a:r>
              <a:rPr dirty="0" sz="500">
                <a:solidFill>
                  <a:srgbClr val="505252"/>
                </a:solidFill>
                <a:latin typeface="Times New Roman"/>
                <a:cs typeface="Times New Roman"/>
              </a:rPr>
              <a:t>,..,......,,......._</a:t>
            </a:r>
            <a:r>
              <a:rPr dirty="0" sz="600" i="1">
                <a:solidFill>
                  <a:srgbClr val="6D6D6D"/>
                </a:solidFill>
                <a:latin typeface="Arial"/>
                <a:cs typeface="Arial"/>
              </a:rPr>
              <a:t>I</a:t>
            </a:r>
            <a:r>
              <a:rPr dirty="0" sz="600" i="1">
                <a:solidFill>
                  <a:srgbClr val="505252"/>
                </a:solidFill>
                <a:latin typeface="Arial"/>
                <a:cs typeface="Arial"/>
              </a:rPr>
              <a:t>,</a:t>
            </a:r>
            <a:r>
              <a:rPr dirty="0" sz="600" spc="340" i="1">
                <a:solidFill>
                  <a:srgbClr val="505252"/>
                </a:solidFill>
                <a:latin typeface="Arial"/>
                <a:cs typeface="Arial"/>
              </a:rPr>
              <a:t>  </a:t>
            </a:r>
            <a:r>
              <a:rPr dirty="0" sz="450" spc="-10" i="1">
                <a:solidFill>
                  <a:srgbClr val="505252"/>
                </a:solidFill>
                <a:latin typeface="Times New Roman"/>
                <a:cs typeface="Times New Roman"/>
              </a:rPr>
              <a:t>ii;:</a:t>
            </a:r>
            <a:r>
              <a:rPr dirty="0" sz="450" spc="114" i="1">
                <a:solidFill>
                  <a:srgbClr val="505252"/>
                </a:solidFill>
                <a:latin typeface="Times New Roman"/>
                <a:cs typeface="Times New Roman"/>
              </a:rPr>
              <a:t> </a:t>
            </a:r>
            <a:r>
              <a:rPr dirty="0" sz="550" spc="-25">
                <a:solidFill>
                  <a:srgbClr val="6D6D6D"/>
                </a:solidFill>
                <a:latin typeface="Times New Roman"/>
                <a:cs typeface="Times New Roman"/>
              </a:rPr>
              <a:t>'Ii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645190" y="4139164"/>
            <a:ext cx="74104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505252"/>
                </a:solidFill>
                <a:latin typeface="Arial"/>
                <a:cs typeface="Arial"/>
              </a:rPr>
              <a:t>Di</a:t>
            </a:r>
            <a:r>
              <a:rPr dirty="0" sz="1000" spc="-10">
                <a:solidFill>
                  <a:srgbClr val="BABABA"/>
                </a:solidFill>
                <a:latin typeface="Arial"/>
                <a:cs typeface="Arial"/>
              </a:rPr>
              <a:t>i</a:t>
            </a:r>
            <a:r>
              <a:rPr dirty="0" sz="1000" spc="-10">
                <a:solidFill>
                  <a:srgbClr val="3D3D3B"/>
                </a:solidFill>
                <a:latin typeface="Arial"/>
                <a:cs typeface="Arial"/>
              </a:rPr>
              <a:t>d</a:t>
            </a:r>
            <a:r>
              <a:rPr dirty="0" sz="1000" spc="75">
                <a:solidFill>
                  <a:srgbClr val="3D3D3B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505252"/>
                </a:solidFill>
                <a:latin typeface="Arial"/>
                <a:cs typeface="Arial"/>
              </a:rPr>
              <a:t>Not</a:t>
            </a:r>
            <a:r>
              <a:rPr dirty="0" sz="1000" spc="40">
                <a:solidFill>
                  <a:srgbClr val="505252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505252"/>
                </a:solidFill>
                <a:latin typeface="Arial"/>
                <a:cs typeface="Arial"/>
              </a:rPr>
              <a:t>Pay</a:t>
            </a:r>
            <a:endParaRPr sz="10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559089" y="4139164"/>
            <a:ext cx="92392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6D6D6D"/>
                </a:solidFill>
                <a:latin typeface="Arial"/>
                <a:cs typeface="Arial"/>
              </a:rPr>
              <a:t>M</a:t>
            </a:r>
            <a:r>
              <a:rPr dirty="0" sz="1000">
                <a:solidFill>
                  <a:srgbClr val="505252"/>
                </a:solidFill>
                <a:latin typeface="Arial"/>
                <a:cs typeface="Arial"/>
              </a:rPr>
              <a:t>ade</a:t>
            </a:r>
            <a:r>
              <a:rPr dirty="0" sz="1000" spc="190">
                <a:solidFill>
                  <a:srgbClr val="505252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3D3D3B"/>
                </a:solidFill>
                <a:latin typeface="Arial"/>
                <a:cs typeface="Arial"/>
              </a:rPr>
              <a:t>Pay</a:t>
            </a:r>
            <a:r>
              <a:rPr dirty="0" sz="1000" spc="-10">
                <a:solidFill>
                  <a:srgbClr val="6D6D6D"/>
                </a:solidFill>
                <a:latin typeface="Arial"/>
                <a:cs typeface="Arial"/>
              </a:rPr>
              <a:t>m</a:t>
            </a:r>
            <a:r>
              <a:rPr dirty="0" sz="1000" spc="-10">
                <a:solidFill>
                  <a:srgbClr val="505252"/>
                </a:solidFill>
                <a:latin typeface="Arial"/>
                <a:cs typeface="Arial"/>
              </a:rPr>
              <a:t>e</a:t>
            </a:r>
            <a:r>
              <a:rPr dirty="0" sz="1000" spc="-10">
                <a:solidFill>
                  <a:srgbClr val="6D6D6D"/>
                </a:solidFill>
                <a:latin typeface="Arial"/>
                <a:cs typeface="Arial"/>
              </a:rPr>
              <a:t>n</a:t>
            </a:r>
            <a:r>
              <a:rPr dirty="0" sz="1000" spc="-10">
                <a:solidFill>
                  <a:srgbClr val="3D3D3B"/>
                </a:solidFill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Direct</a:t>
            </a:r>
            <a:r>
              <a:rPr dirty="0" spc="-60"/>
              <a:t> </a:t>
            </a:r>
            <a:r>
              <a:rPr dirty="0"/>
              <a:t>Effect</a:t>
            </a:r>
            <a:r>
              <a:rPr dirty="0" spc="-55"/>
              <a:t> </a:t>
            </a:r>
            <a:r>
              <a:rPr dirty="0" spc="-20"/>
              <a:t>Test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145" y="939736"/>
            <a:ext cx="7720330" cy="345312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latin typeface="Trebuchet MS"/>
                <a:cs typeface="Trebuchet MS"/>
              </a:rPr>
              <a:t>Test:</a:t>
            </a:r>
            <a:r>
              <a:rPr dirty="0" sz="1550" spc="35">
                <a:latin typeface="Trebuchet MS"/>
                <a:cs typeface="Trebuchet MS"/>
              </a:rPr>
              <a:t> </a:t>
            </a:r>
            <a:r>
              <a:rPr dirty="0" sz="1550" spc="125">
                <a:latin typeface="Trebuchet MS"/>
                <a:cs typeface="Trebuchet MS"/>
              </a:rPr>
              <a:t>Mann-</a:t>
            </a:r>
            <a:r>
              <a:rPr dirty="0" sz="1550" spc="45">
                <a:latin typeface="Trebuchet MS"/>
                <a:cs typeface="Trebuchet MS"/>
              </a:rPr>
              <a:t>Whitney</a:t>
            </a:r>
            <a:r>
              <a:rPr dirty="0" sz="1550" spc="70">
                <a:latin typeface="Trebuchet MS"/>
                <a:cs typeface="Trebuchet MS"/>
              </a:rPr>
              <a:t> </a:t>
            </a:r>
            <a:r>
              <a:rPr dirty="0" sz="1550" spc="90">
                <a:latin typeface="Trebuchet MS"/>
                <a:cs typeface="Trebuchet MS"/>
              </a:rPr>
              <a:t>U</a:t>
            </a:r>
            <a:r>
              <a:rPr dirty="0" sz="1550" spc="7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(Primary</a:t>
            </a:r>
            <a:r>
              <a:rPr dirty="0" sz="1550" spc="65">
                <a:latin typeface="Trebuchet MS"/>
                <a:cs typeface="Trebuchet MS"/>
              </a:rPr>
              <a:t> </a:t>
            </a:r>
            <a:r>
              <a:rPr dirty="0" sz="1550" spc="60">
                <a:latin typeface="Trebuchet MS"/>
                <a:cs typeface="Trebuchet MS"/>
              </a:rPr>
              <a:t>Hypothesis</a:t>
            </a:r>
            <a:r>
              <a:rPr dirty="0" sz="1550" spc="50">
                <a:latin typeface="Trebuchet MS"/>
                <a:cs typeface="Trebuchet MS"/>
              </a:rPr>
              <a:t> </a:t>
            </a:r>
            <a:r>
              <a:rPr dirty="0" sz="1550" spc="40">
                <a:latin typeface="Trebuchet MS"/>
                <a:cs typeface="Trebuchet MS"/>
              </a:rPr>
              <a:t>Test)</a:t>
            </a:r>
            <a:endParaRPr sz="15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550" spc="180">
                <a:latin typeface="Trebuchet MS"/>
                <a:cs typeface="Trebuchet MS"/>
              </a:rPr>
              <a:t>U-</a:t>
            </a:r>
            <a:r>
              <a:rPr dirty="0" sz="1550">
                <a:latin typeface="Trebuchet MS"/>
                <a:cs typeface="Trebuchet MS"/>
              </a:rPr>
              <a:t>statistic:</a:t>
            </a:r>
            <a:r>
              <a:rPr dirty="0" sz="1550" spc="-35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174.00</a:t>
            </a: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550" spc="180">
                <a:latin typeface="Trebuchet MS"/>
                <a:cs typeface="Trebuchet MS"/>
              </a:rPr>
              <a:t>p-</a:t>
            </a:r>
            <a:r>
              <a:rPr dirty="0" sz="1550">
                <a:latin typeface="Trebuchet MS"/>
                <a:cs typeface="Trebuchet MS"/>
              </a:rPr>
              <a:t>value:</a:t>
            </a:r>
            <a:r>
              <a:rPr dirty="0" sz="1550" spc="-100">
                <a:latin typeface="Trebuchet MS"/>
                <a:cs typeface="Trebuchet MS"/>
              </a:rPr>
              <a:t> </a:t>
            </a:r>
            <a:r>
              <a:rPr dirty="0" sz="1550" spc="100">
                <a:latin typeface="Trebuchet MS"/>
                <a:cs typeface="Trebuchet MS"/>
              </a:rPr>
              <a:t>0.4308</a:t>
            </a:r>
            <a:endParaRPr sz="1550">
              <a:latin typeface="Trebuchet MS"/>
              <a:cs typeface="Trebuchet MS"/>
            </a:endParaRPr>
          </a:p>
          <a:p>
            <a:pPr marL="12700" marR="5457190">
              <a:lnSpc>
                <a:spcPct val="103000"/>
              </a:lnSpc>
              <a:spcBef>
                <a:spcPts val="40"/>
              </a:spcBef>
            </a:pPr>
            <a:r>
              <a:rPr dirty="0" sz="1550" spc="70">
                <a:latin typeface="Trebuchet MS"/>
                <a:cs typeface="Trebuchet MS"/>
              </a:rPr>
              <a:t>Median</a:t>
            </a:r>
            <a:r>
              <a:rPr dirty="0" sz="1550" spc="12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(Paid):</a:t>
            </a:r>
            <a:r>
              <a:rPr dirty="0" sz="1550" spc="100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2.50 </a:t>
            </a:r>
            <a:r>
              <a:rPr dirty="0" sz="1550" spc="70">
                <a:latin typeface="Trebuchet MS"/>
                <a:cs typeface="Trebuchet MS"/>
              </a:rPr>
              <a:t>Median</a:t>
            </a:r>
            <a:r>
              <a:rPr dirty="0" sz="1550" spc="45">
                <a:latin typeface="Trebuchet MS"/>
                <a:cs typeface="Trebuchet MS"/>
              </a:rPr>
              <a:t> </a:t>
            </a:r>
            <a:r>
              <a:rPr dirty="0" sz="1550" spc="70">
                <a:latin typeface="Trebuchet MS"/>
                <a:cs typeface="Trebuchet MS"/>
              </a:rPr>
              <a:t>(Not</a:t>
            </a:r>
            <a:r>
              <a:rPr dirty="0" sz="1550" spc="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Paid):</a:t>
            </a:r>
            <a:r>
              <a:rPr dirty="0" sz="1550" spc="30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2.00 </a:t>
            </a:r>
            <a:r>
              <a:rPr dirty="0" sz="1550">
                <a:latin typeface="Trebuchet MS"/>
                <a:cs typeface="Trebuchet MS"/>
              </a:rPr>
              <a:t>Effect</a:t>
            </a:r>
            <a:r>
              <a:rPr dirty="0" sz="1550" spc="3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size</a:t>
            </a:r>
            <a:r>
              <a:rPr dirty="0" sz="1550" spc="7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(r):</a:t>
            </a:r>
            <a:r>
              <a:rPr dirty="0" sz="1550" spc="70">
                <a:latin typeface="Trebuchet MS"/>
                <a:cs typeface="Trebuchet MS"/>
              </a:rPr>
              <a:t> </a:t>
            </a:r>
            <a:r>
              <a:rPr dirty="0" sz="1550" spc="254">
                <a:latin typeface="Trebuchet MS"/>
                <a:cs typeface="Trebuchet MS"/>
              </a:rPr>
              <a:t>-</a:t>
            </a:r>
            <a:r>
              <a:rPr dirty="0" sz="1550" spc="70">
                <a:latin typeface="Trebuchet MS"/>
                <a:cs typeface="Trebuchet MS"/>
              </a:rPr>
              <a:t>0.036</a:t>
            </a: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550">
                <a:latin typeface="Trebuchet MS"/>
                <a:cs typeface="Trebuchet MS"/>
              </a:rPr>
              <a:t>(near</a:t>
            </a:r>
            <a:r>
              <a:rPr dirty="0" sz="1550" spc="9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zero,</a:t>
            </a:r>
            <a:r>
              <a:rPr dirty="0" sz="1550" spc="9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slightly</a:t>
            </a:r>
            <a:r>
              <a:rPr dirty="0" sz="1550" spc="75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negative)</a:t>
            </a:r>
            <a:endParaRPr sz="15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550" spc="-10">
                <a:latin typeface="Trebuchet MS"/>
                <a:cs typeface="Trebuchet MS"/>
              </a:rPr>
              <a:t>Interpretation:</a:t>
            </a: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550" spc="85">
                <a:latin typeface="Trebuchet MS"/>
                <a:cs typeface="Trebuchet MS"/>
              </a:rPr>
              <a:t>p</a:t>
            </a:r>
            <a:r>
              <a:rPr dirty="0" sz="1550" spc="45">
                <a:latin typeface="Trebuchet MS"/>
                <a:cs typeface="Trebuchet MS"/>
              </a:rPr>
              <a:t> </a:t>
            </a:r>
            <a:r>
              <a:rPr dirty="0" sz="1550" spc="235">
                <a:latin typeface="Trebuchet MS"/>
                <a:cs typeface="Trebuchet MS"/>
              </a:rPr>
              <a:t>=</a:t>
            </a:r>
            <a:r>
              <a:rPr dirty="0" sz="1550" spc="25">
                <a:latin typeface="Trebuchet MS"/>
                <a:cs typeface="Trebuchet MS"/>
              </a:rPr>
              <a:t> </a:t>
            </a:r>
            <a:r>
              <a:rPr dirty="0" sz="1550" spc="95">
                <a:latin typeface="Trebuchet MS"/>
                <a:cs typeface="Trebuchet MS"/>
              </a:rPr>
              <a:t>0.43</a:t>
            </a:r>
            <a:r>
              <a:rPr dirty="0" sz="1550" spc="60">
                <a:latin typeface="Trebuchet MS"/>
                <a:cs typeface="Trebuchet MS"/>
              </a:rPr>
              <a:t> </a:t>
            </a:r>
            <a:r>
              <a:rPr dirty="0" sz="1550" spc="65">
                <a:latin typeface="Trebuchet MS"/>
                <a:cs typeface="Trebuchet MS"/>
              </a:rPr>
              <a:t>means</a:t>
            </a:r>
            <a:r>
              <a:rPr dirty="0" sz="1550" spc="2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there's</a:t>
            </a:r>
            <a:r>
              <a:rPr dirty="0" sz="1550" spc="2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a</a:t>
            </a:r>
            <a:r>
              <a:rPr dirty="0" sz="1550" spc="20">
                <a:latin typeface="Trebuchet MS"/>
                <a:cs typeface="Trebuchet MS"/>
              </a:rPr>
              <a:t> </a:t>
            </a:r>
            <a:r>
              <a:rPr dirty="0" sz="1550" spc="220">
                <a:latin typeface="Trebuchet MS"/>
                <a:cs typeface="Trebuchet MS"/>
              </a:rPr>
              <a:t>43%</a:t>
            </a:r>
            <a:r>
              <a:rPr dirty="0" sz="1550" spc="30">
                <a:latin typeface="Trebuchet MS"/>
                <a:cs typeface="Trebuchet MS"/>
              </a:rPr>
              <a:t> </a:t>
            </a:r>
            <a:r>
              <a:rPr dirty="0" sz="1550" spc="65">
                <a:latin typeface="Trebuchet MS"/>
                <a:cs typeface="Trebuchet MS"/>
              </a:rPr>
              <a:t>chance</a:t>
            </a:r>
            <a:r>
              <a:rPr dirty="0" sz="1550" spc="4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this</a:t>
            </a:r>
            <a:r>
              <a:rPr dirty="0" sz="1550" spc="10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difference</a:t>
            </a:r>
            <a:r>
              <a:rPr dirty="0" sz="1550" spc="40">
                <a:latin typeface="Trebuchet MS"/>
                <a:cs typeface="Trebuchet MS"/>
              </a:rPr>
              <a:t> </a:t>
            </a:r>
            <a:r>
              <a:rPr dirty="0" sz="1550" spc="60">
                <a:latin typeface="Trebuchet MS"/>
                <a:cs typeface="Trebuchet MS"/>
              </a:rPr>
              <a:t>occurred</a:t>
            </a:r>
            <a:r>
              <a:rPr dirty="0" sz="1550" spc="45">
                <a:latin typeface="Trebuchet MS"/>
                <a:cs typeface="Trebuchet MS"/>
              </a:rPr>
              <a:t> </a:t>
            </a:r>
            <a:r>
              <a:rPr dirty="0" sz="1550" spc="75">
                <a:latin typeface="Trebuchet MS"/>
                <a:cs typeface="Trebuchet MS"/>
              </a:rPr>
              <a:t>by</a:t>
            </a:r>
            <a:r>
              <a:rPr dirty="0" sz="1550" spc="45">
                <a:latin typeface="Trebuchet MS"/>
                <a:cs typeface="Trebuchet MS"/>
              </a:rPr>
              <a:t> </a:t>
            </a:r>
            <a:r>
              <a:rPr dirty="0" sz="1550" spc="65">
                <a:latin typeface="Trebuchet MS"/>
                <a:cs typeface="Trebuchet MS"/>
              </a:rPr>
              <a:t>random</a:t>
            </a:r>
            <a:r>
              <a:rPr dirty="0" sz="1550" spc="35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chance.</a:t>
            </a: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550" spc="60">
                <a:latin typeface="Trebuchet MS"/>
                <a:cs typeface="Trebuchet MS"/>
              </a:rPr>
              <a:t>This</a:t>
            </a:r>
            <a:r>
              <a:rPr dirty="0" sz="1550" spc="7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is</a:t>
            </a:r>
            <a:r>
              <a:rPr dirty="0" sz="1550" spc="160">
                <a:latin typeface="Trebuchet MS"/>
                <a:cs typeface="Trebuchet MS"/>
              </a:rPr>
              <a:t> </a:t>
            </a:r>
            <a:r>
              <a:rPr dirty="0" sz="1550" spc="-20">
                <a:latin typeface="Trebuchet MS"/>
                <a:cs typeface="Trebuchet MS"/>
              </a:rPr>
              <a:t>far</a:t>
            </a:r>
            <a:r>
              <a:rPr dirty="0" sz="1550" spc="1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from</a:t>
            </a:r>
            <a:r>
              <a:rPr dirty="0" sz="1550" spc="8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significant</a:t>
            </a:r>
            <a:r>
              <a:rPr dirty="0" sz="1550" spc="125">
                <a:latin typeface="Trebuchet MS"/>
                <a:cs typeface="Trebuchet MS"/>
              </a:rPr>
              <a:t> </a:t>
            </a:r>
            <a:r>
              <a:rPr dirty="0" sz="1550" spc="60">
                <a:latin typeface="Trebuchet MS"/>
                <a:cs typeface="Trebuchet MS"/>
              </a:rPr>
              <a:t>(need</a:t>
            </a:r>
            <a:r>
              <a:rPr dirty="0" sz="1550" spc="95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p&lt;0.05).</a:t>
            </a:r>
            <a:endParaRPr sz="15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550" b="1">
                <a:latin typeface="Arial"/>
                <a:cs typeface="Arial"/>
              </a:rPr>
              <a:t>H2a</a:t>
            </a:r>
            <a:r>
              <a:rPr dirty="0" sz="1550" spc="135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NOT</a:t>
            </a:r>
            <a:r>
              <a:rPr dirty="0" sz="1550" spc="120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SUPPORTED</a:t>
            </a:r>
            <a:r>
              <a:rPr dirty="0" sz="1550" spc="114" b="1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-</a:t>
            </a:r>
            <a:r>
              <a:rPr dirty="0" sz="1550" spc="13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No</a:t>
            </a:r>
            <a:r>
              <a:rPr dirty="0" sz="1550" spc="13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evidence</a:t>
            </a:r>
            <a:r>
              <a:rPr dirty="0" sz="1550" spc="4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that</a:t>
            </a:r>
            <a:r>
              <a:rPr dirty="0" sz="1550" spc="12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social</a:t>
            </a:r>
            <a:r>
              <a:rPr dirty="0" sz="1550" spc="4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proof</a:t>
            </a:r>
            <a:r>
              <a:rPr dirty="0" sz="1550" spc="12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increases</a:t>
            </a:r>
            <a:r>
              <a:rPr dirty="0" sz="1550" spc="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payment</a:t>
            </a:r>
            <a:r>
              <a:rPr dirty="0" sz="1550" spc="120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likelihood.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Mediation</a:t>
            </a:r>
            <a:r>
              <a:rPr dirty="0" spc="-40"/>
              <a:t> </a:t>
            </a:r>
            <a:r>
              <a:rPr dirty="0"/>
              <a:t>Analysis</a:t>
            </a:r>
            <a:r>
              <a:rPr dirty="0" spc="5"/>
              <a:t> </a:t>
            </a:r>
            <a:r>
              <a:rPr dirty="0"/>
              <a:t>–</a:t>
            </a:r>
            <a:r>
              <a:rPr dirty="0" spc="-30"/>
              <a:t> </a:t>
            </a:r>
            <a:r>
              <a:rPr dirty="0"/>
              <a:t>All</a:t>
            </a:r>
            <a:r>
              <a:rPr dirty="0" spc="-75"/>
              <a:t> </a:t>
            </a:r>
            <a:r>
              <a:rPr dirty="0"/>
              <a:t>paths</a:t>
            </a:r>
            <a:r>
              <a:rPr dirty="0" spc="-15"/>
              <a:t> </a:t>
            </a:r>
            <a:r>
              <a:rPr dirty="0"/>
              <a:t>non -</a:t>
            </a:r>
            <a:r>
              <a:rPr dirty="0" spc="-30"/>
              <a:t> </a:t>
            </a:r>
            <a:r>
              <a:rPr dirty="0" spc="-10"/>
              <a:t>significant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145" y="939736"/>
            <a:ext cx="578993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b="1">
                <a:latin typeface="Trebuchet MS"/>
                <a:cs typeface="Trebuchet MS"/>
              </a:rPr>
              <a:t>Hypothesis:</a:t>
            </a:r>
            <a:r>
              <a:rPr dirty="0" sz="1400" spc="100" b="1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Social</a:t>
            </a:r>
            <a:r>
              <a:rPr dirty="0" sz="1400" spc="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proof</a:t>
            </a:r>
            <a:r>
              <a:rPr dirty="0" sz="1400" spc="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increases</a:t>
            </a:r>
            <a:r>
              <a:rPr dirty="0" sz="1400" spc="7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payment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indirectly</a:t>
            </a:r>
            <a:r>
              <a:rPr dirty="0" sz="1400" spc="9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by</a:t>
            </a:r>
            <a:r>
              <a:rPr dirty="0" sz="1400" spc="9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building</a:t>
            </a:r>
            <a:r>
              <a:rPr dirty="0" sz="1400" spc="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trust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4" name="object 4" descr="A diagram of a model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225" y="1285875"/>
            <a:ext cx="7134225" cy="34671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Mediation</a:t>
            </a:r>
            <a:r>
              <a:rPr dirty="0" spc="-45"/>
              <a:t> </a:t>
            </a:r>
            <a:r>
              <a:rPr dirty="0"/>
              <a:t>Analysis –</a:t>
            </a:r>
            <a:r>
              <a:rPr dirty="0" spc="-30"/>
              <a:t> </a:t>
            </a:r>
            <a:r>
              <a:rPr dirty="0"/>
              <a:t>All</a:t>
            </a:r>
            <a:r>
              <a:rPr dirty="0" spc="-80"/>
              <a:t> </a:t>
            </a:r>
            <a:r>
              <a:rPr dirty="0"/>
              <a:t>paths</a:t>
            </a:r>
            <a:r>
              <a:rPr dirty="0" spc="-20"/>
              <a:t> </a:t>
            </a:r>
            <a:r>
              <a:rPr dirty="0"/>
              <a:t>non</a:t>
            </a:r>
            <a:r>
              <a:rPr dirty="0" spc="-40"/>
              <a:t> </a:t>
            </a:r>
            <a:r>
              <a:rPr dirty="0" spc="-10"/>
              <a:t>significant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145" y="939736"/>
            <a:ext cx="6623684" cy="5143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b="1">
                <a:latin typeface="Trebuchet MS"/>
                <a:cs typeface="Trebuchet MS"/>
              </a:rPr>
              <a:t>Hypothesis:</a:t>
            </a:r>
            <a:r>
              <a:rPr dirty="0" sz="1550" spc="150" b="1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Social</a:t>
            </a:r>
            <a:r>
              <a:rPr dirty="0" sz="1550" spc="5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proof</a:t>
            </a:r>
            <a:r>
              <a:rPr dirty="0" sz="1550" spc="150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increases</a:t>
            </a:r>
            <a:r>
              <a:rPr dirty="0" sz="1550" spc="13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payment</a:t>
            </a:r>
            <a:r>
              <a:rPr dirty="0" sz="1550" spc="19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indirectly</a:t>
            </a:r>
            <a:r>
              <a:rPr dirty="0" sz="1550" spc="160">
                <a:latin typeface="Trebuchet MS"/>
                <a:cs typeface="Trebuchet MS"/>
              </a:rPr>
              <a:t> </a:t>
            </a:r>
            <a:r>
              <a:rPr dirty="0" sz="1550" spc="70">
                <a:latin typeface="Trebuchet MS"/>
                <a:cs typeface="Trebuchet MS"/>
              </a:rPr>
              <a:t>by</a:t>
            </a:r>
            <a:r>
              <a:rPr dirty="0" sz="1550" spc="15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building</a:t>
            </a:r>
            <a:r>
              <a:rPr dirty="0" sz="1550" spc="16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trust</a:t>
            </a: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b="1">
                <a:latin typeface="Trebuchet MS"/>
                <a:cs typeface="Trebuchet MS"/>
              </a:rPr>
              <a:t>Sample:</a:t>
            </a:r>
            <a:r>
              <a:rPr dirty="0" sz="1550" spc="75" b="1">
                <a:latin typeface="Trebuchet MS"/>
                <a:cs typeface="Trebuchet MS"/>
              </a:rPr>
              <a:t> </a:t>
            </a:r>
            <a:r>
              <a:rPr dirty="0" sz="1550" spc="120">
                <a:latin typeface="Trebuchet MS"/>
                <a:cs typeface="Trebuchet MS"/>
              </a:rPr>
              <a:t>N=37</a:t>
            </a:r>
            <a:endParaRPr sz="1550">
              <a:latin typeface="Trebuchet MS"/>
              <a:cs typeface="Trebuchet M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8963" y="2242692"/>
          <a:ext cx="9161780" cy="2162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0"/>
                <a:gridCol w="1828800"/>
                <a:gridCol w="1828800"/>
                <a:gridCol w="1828800"/>
                <a:gridCol w="1763395"/>
              </a:tblGrid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 spc="-20">
                          <a:latin typeface="Trebuchet MS"/>
                          <a:cs typeface="Trebuchet MS"/>
                        </a:rPr>
                        <a:t>Path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 spc="-10">
                          <a:latin typeface="Trebuchet MS"/>
                          <a:cs typeface="Trebuchet MS"/>
                        </a:rPr>
                        <a:t>Coefficient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 spc="140">
                          <a:latin typeface="Trebuchet MS"/>
                          <a:cs typeface="Trebuchet MS"/>
                        </a:rPr>
                        <a:t>p-</a:t>
                      </a:r>
                      <a:r>
                        <a:rPr dirty="0" sz="1400" spc="-10">
                          <a:latin typeface="Trebuchet MS"/>
                          <a:cs typeface="Trebuchet MS"/>
                        </a:rPr>
                        <a:t>value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 spc="-25">
                          <a:latin typeface="Trebuchet MS"/>
                          <a:cs typeface="Trebuchet MS"/>
                        </a:rPr>
                        <a:t>R²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 spc="-10">
                          <a:latin typeface="Trebuchet MS"/>
                          <a:cs typeface="Trebuchet MS"/>
                        </a:rPr>
                        <a:t>Result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F3F3F3"/>
                      </a:solidFill>
                      <a:prstDash val="solid"/>
                    </a:lnL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91440">
                        <a:lnSpc>
                          <a:spcPts val="1664"/>
                        </a:lnSpc>
                        <a:spcBef>
                          <a:spcPts val="350"/>
                        </a:spcBef>
                      </a:pPr>
                      <a:r>
                        <a:rPr dirty="0" sz="1400" spc="100">
                          <a:latin typeface="Trebuchet MS"/>
                          <a:cs typeface="Trebuchet MS"/>
                        </a:rPr>
                        <a:t>c</a:t>
                      </a:r>
                      <a:r>
                        <a:rPr dirty="0" sz="1400" spc="-25">
                          <a:latin typeface="Trebuchet MS"/>
                          <a:cs typeface="Trebuchet MS"/>
                        </a:rPr>
                        <a:t> (Total:</a:t>
                      </a:r>
                      <a:r>
                        <a:rPr dirty="0" sz="1400" spc="-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114">
                          <a:latin typeface="Trebuchet MS"/>
                          <a:cs typeface="Trebuchet MS"/>
                        </a:rPr>
                        <a:t>SP</a:t>
                      </a:r>
                      <a:r>
                        <a:rPr dirty="0" sz="1400" spc="-9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→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ts val="1664"/>
                        </a:lnSpc>
                      </a:pPr>
                      <a:r>
                        <a:rPr dirty="0" sz="1400" spc="-10">
                          <a:latin typeface="Trebuchet MS"/>
                          <a:cs typeface="Trebuchet MS"/>
                        </a:rPr>
                        <a:t>Payment)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dirty="0" sz="1400" spc="60">
                          <a:latin typeface="Cambria"/>
                          <a:cs typeface="Cambria"/>
                        </a:rPr>
                        <a:t>β</a:t>
                      </a:r>
                      <a:r>
                        <a:rPr dirty="0" sz="1400" spc="60">
                          <a:latin typeface="Trebuchet MS"/>
                          <a:cs typeface="Trebuchet MS"/>
                        </a:rPr>
                        <a:t>=0.009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15113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dirty="0" sz="1400" spc="70">
                          <a:latin typeface="Trebuchet MS"/>
                          <a:cs typeface="Trebuchet MS"/>
                        </a:rPr>
                        <a:t>p=0.893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15113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dirty="0" sz="1400" spc="-10">
                          <a:latin typeface="Trebuchet MS"/>
                          <a:cs typeface="Trebuchet MS"/>
                        </a:rPr>
                        <a:t>R²=0.001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15113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dirty="0" sz="1400" spc="70">
                          <a:latin typeface="Trebuchet MS"/>
                          <a:cs typeface="Trebuchet MS"/>
                        </a:rPr>
                        <a:t>NS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151130">
                    <a:lnL w="12700">
                      <a:solidFill>
                        <a:srgbClr val="F3F3F3"/>
                      </a:solidFill>
                      <a:prstDash val="solid"/>
                    </a:lnL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40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dirty="0" sz="140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80">
                          <a:latin typeface="Trebuchet MS"/>
                          <a:cs typeface="Trebuchet MS"/>
                        </a:rPr>
                        <a:t>(SP</a:t>
                      </a:r>
                      <a:r>
                        <a:rPr dirty="0" sz="140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14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rebuchet MS"/>
                          <a:cs typeface="Trebuchet MS"/>
                        </a:rPr>
                        <a:t>Trust)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400" spc="-10">
                          <a:latin typeface="Cambria"/>
                          <a:cs typeface="Cambria"/>
                        </a:rPr>
                        <a:t>β</a:t>
                      </a:r>
                      <a:r>
                        <a:rPr dirty="0" sz="1400" spc="-10">
                          <a:latin typeface="Trebuchet MS"/>
                          <a:cs typeface="Trebuchet MS"/>
                        </a:rPr>
                        <a:t>=0.105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400" spc="85">
                          <a:latin typeface="Trebuchet MS"/>
                          <a:cs typeface="Trebuchet MS"/>
                        </a:rPr>
                        <a:t>p=0.405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400" spc="35">
                          <a:latin typeface="Trebuchet MS"/>
                          <a:cs typeface="Trebuchet MS"/>
                        </a:rPr>
                        <a:t>R²=0.020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400" spc="70">
                          <a:latin typeface="Trebuchet MS"/>
                          <a:cs typeface="Trebuchet MS"/>
                        </a:rPr>
                        <a:t>NS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3F3F3"/>
                      </a:solidFill>
                      <a:prstDash val="solid"/>
                    </a:lnL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91440">
                        <a:lnSpc>
                          <a:spcPts val="1670"/>
                        </a:lnSpc>
                        <a:spcBef>
                          <a:spcPts val="360"/>
                        </a:spcBef>
                      </a:pPr>
                      <a:r>
                        <a:rPr dirty="0" sz="1400" spc="85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dirty="0" sz="1400" spc="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latin typeface="Trebuchet MS"/>
                          <a:cs typeface="Trebuchet MS"/>
                        </a:rPr>
                        <a:t>(Trust</a:t>
                      </a:r>
                      <a:r>
                        <a:rPr dirty="0" sz="1400" spc="-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1400" spc="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rebuchet MS"/>
                          <a:cs typeface="Trebuchet MS"/>
                        </a:rPr>
                        <a:t>Payment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1440">
                        <a:lnSpc>
                          <a:spcPts val="1670"/>
                        </a:lnSpc>
                      </a:pPr>
                      <a:r>
                        <a:rPr dirty="0" sz="1400" spc="-340">
                          <a:latin typeface="Trebuchet MS"/>
                          <a:cs typeface="Trebuchet MS"/>
                        </a:rPr>
                        <a:t>|</a:t>
                      </a:r>
                      <a:r>
                        <a:rPr dirty="0" sz="140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60">
                          <a:latin typeface="Trebuchet MS"/>
                          <a:cs typeface="Trebuchet MS"/>
                        </a:rPr>
                        <a:t>SP)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dirty="0" sz="1400" spc="75">
                          <a:latin typeface="Cambria"/>
                          <a:cs typeface="Cambria"/>
                        </a:rPr>
                        <a:t>β</a:t>
                      </a:r>
                      <a:r>
                        <a:rPr dirty="0" sz="1400" spc="75">
                          <a:latin typeface="Trebuchet MS"/>
                          <a:cs typeface="Trebuchet MS"/>
                        </a:rPr>
                        <a:t>=0.084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15240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dirty="0" sz="1400" spc="55">
                          <a:latin typeface="Trebuchet MS"/>
                          <a:cs typeface="Trebuchet MS"/>
                        </a:rPr>
                        <a:t>p=0.378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15240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dirty="0" sz="1400" spc="40">
                          <a:latin typeface="Trebuchet MS"/>
                          <a:cs typeface="Trebuchet MS"/>
                        </a:rPr>
                        <a:t>R²=0.024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15240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dirty="0" sz="1400" spc="70">
                          <a:latin typeface="Trebuchet MS"/>
                          <a:cs typeface="Trebuchet MS"/>
                        </a:rPr>
                        <a:t>NS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152400">
                    <a:lnL w="12700">
                      <a:solidFill>
                        <a:srgbClr val="F3F3F3"/>
                      </a:solidFill>
                      <a:prstDash val="solid"/>
                    </a:lnL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91440">
                        <a:lnSpc>
                          <a:spcPts val="1670"/>
                        </a:lnSpc>
                        <a:spcBef>
                          <a:spcPts val="365"/>
                        </a:spcBef>
                      </a:pPr>
                      <a:r>
                        <a:rPr dirty="0" sz="1400" spc="50">
                          <a:latin typeface="Trebuchet MS"/>
                          <a:cs typeface="Trebuchet MS"/>
                        </a:rPr>
                        <a:t>c'</a:t>
                      </a:r>
                      <a:r>
                        <a:rPr dirty="0" sz="140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latin typeface="Trebuchet MS"/>
                          <a:cs typeface="Trebuchet MS"/>
                        </a:rPr>
                        <a:t>(Direct:</a:t>
                      </a:r>
                      <a:r>
                        <a:rPr dirty="0" sz="140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114">
                          <a:latin typeface="Trebuchet MS"/>
                          <a:cs typeface="Trebuchet MS"/>
                        </a:rPr>
                        <a:t>SP</a:t>
                      </a:r>
                      <a:r>
                        <a:rPr dirty="0" sz="1400" spc="-8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→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ts val="1670"/>
                        </a:lnSpc>
                      </a:pPr>
                      <a:r>
                        <a:rPr dirty="0" sz="1400">
                          <a:latin typeface="Trebuchet MS"/>
                          <a:cs typeface="Trebuchet MS"/>
                        </a:rPr>
                        <a:t>Payment</a:t>
                      </a:r>
                      <a:r>
                        <a:rPr dirty="0" sz="140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340">
                          <a:latin typeface="Trebuchet MS"/>
                          <a:cs typeface="Trebuchet MS"/>
                        </a:rPr>
                        <a:t>|</a:t>
                      </a:r>
                      <a:r>
                        <a:rPr dirty="0" sz="1400" spc="1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>
                          <a:latin typeface="Trebuchet MS"/>
                          <a:cs typeface="Trebuchet MS"/>
                        </a:rPr>
                        <a:t>Trust)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dirty="0" sz="1400" spc="-10">
                          <a:latin typeface="Cambria"/>
                          <a:cs typeface="Cambria"/>
                        </a:rPr>
                        <a:t>β</a:t>
                      </a:r>
                      <a:r>
                        <a:rPr dirty="0" sz="1400" spc="-10">
                          <a:latin typeface="Trebuchet MS"/>
                          <a:cs typeface="Trebuchet MS"/>
                        </a:rPr>
                        <a:t>=0.001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15367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dirty="0" sz="1400" spc="70">
                          <a:latin typeface="Trebuchet MS"/>
                          <a:cs typeface="Trebuchet MS"/>
                        </a:rPr>
                        <a:t>p=0.994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15367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dirty="0" sz="1400" spc="40">
                          <a:latin typeface="Trebuchet MS"/>
                          <a:cs typeface="Trebuchet MS"/>
                        </a:rPr>
                        <a:t>R²=0.024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15367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dirty="0" sz="1400" spc="70">
                          <a:latin typeface="Trebuchet MS"/>
                          <a:cs typeface="Trebuchet MS"/>
                        </a:rPr>
                        <a:t>NS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153670">
                    <a:lnL w="12700">
                      <a:solidFill>
                        <a:srgbClr val="F3F3F3"/>
                      </a:solidFill>
                      <a:prstDash val="solid"/>
                    </a:lnL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Mediation</a:t>
            </a:r>
            <a:r>
              <a:rPr dirty="0" spc="-40"/>
              <a:t> </a:t>
            </a:r>
            <a:r>
              <a:rPr dirty="0"/>
              <a:t>Analysis</a:t>
            </a:r>
            <a:r>
              <a:rPr dirty="0" spc="5"/>
              <a:t> </a:t>
            </a:r>
            <a:r>
              <a:rPr dirty="0"/>
              <a:t>–</a:t>
            </a:r>
            <a:r>
              <a:rPr dirty="0" spc="-30"/>
              <a:t> </a:t>
            </a:r>
            <a:r>
              <a:rPr dirty="0"/>
              <a:t>All</a:t>
            </a:r>
            <a:r>
              <a:rPr dirty="0" spc="-75"/>
              <a:t> </a:t>
            </a:r>
            <a:r>
              <a:rPr dirty="0"/>
              <a:t>paths</a:t>
            </a:r>
            <a:r>
              <a:rPr dirty="0" spc="-15"/>
              <a:t> </a:t>
            </a:r>
            <a:r>
              <a:rPr dirty="0"/>
              <a:t>non -</a:t>
            </a:r>
            <a:r>
              <a:rPr dirty="0" spc="-30"/>
              <a:t> </a:t>
            </a:r>
            <a:r>
              <a:rPr dirty="0" spc="-10"/>
              <a:t>significant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145" y="939736"/>
            <a:ext cx="6849109" cy="1951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800">
                <a:latin typeface="Trebuchet MS"/>
                <a:cs typeface="Trebuchet MS"/>
              </a:rPr>
              <a:t>Social proof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 spc="45">
                <a:latin typeface="Trebuchet MS"/>
                <a:cs typeface="Trebuchet MS"/>
              </a:rPr>
              <a:t>doesn't</a:t>
            </a:r>
            <a:r>
              <a:rPr dirty="0" sz="1800" spc="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predict</a:t>
            </a:r>
            <a:r>
              <a:rPr dirty="0" sz="1800" spc="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payment</a:t>
            </a:r>
            <a:r>
              <a:rPr dirty="0" sz="1800" spc="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directly</a:t>
            </a:r>
            <a:r>
              <a:rPr dirty="0" sz="1800" spc="15">
                <a:latin typeface="Trebuchet MS"/>
                <a:cs typeface="Trebuchet MS"/>
              </a:rPr>
              <a:t> </a:t>
            </a:r>
            <a:r>
              <a:rPr dirty="0" sz="1800" spc="90">
                <a:latin typeface="Trebuchet MS"/>
                <a:cs typeface="Trebuchet MS"/>
              </a:rPr>
              <a:t>(c</a:t>
            </a:r>
            <a:r>
              <a:rPr dirty="0" sz="1800" spc="15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path:</a:t>
            </a:r>
            <a:r>
              <a:rPr dirty="0" sz="1800" spc="50">
                <a:latin typeface="Trebuchet MS"/>
                <a:cs typeface="Trebuchet MS"/>
              </a:rPr>
              <a:t> </a:t>
            </a:r>
            <a:r>
              <a:rPr dirty="0" sz="1800" spc="80">
                <a:latin typeface="Trebuchet MS"/>
                <a:cs typeface="Trebuchet MS"/>
              </a:rPr>
              <a:t>p=0.89)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800">
                <a:latin typeface="Trebuchet MS"/>
                <a:cs typeface="Trebuchet MS"/>
              </a:rPr>
              <a:t>Social</a:t>
            </a:r>
            <a:r>
              <a:rPr dirty="0" sz="1800" spc="1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proof</a:t>
            </a:r>
            <a:r>
              <a:rPr dirty="0" sz="1800" spc="-15">
                <a:latin typeface="Trebuchet MS"/>
                <a:cs typeface="Trebuchet MS"/>
              </a:rPr>
              <a:t> </a:t>
            </a:r>
            <a:r>
              <a:rPr dirty="0" sz="1800" spc="45">
                <a:latin typeface="Trebuchet MS"/>
                <a:cs typeface="Trebuchet MS"/>
              </a:rPr>
              <a:t>doesn't</a:t>
            </a:r>
            <a:r>
              <a:rPr dirty="0" sz="1800" spc="1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predict</a:t>
            </a:r>
            <a:r>
              <a:rPr dirty="0" sz="1800" spc="1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trust</a:t>
            </a:r>
            <a:r>
              <a:rPr dirty="0" sz="1800" spc="1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(a</a:t>
            </a:r>
            <a:r>
              <a:rPr dirty="0" sz="1800" spc="-5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path: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p=0.41)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Arial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800">
                <a:latin typeface="Trebuchet MS"/>
                <a:cs typeface="Trebuchet MS"/>
              </a:rPr>
              <a:t>Trust</a:t>
            </a:r>
            <a:r>
              <a:rPr dirty="0" sz="1800" spc="-10">
                <a:latin typeface="Trebuchet MS"/>
                <a:cs typeface="Trebuchet MS"/>
              </a:rPr>
              <a:t> </a:t>
            </a:r>
            <a:r>
              <a:rPr dirty="0" sz="1800" spc="45">
                <a:latin typeface="Trebuchet MS"/>
                <a:cs typeface="Trebuchet MS"/>
              </a:rPr>
              <a:t>doesn't</a:t>
            </a:r>
            <a:r>
              <a:rPr dirty="0" sz="1800" spc="-1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predict</a:t>
            </a:r>
            <a:r>
              <a:rPr dirty="0" sz="1800" spc="-1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payment</a:t>
            </a:r>
            <a:r>
              <a:rPr dirty="0" sz="1800" spc="-10">
                <a:latin typeface="Trebuchet MS"/>
                <a:cs typeface="Trebuchet MS"/>
              </a:rPr>
              <a:t> </a:t>
            </a:r>
            <a:r>
              <a:rPr dirty="0" sz="1800" spc="85">
                <a:latin typeface="Trebuchet MS"/>
                <a:cs typeface="Trebuchet MS"/>
              </a:rPr>
              <a:t>(b</a:t>
            </a:r>
            <a:r>
              <a:rPr dirty="0" sz="1800" spc="-15">
                <a:latin typeface="Trebuchet MS"/>
                <a:cs typeface="Trebuchet MS"/>
              </a:rPr>
              <a:t> </a:t>
            </a:r>
            <a:r>
              <a:rPr dirty="0" sz="1800" spc="-30">
                <a:latin typeface="Trebuchet MS"/>
                <a:cs typeface="Trebuchet MS"/>
              </a:rPr>
              <a:t>path:</a:t>
            </a:r>
            <a:r>
              <a:rPr dirty="0" sz="1800" spc="35">
                <a:latin typeface="Trebuchet MS"/>
                <a:cs typeface="Trebuchet MS"/>
              </a:rPr>
              <a:t> </a:t>
            </a:r>
            <a:r>
              <a:rPr dirty="0" sz="1800" spc="85">
                <a:latin typeface="Trebuchet MS"/>
                <a:cs typeface="Trebuchet MS"/>
              </a:rPr>
              <a:t>p=0.38)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Arial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800" b="1">
                <a:latin typeface="Trebuchet MS"/>
                <a:cs typeface="Trebuchet MS"/>
              </a:rPr>
              <a:t>Zero</a:t>
            </a:r>
            <a:r>
              <a:rPr dirty="0" sz="1800" spc="-90" b="1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evidence</a:t>
            </a:r>
            <a:r>
              <a:rPr dirty="0" sz="1800" spc="-114" b="1">
                <a:latin typeface="Trebuchet MS"/>
                <a:cs typeface="Trebuchet MS"/>
              </a:rPr>
              <a:t> </a:t>
            </a:r>
            <a:r>
              <a:rPr dirty="0" sz="1800" spc="-10" b="1">
                <a:latin typeface="Trebuchet MS"/>
                <a:cs typeface="Trebuchet MS"/>
              </a:rPr>
              <a:t>for</a:t>
            </a:r>
            <a:r>
              <a:rPr dirty="0" sz="1800" spc="-90" b="1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this</a:t>
            </a:r>
            <a:r>
              <a:rPr dirty="0" sz="1800" spc="-70" b="1">
                <a:latin typeface="Trebuchet MS"/>
                <a:cs typeface="Trebuchet MS"/>
              </a:rPr>
              <a:t> </a:t>
            </a:r>
            <a:r>
              <a:rPr dirty="0" sz="1800" spc="-10" b="1">
                <a:latin typeface="Trebuchet MS"/>
                <a:cs typeface="Trebuchet MS"/>
              </a:rPr>
              <a:t>mechanism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Loss</a:t>
            </a:r>
            <a:r>
              <a:rPr dirty="0" spc="-10"/>
              <a:t> Aversion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145" y="939736"/>
            <a:ext cx="8550910" cy="30702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83820" indent="-78105">
              <a:lnSpc>
                <a:spcPct val="100000"/>
              </a:lnSpc>
              <a:spcBef>
                <a:spcPts val="125"/>
              </a:spcBef>
              <a:buSzPct val="93548"/>
              <a:buFont typeface="Arial"/>
              <a:buChar char="•"/>
              <a:tabLst>
                <a:tab pos="83820" algn="l"/>
              </a:tabLst>
            </a:pPr>
            <a:r>
              <a:rPr dirty="0" sz="1550" b="1">
                <a:latin typeface="Trebuchet MS"/>
                <a:cs typeface="Trebuchet MS"/>
              </a:rPr>
              <a:t>Kahneman</a:t>
            </a:r>
            <a:r>
              <a:rPr dirty="0" sz="1550" spc="70" b="1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&amp;</a:t>
            </a:r>
            <a:r>
              <a:rPr dirty="0" sz="1550" spc="100" b="1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Tversky</a:t>
            </a:r>
            <a:r>
              <a:rPr dirty="0" sz="1550" spc="75" b="1">
                <a:latin typeface="Trebuchet MS"/>
                <a:cs typeface="Trebuchet MS"/>
              </a:rPr>
              <a:t> </a:t>
            </a:r>
            <a:r>
              <a:rPr dirty="0" sz="1550" spc="-25" b="1">
                <a:latin typeface="Trebuchet MS"/>
                <a:cs typeface="Trebuchet MS"/>
              </a:rPr>
              <a:t>(1979):</a:t>
            </a:r>
            <a:r>
              <a:rPr dirty="0" sz="1550" spc="70" b="1">
                <a:latin typeface="Trebuchet MS"/>
                <a:cs typeface="Trebuchet MS"/>
              </a:rPr>
              <a:t> </a:t>
            </a:r>
            <a:r>
              <a:rPr dirty="0" sz="1550" spc="60">
                <a:latin typeface="Trebuchet MS"/>
                <a:cs typeface="Trebuchet MS"/>
              </a:rPr>
              <a:t>Prospect</a:t>
            </a:r>
            <a:r>
              <a:rPr dirty="0" sz="1550" spc="95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Theory</a:t>
            </a:r>
            <a:endParaRPr sz="1550">
              <a:latin typeface="Trebuchet MS"/>
              <a:cs typeface="Trebuchet MS"/>
            </a:endParaRPr>
          </a:p>
          <a:p>
            <a:pPr marL="12700" marR="5080" indent="-6985">
              <a:lnSpc>
                <a:spcPct val="101099"/>
              </a:lnSpc>
              <a:spcBef>
                <a:spcPts val="75"/>
              </a:spcBef>
              <a:buSzPct val="93548"/>
              <a:buFont typeface="Arial"/>
              <a:buChar char="•"/>
              <a:tabLst>
                <a:tab pos="83820" algn="l"/>
              </a:tabLst>
            </a:pPr>
            <a:r>
              <a:rPr dirty="0" sz="1550" spc="95">
                <a:latin typeface="Trebuchet MS"/>
                <a:cs typeface="Trebuchet MS"/>
              </a:rPr>
              <a:t>	</a:t>
            </a:r>
            <a:r>
              <a:rPr dirty="0" sz="1550" spc="95">
                <a:latin typeface="Trebuchet MS"/>
                <a:cs typeface="Trebuchet MS"/>
              </a:rPr>
              <a:t>Losses</a:t>
            </a:r>
            <a:r>
              <a:rPr dirty="0" sz="1550" spc="90">
                <a:latin typeface="Trebuchet MS"/>
                <a:cs typeface="Trebuchet MS"/>
              </a:rPr>
              <a:t> </a:t>
            </a:r>
            <a:r>
              <a:rPr dirty="0" sz="1550" spc="70">
                <a:latin typeface="Trebuchet MS"/>
                <a:cs typeface="Trebuchet MS"/>
              </a:rPr>
              <a:t>loom</a:t>
            </a:r>
            <a:r>
              <a:rPr dirty="0" sz="1550" spc="11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larger</a:t>
            </a:r>
            <a:r>
              <a:rPr dirty="0" sz="1550" spc="3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than</a:t>
            </a:r>
            <a:r>
              <a:rPr dirty="0" sz="1550" spc="11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equivalent</a:t>
            </a:r>
            <a:r>
              <a:rPr dirty="0" sz="1550" spc="14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gains.</a:t>
            </a:r>
            <a:r>
              <a:rPr dirty="0" sz="1550" spc="9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People</a:t>
            </a:r>
            <a:r>
              <a:rPr dirty="0" sz="1550" spc="11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are</a:t>
            </a:r>
            <a:r>
              <a:rPr dirty="0" sz="1550" spc="105">
                <a:latin typeface="Trebuchet MS"/>
                <a:cs typeface="Trebuchet MS"/>
              </a:rPr>
              <a:t> </a:t>
            </a:r>
            <a:r>
              <a:rPr dirty="0" sz="1550" spc="65">
                <a:latin typeface="Trebuchet MS"/>
                <a:cs typeface="Trebuchet MS"/>
              </a:rPr>
              <a:t>risk-</a:t>
            </a:r>
            <a:r>
              <a:rPr dirty="0" sz="1550">
                <a:latin typeface="Trebuchet MS"/>
                <a:cs typeface="Trebuchet MS"/>
              </a:rPr>
              <a:t>averse</a:t>
            </a:r>
            <a:r>
              <a:rPr dirty="0" sz="1550" spc="10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for</a:t>
            </a:r>
            <a:r>
              <a:rPr dirty="0" sz="1550" spc="125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gains</a:t>
            </a:r>
            <a:r>
              <a:rPr dirty="0" sz="1550" spc="18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but</a:t>
            </a:r>
            <a:r>
              <a:rPr dirty="0" sz="1550" spc="50">
                <a:latin typeface="Trebuchet MS"/>
                <a:cs typeface="Trebuchet MS"/>
              </a:rPr>
              <a:t> </a:t>
            </a:r>
            <a:r>
              <a:rPr dirty="0" sz="1550" spc="75">
                <a:latin typeface="Trebuchet MS"/>
                <a:cs typeface="Trebuchet MS"/>
              </a:rPr>
              <a:t>risk-</a:t>
            </a:r>
            <a:r>
              <a:rPr dirty="0" sz="1550" spc="55">
                <a:latin typeface="Trebuchet MS"/>
                <a:cs typeface="Trebuchet MS"/>
              </a:rPr>
              <a:t>seeking </a:t>
            </a:r>
            <a:r>
              <a:rPr dirty="0" sz="1550">
                <a:latin typeface="Trebuchet MS"/>
                <a:cs typeface="Trebuchet MS"/>
              </a:rPr>
              <a:t>to</a:t>
            </a:r>
            <a:r>
              <a:rPr dirty="0" sz="1550" spc="-15">
                <a:latin typeface="Trebuchet MS"/>
                <a:cs typeface="Trebuchet MS"/>
              </a:rPr>
              <a:t> </a:t>
            </a:r>
            <a:r>
              <a:rPr dirty="0" sz="1550" spc="60">
                <a:latin typeface="Trebuchet MS"/>
                <a:cs typeface="Trebuchet MS"/>
              </a:rPr>
              <a:t>avoid</a:t>
            </a:r>
            <a:r>
              <a:rPr dirty="0" sz="1550" spc="4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losses.</a:t>
            </a:r>
            <a:endParaRPr sz="15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45"/>
              </a:spcBef>
              <a:buFont typeface="Arial"/>
              <a:buChar char="•"/>
            </a:pPr>
            <a:endParaRPr sz="1550">
              <a:latin typeface="Trebuchet MS"/>
              <a:cs typeface="Trebuchet MS"/>
            </a:endParaRPr>
          </a:p>
          <a:p>
            <a:pPr marL="83185" indent="-77470">
              <a:lnSpc>
                <a:spcPct val="100000"/>
              </a:lnSpc>
              <a:buSzPct val="93548"/>
              <a:buFont typeface="Arial"/>
              <a:buChar char="•"/>
              <a:tabLst>
                <a:tab pos="83185" algn="l"/>
              </a:tabLst>
            </a:pPr>
            <a:r>
              <a:rPr dirty="0" sz="1550" b="1">
                <a:latin typeface="Trebuchet MS"/>
                <a:cs typeface="Trebuchet MS"/>
              </a:rPr>
              <a:t>Key</a:t>
            </a:r>
            <a:r>
              <a:rPr dirty="0" sz="1550" spc="135" b="1">
                <a:latin typeface="Trebuchet MS"/>
                <a:cs typeface="Trebuchet MS"/>
              </a:rPr>
              <a:t> </a:t>
            </a:r>
            <a:r>
              <a:rPr dirty="0" sz="1550" spc="-10" b="1">
                <a:latin typeface="Trebuchet MS"/>
                <a:cs typeface="Trebuchet MS"/>
              </a:rPr>
              <a:t>Mechanism:</a:t>
            </a:r>
            <a:endParaRPr sz="1550">
              <a:latin typeface="Trebuchet MS"/>
              <a:cs typeface="Trebuchet MS"/>
            </a:endParaRPr>
          </a:p>
          <a:p>
            <a:pPr marL="83820" indent="-78105">
              <a:lnSpc>
                <a:spcPct val="100000"/>
              </a:lnSpc>
              <a:spcBef>
                <a:spcPts val="20"/>
              </a:spcBef>
              <a:buSzPct val="93548"/>
              <a:buFont typeface="Arial"/>
              <a:buChar char="•"/>
              <a:tabLst>
                <a:tab pos="83820" algn="l"/>
              </a:tabLst>
            </a:pPr>
            <a:r>
              <a:rPr dirty="0" sz="1550" spc="60">
                <a:latin typeface="Trebuchet MS"/>
                <a:cs typeface="Trebuchet MS"/>
              </a:rPr>
              <a:t>Framing</a:t>
            </a:r>
            <a:r>
              <a:rPr dirty="0" sz="1550" spc="120">
                <a:latin typeface="Trebuchet MS"/>
                <a:cs typeface="Trebuchet MS"/>
              </a:rPr>
              <a:t> </a:t>
            </a:r>
            <a:r>
              <a:rPr dirty="0" sz="1550" spc="70">
                <a:latin typeface="Trebuchet MS"/>
                <a:cs typeface="Trebuchet MS"/>
              </a:rPr>
              <a:t>outcome</a:t>
            </a:r>
            <a:r>
              <a:rPr dirty="0" sz="1550" spc="114">
                <a:latin typeface="Trebuchet MS"/>
                <a:cs typeface="Trebuchet MS"/>
              </a:rPr>
              <a:t> </a:t>
            </a:r>
            <a:r>
              <a:rPr dirty="0" sz="1550" spc="65">
                <a:latin typeface="Trebuchet MS"/>
                <a:cs typeface="Trebuchet MS"/>
              </a:rPr>
              <a:t>as</a:t>
            </a:r>
            <a:r>
              <a:rPr dirty="0" sz="1550" spc="19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potential</a:t>
            </a:r>
            <a:r>
              <a:rPr dirty="0" sz="1550" spc="85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loss</a:t>
            </a:r>
            <a:r>
              <a:rPr dirty="0" sz="1550" spc="130" b="1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(losing</a:t>
            </a:r>
            <a:r>
              <a:rPr dirty="0" sz="1550" spc="12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opportunity)</a:t>
            </a:r>
            <a:r>
              <a:rPr dirty="0" sz="1550" spc="145">
                <a:latin typeface="Trebuchet MS"/>
                <a:cs typeface="Trebuchet MS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→</a:t>
            </a:r>
            <a:r>
              <a:rPr dirty="0" sz="1550" spc="210">
                <a:latin typeface="Times New Roman"/>
                <a:cs typeface="Times New Roman"/>
              </a:rPr>
              <a:t> </a:t>
            </a:r>
            <a:r>
              <a:rPr dirty="0" sz="1550">
                <a:latin typeface="Trebuchet MS"/>
                <a:cs typeface="Trebuchet MS"/>
              </a:rPr>
              <a:t>Extreme</a:t>
            </a:r>
            <a:r>
              <a:rPr dirty="0" sz="1550" spc="114">
                <a:latin typeface="Trebuchet MS"/>
                <a:cs typeface="Trebuchet MS"/>
              </a:rPr>
              <a:t> </a:t>
            </a:r>
            <a:r>
              <a:rPr dirty="0" sz="1550" spc="65">
                <a:latin typeface="Trebuchet MS"/>
                <a:cs typeface="Trebuchet MS"/>
              </a:rPr>
              <a:t>risk-</a:t>
            </a:r>
            <a:r>
              <a:rPr dirty="0" sz="1550" spc="-10">
                <a:latin typeface="Trebuchet MS"/>
                <a:cs typeface="Trebuchet MS"/>
              </a:rPr>
              <a:t>taking</a:t>
            </a:r>
            <a:endParaRPr sz="1550">
              <a:latin typeface="Trebuchet MS"/>
              <a:cs typeface="Trebuchet MS"/>
            </a:endParaRPr>
          </a:p>
          <a:p>
            <a:pPr marL="83185" indent="-77470">
              <a:lnSpc>
                <a:spcPct val="100000"/>
              </a:lnSpc>
              <a:spcBef>
                <a:spcPts val="90"/>
              </a:spcBef>
              <a:buSzPct val="93548"/>
              <a:buFont typeface="Arial"/>
              <a:buChar char="•"/>
              <a:tabLst>
                <a:tab pos="83185" algn="l"/>
              </a:tabLst>
            </a:pPr>
            <a:r>
              <a:rPr dirty="0" sz="1550" spc="55">
                <a:latin typeface="Trebuchet MS"/>
                <a:cs typeface="Trebuchet MS"/>
              </a:rPr>
              <a:t>Time</a:t>
            </a:r>
            <a:r>
              <a:rPr dirty="0" sz="1550" spc="20">
                <a:latin typeface="Trebuchet MS"/>
                <a:cs typeface="Trebuchet MS"/>
              </a:rPr>
              <a:t> </a:t>
            </a:r>
            <a:r>
              <a:rPr dirty="0" sz="1550" spc="45">
                <a:latin typeface="Trebuchet MS"/>
                <a:cs typeface="Trebuchet MS"/>
              </a:rPr>
              <a:t>pressure</a:t>
            </a:r>
            <a:r>
              <a:rPr dirty="0" sz="1550" spc="25">
                <a:latin typeface="Trebuchet MS"/>
                <a:cs typeface="Trebuchet MS"/>
              </a:rPr>
              <a:t> </a:t>
            </a:r>
            <a:r>
              <a:rPr dirty="0" sz="1550" spc="45">
                <a:latin typeface="Trebuchet MS"/>
                <a:cs typeface="Trebuchet MS"/>
              </a:rPr>
              <a:t>creates</a:t>
            </a:r>
            <a:r>
              <a:rPr dirty="0" sz="1550" spc="20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urgency</a:t>
            </a:r>
            <a:r>
              <a:rPr dirty="0" sz="1550" spc="50">
                <a:latin typeface="Trebuchet MS"/>
                <a:cs typeface="Trebuchet MS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→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rebuchet MS"/>
                <a:cs typeface="Trebuchet MS"/>
              </a:rPr>
              <a:t>Fear</a:t>
            </a:r>
            <a:r>
              <a:rPr dirty="0" sz="1550" spc="4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of</a:t>
            </a:r>
            <a:r>
              <a:rPr dirty="0" sz="1550" spc="25">
                <a:latin typeface="Trebuchet MS"/>
                <a:cs typeface="Trebuchet MS"/>
              </a:rPr>
              <a:t> </a:t>
            </a:r>
            <a:r>
              <a:rPr dirty="0" sz="1550" spc="85">
                <a:latin typeface="Trebuchet MS"/>
                <a:cs typeface="Trebuchet MS"/>
              </a:rPr>
              <a:t>missing</a:t>
            </a:r>
            <a:r>
              <a:rPr dirty="0" sz="1550" spc="2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out</a:t>
            </a:r>
            <a:r>
              <a:rPr dirty="0" sz="1550" spc="60">
                <a:latin typeface="Trebuchet MS"/>
                <a:cs typeface="Trebuchet MS"/>
              </a:rPr>
              <a:t> </a:t>
            </a:r>
            <a:r>
              <a:rPr dirty="0" sz="1550" spc="140">
                <a:latin typeface="Trebuchet MS"/>
                <a:cs typeface="Trebuchet MS"/>
              </a:rPr>
              <a:t>(FOMO)</a:t>
            </a:r>
            <a:endParaRPr sz="15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550">
              <a:latin typeface="Trebuchet MS"/>
              <a:cs typeface="Trebuchet MS"/>
            </a:endParaRPr>
          </a:p>
          <a:p>
            <a:pPr marL="94615">
              <a:lnSpc>
                <a:spcPct val="100000"/>
              </a:lnSpc>
            </a:pPr>
            <a:r>
              <a:rPr dirty="0" sz="1550" b="1">
                <a:latin typeface="Trebuchet MS"/>
                <a:cs typeface="Trebuchet MS"/>
              </a:rPr>
              <a:t>H3a:</a:t>
            </a:r>
            <a:r>
              <a:rPr dirty="0" sz="1550" spc="90" b="1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Fear</a:t>
            </a:r>
            <a:r>
              <a:rPr dirty="0" sz="1550" spc="9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of</a:t>
            </a:r>
            <a:r>
              <a:rPr dirty="0" sz="1550" spc="65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losing</a:t>
            </a:r>
            <a:r>
              <a:rPr dirty="0" sz="1550" spc="8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opportunity</a:t>
            </a:r>
            <a:r>
              <a:rPr dirty="0" sz="1550" spc="60">
                <a:latin typeface="Trebuchet MS"/>
                <a:cs typeface="Trebuchet MS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→</a:t>
            </a:r>
            <a:r>
              <a:rPr dirty="0" sz="1550" spc="165">
                <a:latin typeface="Times New Roman"/>
                <a:cs typeface="Times New Roman"/>
              </a:rPr>
              <a:t> </a:t>
            </a:r>
            <a:r>
              <a:rPr dirty="0" sz="1550" spc="60">
                <a:latin typeface="Trebuchet MS"/>
                <a:cs typeface="Trebuchet MS"/>
              </a:rPr>
              <a:t>Higher</a:t>
            </a:r>
            <a:r>
              <a:rPr dirty="0" sz="1550" spc="5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payment</a:t>
            </a:r>
            <a:r>
              <a:rPr dirty="0" sz="1550" spc="2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likelihood</a:t>
            </a:r>
            <a:endParaRPr sz="1550">
              <a:latin typeface="Trebuchet MS"/>
              <a:cs typeface="Trebuchet MS"/>
            </a:endParaRPr>
          </a:p>
          <a:p>
            <a:pPr marL="94615">
              <a:lnSpc>
                <a:spcPct val="100000"/>
              </a:lnSpc>
              <a:spcBef>
                <a:spcPts val="95"/>
              </a:spcBef>
            </a:pPr>
            <a:r>
              <a:rPr dirty="0" sz="1550" b="1">
                <a:latin typeface="Trebuchet MS"/>
                <a:cs typeface="Trebuchet MS"/>
              </a:rPr>
              <a:t>H3b:</a:t>
            </a:r>
            <a:r>
              <a:rPr dirty="0" sz="1550" spc="25" b="1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Urgency/time</a:t>
            </a:r>
            <a:r>
              <a:rPr dirty="0" sz="1550" spc="55">
                <a:latin typeface="Trebuchet MS"/>
                <a:cs typeface="Trebuchet MS"/>
              </a:rPr>
              <a:t> pressure </a:t>
            </a:r>
            <a:r>
              <a:rPr dirty="0" sz="1550">
                <a:latin typeface="Times New Roman"/>
                <a:cs typeface="Times New Roman"/>
              </a:rPr>
              <a:t>→</a:t>
            </a:r>
            <a:r>
              <a:rPr dirty="0" sz="1550" spc="155">
                <a:latin typeface="Times New Roman"/>
                <a:cs typeface="Times New Roman"/>
              </a:rPr>
              <a:t> </a:t>
            </a:r>
            <a:r>
              <a:rPr dirty="0" sz="1550" spc="60">
                <a:latin typeface="Trebuchet MS"/>
                <a:cs typeface="Trebuchet MS"/>
              </a:rPr>
              <a:t>Higher</a:t>
            </a:r>
            <a:r>
              <a:rPr dirty="0" sz="1550" spc="-10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payment</a:t>
            </a:r>
            <a:r>
              <a:rPr dirty="0" sz="1550" spc="1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likelihood</a:t>
            </a:r>
            <a:endParaRPr sz="1550">
              <a:latin typeface="Trebuchet MS"/>
              <a:cs typeface="Trebuchet MS"/>
            </a:endParaRPr>
          </a:p>
          <a:p>
            <a:pPr marL="94615">
              <a:lnSpc>
                <a:spcPct val="100000"/>
              </a:lnSpc>
              <a:spcBef>
                <a:spcPts val="15"/>
              </a:spcBef>
            </a:pPr>
            <a:r>
              <a:rPr dirty="0" sz="1550" b="1">
                <a:latin typeface="Trebuchet MS"/>
                <a:cs typeface="Trebuchet MS"/>
              </a:rPr>
              <a:t>H3c:</a:t>
            </a:r>
            <a:r>
              <a:rPr dirty="0" sz="1550" spc="75" b="1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Effects</a:t>
            </a:r>
            <a:r>
              <a:rPr dirty="0" sz="1550" spc="125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stronger</a:t>
            </a:r>
            <a:r>
              <a:rPr dirty="0" sz="1550" spc="100" b="1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for</a:t>
            </a:r>
            <a:r>
              <a:rPr dirty="0" sz="1550" spc="5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financially</a:t>
            </a:r>
            <a:r>
              <a:rPr dirty="0" sz="1550" spc="12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vulnerable</a:t>
            </a:r>
            <a:r>
              <a:rPr dirty="0" sz="1550" spc="114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individuals</a:t>
            </a:r>
            <a:r>
              <a:rPr dirty="0" sz="1550" spc="100">
                <a:latin typeface="Trebuchet MS"/>
                <a:cs typeface="Trebuchet MS"/>
              </a:rPr>
              <a:t> </a:t>
            </a:r>
            <a:r>
              <a:rPr dirty="0" sz="1550" i="1">
                <a:latin typeface="Trebuchet MS"/>
                <a:cs typeface="Trebuchet MS"/>
              </a:rPr>
              <a:t>(Vulnerability</a:t>
            </a:r>
            <a:r>
              <a:rPr dirty="0" sz="1550" spc="120" i="1">
                <a:latin typeface="Trebuchet MS"/>
                <a:cs typeface="Trebuchet MS"/>
              </a:rPr>
              <a:t> </a:t>
            </a:r>
            <a:r>
              <a:rPr dirty="0" sz="1550" i="1">
                <a:latin typeface="Trebuchet MS"/>
                <a:cs typeface="Trebuchet MS"/>
              </a:rPr>
              <a:t>amplifies</a:t>
            </a:r>
            <a:r>
              <a:rPr dirty="0" sz="1550" spc="105" i="1">
                <a:latin typeface="Trebuchet MS"/>
                <a:cs typeface="Trebuchet MS"/>
              </a:rPr>
              <a:t> </a:t>
            </a:r>
            <a:r>
              <a:rPr dirty="0" sz="1550" spc="-20" i="1">
                <a:latin typeface="Trebuchet MS"/>
                <a:cs typeface="Trebuchet MS"/>
              </a:rPr>
              <a:t>loss</a:t>
            </a:r>
            <a:endParaRPr sz="1550">
              <a:latin typeface="Trebuchet MS"/>
              <a:cs typeface="Trebuchet MS"/>
            </a:endParaRPr>
          </a:p>
          <a:p>
            <a:pPr marL="94615">
              <a:lnSpc>
                <a:spcPct val="100000"/>
              </a:lnSpc>
              <a:spcBef>
                <a:spcPts val="95"/>
              </a:spcBef>
            </a:pPr>
            <a:r>
              <a:rPr dirty="0" sz="1550" spc="-10" i="1">
                <a:latin typeface="Trebuchet MS"/>
                <a:cs typeface="Trebuchet MS"/>
              </a:rPr>
              <a:t>aversion)</a:t>
            </a:r>
            <a:endParaRPr sz="1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Loss</a:t>
            </a:r>
            <a:r>
              <a:rPr dirty="0" spc="-10"/>
              <a:t> Aversion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145" y="939736"/>
            <a:ext cx="5778500" cy="34436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latin typeface="Trebuchet MS"/>
                <a:cs typeface="Trebuchet MS"/>
              </a:rPr>
              <a:t>Independent</a:t>
            </a:r>
            <a:r>
              <a:rPr dirty="0" sz="1550" spc="48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Variables:</a:t>
            </a: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>
                <a:latin typeface="Trebuchet MS"/>
                <a:cs typeface="Trebuchet MS"/>
              </a:rPr>
              <a:t>Fear</a:t>
            </a:r>
            <a:r>
              <a:rPr dirty="0" sz="1550" spc="7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of</a:t>
            </a:r>
            <a:r>
              <a:rPr dirty="0" sz="1550" spc="45">
                <a:latin typeface="Trebuchet MS"/>
                <a:cs typeface="Trebuchet MS"/>
              </a:rPr>
              <a:t> </a:t>
            </a:r>
            <a:r>
              <a:rPr dirty="0" sz="1550" spc="85">
                <a:latin typeface="Trebuchet MS"/>
                <a:cs typeface="Trebuchet MS"/>
              </a:rPr>
              <a:t>Losing</a:t>
            </a:r>
            <a:r>
              <a:rPr dirty="0" sz="1550" spc="6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Opportunity:</a:t>
            </a:r>
            <a:endParaRPr sz="1550">
              <a:latin typeface="Trebuchet MS"/>
              <a:cs typeface="Trebuchet MS"/>
            </a:endParaRPr>
          </a:p>
          <a:p>
            <a:pPr marL="12700" marR="1052830">
              <a:lnSpc>
                <a:spcPct val="103000"/>
              </a:lnSpc>
              <a:spcBef>
                <a:spcPts val="40"/>
              </a:spcBef>
            </a:pPr>
            <a:r>
              <a:rPr dirty="0" sz="1550">
                <a:latin typeface="Trebuchet MS"/>
                <a:cs typeface="Trebuchet MS"/>
              </a:rPr>
              <a:t>Question:</a:t>
            </a:r>
            <a:r>
              <a:rPr dirty="0" sz="1550" spc="7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"What</a:t>
            </a:r>
            <a:r>
              <a:rPr dirty="0" sz="1550" spc="13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affected</a:t>
            </a:r>
            <a:r>
              <a:rPr dirty="0" sz="1550" spc="110">
                <a:latin typeface="Trebuchet MS"/>
                <a:cs typeface="Trebuchet MS"/>
              </a:rPr>
              <a:t> </a:t>
            </a:r>
            <a:r>
              <a:rPr dirty="0" sz="1550" spc="75">
                <a:latin typeface="Trebuchet MS"/>
                <a:cs typeface="Trebuchet MS"/>
              </a:rPr>
              <a:t>you</a:t>
            </a:r>
            <a:r>
              <a:rPr dirty="0" sz="1550" spc="10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to</a:t>
            </a:r>
            <a:r>
              <a:rPr dirty="0" sz="1550" spc="140">
                <a:latin typeface="Trebuchet MS"/>
                <a:cs typeface="Trebuchet MS"/>
              </a:rPr>
              <a:t> </a:t>
            </a:r>
            <a:r>
              <a:rPr dirty="0" sz="1550" spc="95">
                <a:latin typeface="Trebuchet MS"/>
                <a:cs typeface="Trebuchet MS"/>
              </a:rPr>
              <a:t>pay?"</a:t>
            </a:r>
            <a:r>
              <a:rPr dirty="0" sz="1550" spc="105">
                <a:latin typeface="Trebuchet MS"/>
                <a:cs typeface="Trebuchet MS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→</a:t>
            </a:r>
            <a:r>
              <a:rPr dirty="0" sz="1550" spc="195">
                <a:latin typeface="Times New Roman"/>
                <a:cs typeface="Times New Roman"/>
              </a:rPr>
              <a:t> </a:t>
            </a:r>
            <a:r>
              <a:rPr dirty="0" sz="1550">
                <a:latin typeface="Trebuchet MS"/>
                <a:cs typeface="Trebuchet MS"/>
              </a:rPr>
              <a:t>Select</a:t>
            </a:r>
            <a:r>
              <a:rPr dirty="0" sz="1550" spc="45">
                <a:latin typeface="Trebuchet MS"/>
                <a:cs typeface="Trebuchet MS"/>
              </a:rPr>
              <a:t> </a:t>
            </a:r>
            <a:r>
              <a:rPr dirty="0" sz="1550" spc="-25">
                <a:latin typeface="Trebuchet MS"/>
                <a:cs typeface="Trebuchet MS"/>
              </a:rPr>
              <a:t>all </a:t>
            </a:r>
            <a:r>
              <a:rPr dirty="0" sz="1550">
                <a:latin typeface="Trebuchet MS"/>
                <a:cs typeface="Trebuchet MS"/>
              </a:rPr>
              <a:t>Binary:</a:t>
            </a:r>
            <a:r>
              <a:rPr dirty="0" sz="1550" spc="10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Selected</a:t>
            </a:r>
            <a:r>
              <a:rPr dirty="0" sz="1550" spc="14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"Fear</a:t>
            </a:r>
            <a:r>
              <a:rPr dirty="0" sz="1550" spc="15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of</a:t>
            </a:r>
            <a:r>
              <a:rPr dirty="0" sz="1550" spc="130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losing</a:t>
            </a:r>
            <a:r>
              <a:rPr dirty="0" sz="1550" spc="14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opportunity"</a:t>
            </a:r>
            <a:r>
              <a:rPr dirty="0" sz="1550" spc="165">
                <a:latin typeface="Trebuchet MS"/>
                <a:cs typeface="Trebuchet MS"/>
              </a:rPr>
              <a:t> </a:t>
            </a:r>
            <a:r>
              <a:rPr dirty="0" sz="1550" spc="235">
                <a:latin typeface="Trebuchet MS"/>
                <a:cs typeface="Trebuchet MS"/>
              </a:rPr>
              <a:t>=</a:t>
            </a:r>
            <a:r>
              <a:rPr dirty="0" sz="1550" spc="114">
                <a:latin typeface="Trebuchet MS"/>
                <a:cs typeface="Trebuchet MS"/>
              </a:rPr>
              <a:t> </a:t>
            </a:r>
            <a:r>
              <a:rPr dirty="0" sz="1550" spc="-385">
                <a:latin typeface="Trebuchet MS"/>
                <a:cs typeface="Trebuchet MS"/>
              </a:rPr>
              <a:t>1</a:t>
            </a:r>
            <a:r>
              <a:rPr dirty="0" sz="1550">
                <a:latin typeface="Trebuchet MS"/>
                <a:cs typeface="Trebuchet MS"/>
              </a:rPr>
              <a:t> Sample:</a:t>
            </a:r>
            <a:r>
              <a:rPr dirty="0" sz="1550" spc="50">
                <a:latin typeface="Trebuchet MS"/>
                <a:cs typeface="Trebuchet MS"/>
              </a:rPr>
              <a:t> </a:t>
            </a:r>
            <a:r>
              <a:rPr dirty="0" sz="1550" spc="160">
                <a:latin typeface="Trebuchet MS"/>
                <a:cs typeface="Trebuchet MS"/>
              </a:rPr>
              <a:t>N=96</a:t>
            </a:r>
            <a:r>
              <a:rPr dirty="0" sz="1550" spc="100">
                <a:latin typeface="Trebuchet MS"/>
                <a:cs typeface="Trebuchet MS"/>
              </a:rPr>
              <a:t> </a:t>
            </a:r>
            <a:r>
              <a:rPr dirty="0" sz="1550" spc="-20">
                <a:latin typeface="Trebuchet MS"/>
                <a:cs typeface="Trebuchet MS"/>
              </a:rPr>
              <a:t>total</a:t>
            </a:r>
            <a:r>
              <a:rPr dirty="0" sz="1550" spc="-5">
                <a:latin typeface="Trebuchet MS"/>
                <a:cs typeface="Trebuchet MS"/>
              </a:rPr>
              <a:t> </a:t>
            </a:r>
            <a:r>
              <a:rPr dirty="0" sz="1550" spc="70">
                <a:latin typeface="Trebuchet MS"/>
                <a:cs typeface="Trebuchet MS"/>
              </a:rPr>
              <a:t>responses</a:t>
            </a:r>
            <a:endParaRPr sz="15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550" spc="10">
                <a:latin typeface="Trebuchet MS"/>
                <a:cs typeface="Trebuchet MS"/>
              </a:rPr>
              <a:t>Urgency/Time</a:t>
            </a:r>
            <a:r>
              <a:rPr dirty="0" sz="1550" spc="325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Pressure:</a:t>
            </a: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550">
                <a:latin typeface="Trebuchet MS"/>
                <a:cs typeface="Trebuchet MS"/>
              </a:rPr>
              <a:t>Question:</a:t>
            </a:r>
            <a:r>
              <a:rPr dirty="0" sz="1550" spc="60">
                <a:latin typeface="Trebuchet MS"/>
                <a:cs typeface="Trebuchet MS"/>
              </a:rPr>
              <a:t> </a:t>
            </a:r>
            <a:r>
              <a:rPr dirty="0" sz="1550" spc="80">
                <a:latin typeface="Trebuchet MS"/>
                <a:cs typeface="Trebuchet MS"/>
              </a:rPr>
              <a:t>Same</a:t>
            </a:r>
            <a:r>
              <a:rPr dirty="0" sz="1550" spc="85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payment</a:t>
            </a:r>
            <a:r>
              <a:rPr dirty="0" sz="1550" spc="35">
                <a:latin typeface="Trebuchet MS"/>
                <a:cs typeface="Trebuchet MS"/>
              </a:rPr>
              <a:t> </a:t>
            </a:r>
            <a:r>
              <a:rPr dirty="0" sz="1550" spc="65">
                <a:latin typeface="Trebuchet MS"/>
                <a:cs typeface="Trebuchet MS"/>
              </a:rPr>
              <a:t>reasons</a:t>
            </a:r>
            <a:r>
              <a:rPr dirty="0" sz="1550" spc="70">
                <a:latin typeface="Trebuchet MS"/>
                <a:cs typeface="Trebuchet MS"/>
              </a:rPr>
              <a:t> </a:t>
            </a:r>
            <a:r>
              <a:rPr dirty="0" sz="1550" spc="40">
                <a:latin typeface="Trebuchet MS"/>
                <a:cs typeface="Trebuchet MS"/>
              </a:rPr>
              <a:t>question</a:t>
            </a:r>
            <a:endParaRPr sz="1550">
              <a:latin typeface="Trebuchet MS"/>
              <a:cs typeface="Trebuchet MS"/>
            </a:endParaRPr>
          </a:p>
          <a:p>
            <a:pPr marL="12700" marR="549910">
              <a:lnSpc>
                <a:spcPts val="1960"/>
              </a:lnSpc>
              <a:spcBef>
                <a:spcPts val="75"/>
              </a:spcBef>
            </a:pPr>
            <a:r>
              <a:rPr dirty="0" sz="1550">
                <a:latin typeface="Trebuchet MS"/>
                <a:cs typeface="Trebuchet MS"/>
              </a:rPr>
              <a:t>Binary:</a:t>
            </a:r>
            <a:r>
              <a:rPr dirty="0" sz="1550" spc="3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Selected</a:t>
            </a:r>
            <a:r>
              <a:rPr dirty="0" sz="1550" spc="70">
                <a:latin typeface="Trebuchet MS"/>
                <a:cs typeface="Trebuchet MS"/>
              </a:rPr>
              <a:t> "Sense</a:t>
            </a:r>
            <a:r>
              <a:rPr dirty="0" sz="1550" spc="6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of</a:t>
            </a:r>
            <a:r>
              <a:rPr dirty="0" sz="1550" spc="-25">
                <a:latin typeface="Trebuchet MS"/>
                <a:cs typeface="Trebuchet MS"/>
              </a:rPr>
              <a:t> </a:t>
            </a:r>
            <a:r>
              <a:rPr dirty="0" sz="1550" spc="70">
                <a:latin typeface="Trebuchet MS"/>
                <a:cs typeface="Trebuchet MS"/>
              </a:rPr>
              <a:t>urgency</a:t>
            </a:r>
            <a:r>
              <a:rPr dirty="0" sz="1550" spc="65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or</a:t>
            </a:r>
            <a:r>
              <a:rPr dirty="0" sz="1550" spc="-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time</a:t>
            </a:r>
            <a:r>
              <a:rPr dirty="0" sz="1550" spc="60">
                <a:latin typeface="Trebuchet MS"/>
                <a:cs typeface="Trebuchet MS"/>
              </a:rPr>
              <a:t> </a:t>
            </a:r>
            <a:r>
              <a:rPr dirty="0" sz="1550" spc="45">
                <a:latin typeface="Trebuchet MS"/>
                <a:cs typeface="Trebuchet MS"/>
              </a:rPr>
              <a:t>pressure"</a:t>
            </a:r>
            <a:r>
              <a:rPr dirty="0" sz="1550" spc="95">
                <a:latin typeface="Trebuchet MS"/>
                <a:cs typeface="Trebuchet MS"/>
              </a:rPr>
              <a:t> </a:t>
            </a:r>
            <a:r>
              <a:rPr dirty="0" sz="1550" spc="235">
                <a:latin typeface="Trebuchet MS"/>
                <a:cs typeface="Trebuchet MS"/>
              </a:rPr>
              <a:t>=</a:t>
            </a:r>
            <a:r>
              <a:rPr dirty="0" sz="1550" spc="45">
                <a:latin typeface="Trebuchet MS"/>
                <a:cs typeface="Trebuchet MS"/>
              </a:rPr>
              <a:t> </a:t>
            </a:r>
            <a:r>
              <a:rPr dirty="0" sz="1550" spc="-385">
                <a:latin typeface="Trebuchet MS"/>
                <a:cs typeface="Trebuchet MS"/>
              </a:rPr>
              <a:t>1</a:t>
            </a:r>
            <a:r>
              <a:rPr dirty="0" sz="1550">
                <a:latin typeface="Trebuchet MS"/>
                <a:cs typeface="Trebuchet MS"/>
              </a:rPr>
              <a:t> Moderator:</a:t>
            </a:r>
            <a:r>
              <a:rPr dirty="0" sz="1550" spc="15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Vulnerability</a:t>
            </a:r>
            <a:r>
              <a:rPr dirty="0" sz="1550" spc="185">
                <a:latin typeface="Trebuchet MS"/>
                <a:cs typeface="Trebuchet MS"/>
              </a:rPr>
              <a:t> </a:t>
            </a:r>
            <a:r>
              <a:rPr dirty="0" sz="1550" spc="70">
                <a:latin typeface="Trebuchet MS"/>
                <a:cs typeface="Trebuchet MS"/>
              </a:rPr>
              <a:t>Score</a:t>
            </a:r>
            <a:r>
              <a:rPr dirty="0" sz="1550" spc="175">
                <a:latin typeface="Trebuchet MS"/>
                <a:cs typeface="Trebuchet MS"/>
              </a:rPr>
              <a:t> (0-</a:t>
            </a:r>
            <a:r>
              <a:rPr dirty="0" sz="1550" spc="125">
                <a:latin typeface="Trebuchet MS"/>
                <a:cs typeface="Trebuchet MS"/>
              </a:rPr>
              <a:t>4)</a:t>
            </a:r>
            <a:endParaRPr sz="1550">
              <a:latin typeface="Trebuchet MS"/>
              <a:cs typeface="Trebuchet MS"/>
            </a:endParaRPr>
          </a:p>
          <a:p>
            <a:pPr marL="12700">
              <a:lnSpc>
                <a:spcPts val="1789"/>
              </a:lnSpc>
            </a:pPr>
            <a:r>
              <a:rPr dirty="0" sz="1550">
                <a:latin typeface="Trebuchet MS"/>
                <a:cs typeface="Trebuchet MS"/>
              </a:rPr>
              <a:t>Income:</a:t>
            </a:r>
            <a:r>
              <a:rPr dirty="0" sz="1550" spc="45">
                <a:latin typeface="Trebuchet MS"/>
                <a:cs typeface="Trebuchet MS"/>
              </a:rPr>
              <a:t> </a:t>
            </a:r>
            <a:r>
              <a:rPr dirty="0" sz="1550" spc="65">
                <a:latin typeface="Trebuchet MS"/>
                <a:cs typeface="Trebuchet MS"/>
              </a:rPr>
              <a:t>Low</a:t>
            </a:r>
            <a:r>
              <a:rPr dirty="0" sz="1550" spc="70">
                <a:latin typeface="Trebuchet MS"/>
                <a:cs typeface="Trebuchet MS"/>
              </a:rPr>
              <a:t> </a:t>
            </a:r>
            <a:r>
              <a:rPr dirty="0" sz="1550" spc="65">
                <a:latin typeface="Trebuchet MS"/>
                <a:cs typeface="Trebuchet MS"/>
              </a:rPr>
              <a:t>income</a:t>
            </a:r>
            <a:r>
              <a:rPr dirty="0" sz="1550" spc="75">
                <a:latin typeface="Trebuchet MS"/>
                <a:cs typeface="Trebuchet MS"/>
              </a:rPr>
              <a:t> </a:t>
            </a:r>
            <a:r>
              <a:rPr dirty="0" sz="1550" spc="65">
                <a:latin typeface="Trebuchet MS"/>
                <a:cs typeface="Trebuchet MS"/>
              </a:rPr>
              <a:t>(+2),</a:t>
            </a:r>
            <a:r>
              <a:rPr dirty="0" sz="1550" spc="9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moderate</a:t>
            </a:r>
            <a:r>
              <a:rPr dirty="0" sz="1550" spc="75">
                <a:latin typeface="Trebuchet MS"/>
                <a:cs typeface="Trebuchet MS"/>
              </a:rPr>
              <a:t> </a:t>
            </a:r>
            <a:r>
              <a:rPr dirty="0" sz="1550" spc="-20">
                <a:latin typeface="Trebuchet MS"/>
                <a:cs typeface="Trebuchet MS"/>
              </a:rPr>
              <a:t>(+1),</a:t>
            </a:r>
            <a:r>
              <a:rPr dirty="0" sz="1550" spc="95">
                <a:latin typeface="Trebuchet MS"/>
                <a:cs typeface="Trebuchet MS"/>
              </a:rPr>
              <a:t> </a:t>
            </a:r>
            <a:r>
              <a:rPr dirty="0" sz="1550" spc="70">
                <a:latin typeface="Trebuchet MS"/>
                <a:cs typeface="Trebuchet MS"/>
              </a:rPr>
              <a:t>high</a:t>
            </a:r>
            <a:r>
              <a:rPr dirty="0" sz="1550" spc="65">
                <a:latin typeface="Trebuchet MS"/>
                <a:cs typeface="Trebuchet MS"/>
              </a:rPr>
              <a:t> </a:t>
            </a:r>
            <a:r>
              <a:rPr dirty="0" sz="1550" spc="80">
                <a:latin typeface="Trebuchet MS"/>
                <a:cs typeface="Trebuchet MS"/>
              </a:rPr>
              <a:t>(0)</a:t>
            </a: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550">
                <a:latin typeface="Trebuchet MS"/>
                <a:cs typeface="Trebuchet MS"/>
              </a:rPr>
              <a:t>Financial</a:t>
            </a:r>
            <a:r>
              <a:rPr dirty="0" sz="1550" spc="10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stress:</a:t>
            </a:r>
            <a:r>
              <a:rPr dirty="0" sz="1550" spc="80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Struggling</a:t>
            </a:r>
            <a:r>
              <a:rPr dirty="0" sz="1550" spc="120">
                <a:latin typeface="Trebuchet MS"/>
                <a:cs typeface="Trebuchet MS"/>
              </a:rPr>
              <a:t> </a:t>
            </a:r>
            <a:r>
              <a:rPr dirty="0" sz="1550" spc="65">
                <a:latin typeface="Trebuchet MS"/>
                <a:cs typeface="Trebuchet MS"/>
              </a:rPr>
              <a:t>(+2),</a:t>
            </a:r>
            <a:r>
              <a:rPr dirty="0" sz="1550" spc="13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in</a:t>
            </a:r>
            <a:r>
              <a:rPr dirty="0" sz="1550" spc="10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debt</a:t>
            </a:r>
            <a:r>
              <a:rPr dirty="0" sz="1550" spc="145">
                <a:latin typeface="Trebuchet MS"/>
                <a:cs typeface="Trebuchet MS"/>
              </a:rPr>
              <a:t> </a:t>
            </a:r>
            <a:r>
              <a:rPr dirty="0" sz="1550" spc="-20">
                <a:latin typeface="Trebuchet MS"/>
                <a:cs typeface="Trebuchet MS"/>
              </a:rPr>
              <a:t>(+1),</a:t>
            </a:r>
            <a:r>
              <a:rPr dirty="0" sz="1550" spc="13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comfortable</a:t>
            </a:r>
            <a:r>
              <a:rPr dirty="0" sz="1550" spc="105">
                <a:latin typeface="Trebuchet MS"/>
                <a:cs typeface="Trebuchet MS"/>
              </a:rPr>
              <a:t> </a:t>
            </a:r>
            <a:r>
              <a:rPr dirty="0" sz="1550" spc="80">
                <a:latin typeface="Trebuchet MS"/>
                <a:cs typeface="Trebuchet MS"/>
              </a:rPr>
              <a:t>(0)</a:t>
            </a:r>
            <a:endParaRPr sz="1550">
              <a:latin typeface="Trebuchet MS"/>
              <a:cs typeface="Trebuchet MS"/>
            </a:endParaRPr>
          </a:p>
          <a:p>
            <a:pPr marL="12700" marR="3662045">
              <a:lnSpc>
                <a:spcPts val="1950"/>
              </a:lnSpc>
              <a:spcBef>
                <a:spcPts val="10"/>
              </a:spcBef>
            </a:pPr>
            <a:r>
              <a:rPr dirty="0" sz="1550" spc="65">
                <a:latin typeface="Trebuchet MS"/>
                <a:cs typeface="Trebuchet MS"/>
              </a:rPr>
              <a:t>Dependent</a:t>
            </a:r>
            <a:r>
              <a:rPr dirty="0" sz="1550" spc="-15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Variable: </a:t>
            </a:r>
            <a:r>
              <a:rPr dirty="0" sz="1550" spc="114">
                <a:latin typeface="Trebuchet MS"/>
                <a:cs typeface="Trebuchet MS"/>
              </a:rPr>
              <a:t>Made</a:t>
            </a:r>
            <a:r>
              <a:rPr dirty="0" sz="1550" spc="8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payment:</a:t>
            </a:r>
            <a:r>
              <a:rPr dirty="0" sz="1550" spc="6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Binary</a:t>
            </a:r>
            <a:endParaRPr sz="1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Fear</a:t>
            </a:r>
            <a:r>
              <a:rPr dirty="0" spc="-7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losing</a:t>
            </a:r>
            <a:r>
              <a:rPr dirty="0" spc="-55"/>
              <a:t> </a:t>
            </a:r>
            <a:r>
              <a:rPr dirty="0"/>
              <a:t>Opportunity</a:t>
            </a:r>
            <a:r>
              <a:rPr dirty="0" spc="35"/>
              <a:t> </a:t>
            </a:r>
            <a:r>
              <a:rPr dirty="0"/>
              <a:t>–</a:t>
            </a:r>
            <a:r>
              <a:rPr dirty="0" spc="-40"/>
              <a:t> </a:t>
            </a:r>
            <a:r>
              <a:rPr dirty="0"/>
              <a:t>Extreme</a:t>
            </a:r>
            <a:r>
              <a:rPr dirty="0" spc="-50"/>
              <a:t> </a:t>
            </a:r>
            <a:r>
              <a:rPr dirty="0" spc="-10"/>
              <a:t>Effect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0" y="1392427"/>
          <a:ext cx="9220200" cy="121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dirty="0" sz="1400" b="1">
                          <a:latin typeface="Trebuchet MS"/>
                          <a:cs typeface="Trebuchet MS"/>
                        </a:rPr>
                        <a:t>No</a:t>
                      </a:r>
                      <a:r>
                        <a:rPr dirty="0" sz="1400" spc="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20" b="1">
                          <a:latin typeface="Trebuchet MS"/>
                          <a:cs typeface="Trebuchet MS"/>
                        </a:rPr>
                        <a:t>Fear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2544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dirty="0" sz="1400" b="1">
                          <a:latin typeface="Trebuchet MS"/>
                          <a:cs typeface="Trebuchet MS"/>
                        </a:rPr>
                        <a:t>Fear</a:t>
                      </a:r>
                      <a:r>
                        <a:rPr dirty="0" sz="1400" spc="-11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 b="1">
                          <a:latin typeface="Trebuchet MS"/>
                          <a:cs typeface="Trebuchet MS"/>
                        </a:rPr>
                        <a:t>Present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2544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dirty="0" sz="1400" spc="-10" b="1">
                          <a:latin typeface="Trebuchet MS"/>
                          <a:cs typeface="Trebuchet MS"/>
                        </a:rPr>
                        <a:t>Total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2544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 b="1">
                          <a:latin typeface="Trebuchet MS"/>
                          <a:cs typeface="Trebuchet MS"/>
                        </a:rPr>
                        <a:t>No</a:t>
                      </a:r>
                      <a:r>
                        <a:rPr dirty="0" sz="1400" spc="1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 b="1">
                          <a:latin typeface="Trebuchet MS"/>
                          <a:cs typeface="Trebuchet MS"/>
                        </a:rPr>
                        <a:t>Payment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 spc="140">
                          <a:latin typeface="Trebuchet MS"/>
                          <a:cs typeface="Trebuchet MS"/>
                        </a:rPr>
                        <a:t>89</a:t>
                      </a:r>
                      <a:r>
                        <a:rPr dirty="0" sz="1400" spc="-8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>
                          <a:latin typeface="Trebuchet MS"/>
                          <a:cs typeface="Trebuchet MS"/>
                        </a:rPr>
                        <a:t>(100%)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 spc="11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dirty="0" sz="1400" spc="-7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65">
                          <a:latin typeface="Trebuchet MS"/>
                          <a:cs typeface="Trebuchet MS"/>
                        </a:rPr>
                        <a:t>(42.9%)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 spc="55">
                          <a:latin typeface="Trebuchet MS"/>
                          <a:cs typeface="Trebuchet MS"/>
                        </a:rPr>
                        <a:t>92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 spc="55" b="1">
                          <a:latin typeface="Trebuchet MS"/>
                          <a:cs typeface="Trebuchet MS"/>
                        </a:rPr>
                        <a:t>Made</a:t>
                      </a:r>
                      <a:r>
                        <a:rPr dirty="0" sz="1400" spc="-9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 b="1">
                          <a:latin typeface="Trebuchet MS"/>
                          <a:cs typeface="Trebuchet MS"/>
                        </a:rPr>
                        <a:t>Payment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 spc="90" b="1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dirty="0" sz="1400" spc="-7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100" b="1">
                          <a:latin typeface="Trebuchet MS"/>
                          <a:cs typeface="Trebuchet MS"/>
                        </a:rPr>
                        <a:t>(0%)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 spc="105" b="1">
                          <a:latin typeface="Trebuchet MS"/>
                          <a:cs typeface="Trebuchet MS"/>
                        </a:rPr>
                        <a:t>4</a:t>
                      </a:r>
                      <a:r>
                        <a:rPr dirty="0" sz="1400" spc="-8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 b="1">
                          <a:latin typeface="Trebuchet MS"/>
                          <a:cs typeface="Trebuchet MS"/>
                        </a:rPr>
                        <a:t>(57.1%)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 spc="140">
                          <a:latin typeface="Trebuchet MS"/>
                          <a:cs typeface="Trebuchet MS"/>
                        </a:rPr>
                        <a:t>4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 spc="-10" b="1">
                          <a:latin typeface="Trebuchet MS"/>
                          <a:cs typeface="Trebuchet MS"/>
                        </a:rPr>
                        <a:t>Total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 spc="110">
                          <a:latin typeface="Trebuchet MS"/>
                          <a:cs typeface="Trebuchet MS"/>
                        </a:rPr>
                        <a:t>89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>
                          <a:latin typeface="Trebuchet MS"/>
                          <a:cs typeface="Trebuchet MS"/>
                        </a:rPr>
                        <a:t>7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 spc="50">
                          <a:latin typeface="Trebuchet MS"/>
                          <a:cs typeface="Trebuchet MS"/>
                        </a:rPr>
                        <a:t>96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44145" y="759777"/>
            <a:ext cx="355219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b="1">
                <a:latin typeface="Trebuchet MS"/>
                <a:cs typeface="Trebuchet MS"/>
              </a:rPr>
              <a:t>The</a:t>
            </a:r>
            <a:r>
              <a:rPr dirty="0" sz="1400" spc="-75" b="1">
                <a:latin typeface="Trebuchet MS"/>
                <a:cs typeface="Trebuchet MS"/>
              </a:rPr>
              <a:t> </a:t>
            </a:r>
            <a:r>
              <a:rPr dirty="0" sz="1400" spc="75" b="1">
                <a:latin typeface="Trebuchet MS"/>
                <a:cs typeface="Trebuchet MS"/>
              </a:rPr>
              <a:t>Most</a:t>
            </a:r>
            <a:r>
              <a:rPr dirty="0" sz="1400" spc="-25" b="1">
                <a:latin typeface="Trebuchet MS"/>
                <a:cs typeface="Trebuchet MS"/>
              </a:rPr>
              <a:t> </a:t>
            </a:r>
            <a:r>
              <a:rPr dirty="0" sz="1400" b="1">
                <a:latin typeface="Trebuchet MS"/>
                <a:cs typeface="Trebuchet MS"/>
              </a:rPr>
              <a:t>Dramatic</a:t>
            </a:r>
            <a:r>
              <a:rPr dirty="0" sz="1400" spc="-55" b="1">
                <a:latin typeface="Trebuchet MS"/>
                <a:cs typeface="Trebuchet MS"/>
              </a:rPr>
              <a:t> </a:t>
            </a:r>
            <a:r>
              <a:rPr dirty="0" sz="1400" b="1">
                <a:latin typeface="Trebuchet MS"/>
                <a:cs typeface="Trebuchet MS"/>
              </a:rPr>
              <a:t>Finding</a:t>
            </a:r>
            <a:r>
              <a:rPr dirty="0" sz="1400" spc="30" b="1">
                <a:latin typeface="Trebuchet MS"/>
                <a:cs typeface="Trebuchet MS"/>
              </a:rPr>
              <a:t> </a:t>
            </a:r>
            <a:r>
              <a:rPr dirty="0" sz="1400" b="1">
                <a:latin typeface="Trebuchet MS"/>
                <a:cs typeface="Trebuchet MS"/>
              </a:rPr>
              <a:t>in </a:t>
            </a:r>
            <a:r>
              <a:rPr dirty="0" sz="1400" spc="-30" b="1">
                <a:latin typeface="Trebuchet MS"/>
                <a:cs typeface="Trebuchet MS"/>
              </a:rPr>
              <a:t>Entire</a:t>
            </a:r>
            <a:r>
              <a:rPr dirty="0" sz="1400" spc="-70" b="1">
                <a:latin typeface="Trebuchet MS"/>
                <a:cs typeface="Trebuchet MS"/>
              </a:rPr>
              <a:t> </a:t>
            </a:r>
            <a:r>
              <a:rPr dirty="0" sz="1400" spc="-10" b="1">
                <a:latin typeface="Trebuchet MS"/>
                <a:cs typeface="Trebuchet MS"/>
              </a:rPr>
              <a:t>Study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Statistical</a:t>
            </a:r>
            <a:r>
              <a:rPr dirty="0" spc="-55"/>
              <a:t> </a:t>
            </a:r>
            <a:r>
              <a:rPr dirty="0"/>
              <a:t>Test:</a:t>
            </a:r>
            <a:r>
              <a:rPr dirty="0" spc="-60"/>
              <a:t> </a:t>
            </a:r>
            <a:r>
              <a:rPr dirty="0"/>
              <a:t>Fisher's</a:t>
            </a:r>
            <a:r>
              <a:rPr dirty="0" spc="-130"/>
              <a:t> </a:t>
            </a:r>
            <a:r>
              <a:rPr dirty="0" spc="-10"/>
              <a:t>Exact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145" y="1053718"/>
            <a:ext cx="8811260" cy="344424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6650355">
              <a:lnSpc>
                <a:spcPct val="103000"/>
              </a:lnSpc>
              <a:spcBef>
                <a:spcPts val="75"/>
              </a:spcBef>
            </a:pPr>
            <a:r>
              <a:rPr dirty="0" sz="1550" spc="55">
                <a:latin typeface="Trebuchet MS"/>
                <a:cs typeface="Trebuchet MS"/>
              </a:rPr>
              <a:t>Fisher's</a:t>
            </a:r>
            <a:r>
              <a:rPr dirty="0" sz="1550" spc="5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Exact</a:t>
            </a:r>
            <a:r>
              <a:rPr dirty="0" sz="1550" spc="-30">
                <a:latin typeface="Trebuchet MS"/>
                <a:cs typeface="Trebuchet MS"/>
              </a:rPr>
              <a:t> </a:t>
            </a:r>
            <a:r>
              <a:rPr dirty="0" sz="1550" spc="40">
                <a:latin typeface="Trebuchet MS"/>
                <a:cs typeface="Trebuchet MS"/>
              </a:rPr>
              <a:t>Test </a:t>
            </a:r>
            <a:r>
              <a:rPr dirty="0" sz="1550" spc="135">
                <a:latin typeface="Trebuchet MS"/>
                <a:cs typeface="Trebuchet MS"/>
              </a:rPr>
              <a:t>Odds</a:t>
            </a:r>
            <a:r>
              <a:rPr dirty="0" sz="1550" spc="-4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Ratio:</a:t>
            </a:r>
            <a:r>
              <a:rPr dirty="0" sz="1550" spc="-45">
                <a:latin typeface="Trebuchet MS"/>
                <a:cs typeface="Trebuchet MS"/>
              </a:rPr>
              <a:t> </a:t>
            </a:r>
            <a:r>
              <a:rPr dirty="0" sz="1550" spc="240">
                <a:latin typeface="Trebuchet MS"/>
                <a:cs typeface="Trebuchet MS"/>
              </a:rPr>
              <a:t>∞</a:t>
            </a:r>
            <a:r>
              <a:rPr dirty="0" sz="1550" spc="3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(infinite) </a:t>
            </a:r>
            <a:r>
              <a:rPr dirty="0" sz="1550" spc="180">
                <a:latin typeface="Trebuchet MS"/>
                <a:cs typeface="Trebuchet MS"/>
              </a:rPr>
              <a:t>p-</a:t>
            </a:r>
            <a:r>
              <a:rPr dirty="0" sz="1550">
                <a:latin typeface="Trebuchet MS"/>
                <a:cs typeface="Trebuchet MS"/>
              </a:rPr>
              <a:t>value:</a:t>
            </a:r>
            <a:r>
              <a:rPr dirty="0" sz="1550" spc="-7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&lt;</a:t>
            </a:r>
            <a:r>
              <a:rPr dirty="0" sz="1550" spc="-114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0.0001</a:t>
            </a:r>
            <a:endParaRPr sz="15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550" spc="-10">
                <a:latin typeface="Trebuchet MS"/>
                <a:cs typeface="Trebuchet MS"/>
              </a:rPr>
              <a:t>Interpretation</a:t>
            </a:r>
            <a:endParaRPr sz="1550">
              <a:latin typeface="Trebuchet MS"/>
              <a:cs typeface="Trebuchet MS"/>
            </a:endParaRPr>
          </a:p>
          <a:p>
            <a:pPr marL="12700" marR="5080">
              <a:lnSpc>
                <a:spcPts val="1950"/>
              </a:lnSpc>
              <a:spcBef>
                <a:spcPts val="10"/>
              </a:spcBef>
            </a:pPr>
            <a:r>
              <a:rPr dirty="0" sz="1550" spc="55">
                <a:latin typeface="Trebuchet MS"/>
                <a:cs typeface="Trebuchet MS"/>
              </a:rPr>
              <a:t>This</a:t>
            </a:r>
            <a:r>
              <a:rPr dirty="0" sz="1550" spc="2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is</a:t>
            </a:r>
            <a:r>
              <a:rPr dirty="0" sz="1550" spc="10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the</a:t>
            </a:r>
            <a:r>
              <a:rPr dirty="0" sz="1550" spc="40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strongest</a:t>
            </a:r>
            <a:r>
              <a:rPr dirty="0" sz="1550" spc="7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effect</a:t>
            </a:r>
            <a:r>
              <a:rPr dirty="0" sz="1550" spc="7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in</a:t>
            </a:r>
            <a:r>
              <a:rPr dirty="0" sz="1550" spc="3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the</a:t>
            </a:r>
            <a:r>
              <a:rPr dirty="0" sz="1550" spc="3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entire</a:t>
            </a:r>
            <a:r>
              <a:rPr dirty="0" sz="1550" spc="3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study.</a:t>
            </a:r>
            <a:r>
              <a:rPr dirty="0" sz="1550" spc="3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Fear</a:t>
            </a:r>
            <a:r>
              <a:rPr dirty="0" sz="1550" spc="5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of</a:t>
            </a:r>
            <a:r>
              <a:rPr dirty="0" sz="1550" spc="-45">
                <a:latin typeface="Trebuchet MS"/>
                <a:cs typeface="Trebuchet MS"/>
              </a:rPr>
              <a:t> </a:t>
            </a:r>
            <a:r>
              <a:rPr dirty="0" sz="1550" spc="60">
                <a:latin typeface="Trebuchet MS"/>
                <a:cs typeface="Trebuchet MS"/>
              </a:rPr>
              <a:t>losing</a:t>
            </a:r>
            <a:r>
              <a:rPr dirty="0" sz="1550" spc="5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opportunity</a:t>
            </a:r>
            <a:r>
              <a:rPr dirty="0" sz="1550" spc="40">
                <a:latin typeface="Trebuchet MS"/>
                <a:cs typeface="Trebuchet MS"/>
              </a:rPr>
              <a:t> </a:t>
            </a:r>
            <a:r>
              <a:rPr dirty="0" sz="1550" spc="60">
                <a:latin typeface="Trebuchet MS"/>
                <a:cs typeface="Trebuchet MS"/>
              </a:rPr>
              <a:t>is</a:t>
            </a:r>
            <a:r>
              <a:rPr dirty="0" sz="1550" spc="2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not</a:t>
            </a:r>
            <a:r>
              <a:rPr dirty="0" sz="1550" spc="7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just</a:t>
            </a:r>
            <a:r>
              <a:rPr dirty="0" sz="1550" spc="75">
                <a:latin typeface="Trebuchet MS"/>
                <a:cs typeface="Trebuchet MS"/>
              </a:rPr>
              <a:t> </a:t>
            </a:r>
            <a:r>
              <a:rPr dirty="0" sz="1550" spc="45">
                <a:latin typeface="Trebuchet MS"/>
                <a:cs typeface="Trebuchet MS"/>
              </a:rPr>
              <a:t>associated </a:t>
            </a:r>
            <a:r>
              <a:rPr dirty="0" sz="1550">
                <a:latin typeface="Trebuchet MS"/>
                <a:cs typeface="Trebuchet MS"/>
              </a:rPr>
              <a:t>with</a:t>
            </a:r>
            <a:r>
              <a:rPr dirty="0" sz="1550" spc="20">
                <a:latin typeface="Trebuchet MS"/>
                <a:cs typeface="Trebuchet MS"/>
              </a:rPr>
              <a:t> </a:t>
            </a:r>
            <a:r>
              <a:rPr dirty="0" sz="1550" spc="70">
                <a:latin typeface="Trebuchet MS"/>
                <a:cs typeface="Trebuchet MS"/>
              </a:rPr>
              <a:t>payment—</a:t>
            </a:r>
            <a:r>
              <a:rPr dirty="0" sz="1550">
                <a:latin typeface="Trebuchet MS"/>
                <a:cs typeface="Trebuchet MS"/>
              </a:rPr>
              <a:t>it's</a:t>
            </a:r>
            <a:r>
              <a:rPr dirty="0" sz="1550" spc="2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a</a:t>
            </a:r>
            <a:r>
              <a:rPr dirty="0" sz="1550" spc="95">
                <a:latin typeface="Trebuchet MS"/>
                <a:cs typeface="Trebuchet MS"/>
              </a:rPr>
              <a:t> </a:t>
            </a:r>
            <a:r>
              <a:rPr dirty="0" sz="1550" spc="60">
                <a:latin typeface="Trebuchet MS"/>
                <a:cs typeface="Trebuchet MS"/>
              </a:rPr>
              <a:t>necessary</a:t>
            </a:r>
            <a:r>
              <a:rPr dirty="0" sz="1550" spc="4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condition.</a:t>
            </a:r>
            <a:r>
              <a:rPr dirty="0" sz="1550" spc="30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Every</a:t>
            </a:r>
            <a:r>
              <a:rPr dirty="0" sz="1550" spc="45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single</a:t>
            </a:r>
            <a:r>
              <a:rPr dirty="0" sz="1550" spc="35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person</a:t>
            </a:r>
            <a:r>
              <a:rPr dirty="0" sz="1550" spc="35">
                <a:latin typeface="Trebuchet MS"/>
                <a:cs typeface="Trebuchet MS"/>
              </a:rPr>
              <a:t> </a:t>
            </a:r>
            <a:r>
              <a:rPr dirty="0" sz="1550" spc="80">
                <a:latin typeface="Trebuchet MS"/>
                <a:cs typeface="Trebuchet MS"/>
              </a:rPr>
              <a:t>who</a:t>
            </a:r>
            <a:r>
              <a:rPr dirty="0" sz="1550" spc="-10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paid</a:t>
            </a:r>
            <a:r>
              <a:rPr dirty="0" sz="1550" spc="45">
                <a:latin typeface="Trebuchet MS"/>
                <a:cs typeface="Trebuchet MS"/>
              </a:rPr>
              <a:t> </a:t>
            </a:r>
            <a:r>
              <a:rPr dirty="0" sz="1550" spc="65">
                <a:latin typeface="Trebuchet MS"/>
                <a:cs typeface="Trebuchet MS"/>
              </a:rPr>
              <a:t>(4/4)</a:t>
            </a:r>
            <a:r>
              <a:rPr dirty="0" sz="1550" spc="-2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reported</a:t>
            </a:r>
            <a:r>
              <a:rPr dirty="0" sz="1550" spc="4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fear</a:t>
            </a:r>
            <a:r>
              <a:rPr dirty="0" sz="1550" spc="60">
                <a:latin typeface="Trebuchet MS"/>
                <a:cs typeface="Trebuchet MS"/>
              </a:rPr>
              <a:t> </a:t>
            </a:r>
            <a:r>
              <a:rPr dirty="0" sz="1550" spc="-25">
                <a:latin typeface="Trebuchet MS"/>
                <a:cs typeface="Trebuchet MS"/>
              </a:rPr>
              <a:t>of</a:t>
            </a:r>
            <a:endParaRPr sz="1550">
              <a:latin typeface="Trebuchet MS"/>
              <a:cs typeface="Trebuchet MS"/>
            </a:endParaRPr>
          </a:p>
          <a:p>
            <a:pPr marL="12700">
              <a:lnSpc>
                <a:spcPts val="1800"/>
              </a:lnSpc>
            </a:pPr>
            <a:r>
              <a:rPr dirty="0" sz="1550">
                <a:latin typeface="Trebuchet MS"/>
                <a:cs typeface="Trebuchet MS"/>
              </a:rPr>
              <a:t>loss.</a:t>
            </a:r>
            <a:r>
              <a:rPr dirty="0" sz="1550" spc="10">
                <a:latin typeface="Trebuchet MS"/>
                <a:cs typeface="Trebuchet MS"/>
              </a:rPr>
              <a:t> </a:t>
            </a:r>
            <a:r>
              <a:rPr dirty="0" sz="1550" spc="65">
                <a:latin typeface="Trebuchet MS"/>
                <a:cs typeface="Trebuchet MS"/>
              </a:rPr>
              <a:t>Not</a:t>
            </a:r>
            <a:r>
              <a:rPr dirty="0" sz="1550" spc="-20">
                <a:latin typeface="Trebuchet MS"/>
                <a:cs typeface="Trebuchet MS"/>
              </a:rPr>
              <a:t> </a:t>
            </a:r>
            <a:r>
              <a:rPr dirty="0" sz="1550" spc="70">
                <a:latin typeface="Trebuchet MS"/>
                <a:cs typeface="Trebuchet MS"/>
              </a:rPr>
              <a:t>one</a:t>
            </a:r>
            <a:r>
              <a:rPr dirty="0" sz="1550" spc="20">
                <a:latin typeface="Trebuchet MS"/>
                <a:cs typeface="Trebuchet MS"/>
              </a:rPr>
              <a:t> </a:t>
            </a:r>
            <a:r>
              <a:rPr dirty="0" sz="1550" spc="60">
                <a:latin typeface="Trebuchet MS"/>
                <a:cs typeface="Trebuchet MS"/>
              </a:rPr>
              <a:t>person</a:t>
            </a:r>
            <a:r>
              <a:rPr dirty="0" sz="1550" spc="2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without</a:t>
            </a:r>
            <a:r>
              <a:rPr dirty="0" sz="1550" spc="5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this</a:t>
            </a:r>
            <a:r>
              <a:rPr dirty="0" sz="1550" spc="1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fear</a:t>
            </a:r>
            <a:r>
              <a:rPr dirty="0" sz="1550" spc="40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paid</a:t>
            </a:r>
            <a:r>
              <a:rPr dirty="0" sz="1550" spc="3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(0/89).</a:t>
            </a:r>
            <a:endParaRPr sz="15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550">
                <a:latin typeface="Trebuchet MS"/>
                <a:cs typeface="Trebuchet MS"/>
              </a:rPr>
              <a:t>Clinical</a:t>
            </a:r>
            <a:r>
              <a:rPr dirty="0" sz="1550" spc="19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Significance:</a:t>
            </a:r>
            <a:endParaRPr sz="155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550" spc="90">
                <a:latin typeface="Trebuchet MS"/>
                <a:cs typeface="Trebuchet MS"/>
              </a:rPr>
              <a:t>100%</a:t>
            </a:r>
            <a:r>
              <a:rPr dirty="0" sz="1550" spc="-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sensitivity:</a:t>
            </a:r>
            <a:r>
              <a:rPr dirty="0" sz="1550" spc="-1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All</a:t>
            </a:r>
            <a:r>
              <a:rPr dirty="0" sz="1550" spc="5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payers</a:t>
            </a:r>
            <a:r>
              <a:rPr dirty="0" sz="1550" spc="-5">
                <a:latin typeface="Trebuchet MS"/>
                <a:cs typeface="Trebuchet MS"/>
              </a:rPr>
              <a:t> </a:t>
            </a:r>
            <a:r>
              <a:rPr dirty="0" sz="1550" spc="70">
                <a:latin typeface="Trebuchet MS"/>
                <a:cs typeface="Trebuchet MS"/>
              </a:rPr>
              <a:t>had</a:t>
            </a:r>
            <a:r>
              <a:rPr dirty="0" sz="1550" spc="1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fear</a:t>
            </a:r>
            <a:r>
              <a:rPr dirty="0" sz="1550" spc="-5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of</a:t>
            </a:r>
            <a:r>
              <a:rPr dirty="0" sz="1550" spc="5">
                <a:latin typeface="Trebuchet MS"/>
                <a:cs typeface="Trebuchet MS"/>
              </a:rPr>
              <a:t> </a:t>
            </a:r>
            <a:r>
              <a:rPr dirty="0" sz="1550" spc="45">
                <a:latin typeface="Trebuchet MS"/>
                <a:cs typeface="Trebuchet MS"/>
              </a:rPr>
              <a:t>loss</a:t>
            </a:r>
            <a:endParaRPr sz="155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90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550" spc="165">
                <a:latin typeface="Trebuchet MS"/>
                <a:cs typeface="Trebuchet MS"/>
              </a:rPr>
              <a:t>97%</a:t>
            </a:r>
            <a:r>
              <a:rPr dirty="0" sz="1550" spc="5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specificity:</a:t>
            </a:r>
            <a:r>
              <a:rPr dirty="0" sz="1550" spc="30">
                <a:latin typeface="Trebuchet MS"/>
                <a:cs typeface="Trebuchet MS"/>
              </a:rPr>
              <a:t> </a:t>
            </a:r>
            <a:r>
              <a:rPr dirty="0" sz="1550" spc="60">
                <a:latin typeface="Trebuchet MS"/>
                <a:cs typeface="Trebuchet MS"/>
              </a:rPr>
              <a:t>89/92</a:t>
            </a:r>
            <a:r>
              <a:rPr dirty="0" sz="1550" spc="75">
                <a:latin typeface="Trebuchet MS"/>
                <a:cs typeface="Trebuchet MS"/>
              </a:rPr>
              <a:t> </a:t>
            </a:r>
            <a:r>
              <a:rPr dirty="0" sz="1550" spc="105">
                <a:latin typeface="Trebuchet MS"/>
                <a:cs typeface="Trebuchet MS"/>
              </a:rPr>
              <a:t>non-</a:t>
            </a:r>
            <a:r>
              <a:rPr dirty="0" sz="1550" spc="50">
                <a:latin typeface="Trebuchet MS"/>
                <a:cs typeface="Trebuchet MS"/>
              </a:rPr>
              <a:t>payers</a:t>
            </a:r>
            <a:r>
              <a:rPr dirty="0" sz="1550" spc="4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lacked</a:t>
            </a:r>
            <a:r>
              <a:rPr dirty="0" sz="1550" spc="6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fear</a:t>
            </a:r>
            <a:r>
              <a:rPr dirty="0" sz="1550" spc="8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of</a:t>
            </a:r>
            <a:r>
              <a:rPr dirty="0" sz="1550" spc="55">
                <a:latin typeface="Trebuchet MS"/>
                <a:cs typeface="Trebuchet MS"/>
              </a:rPr>
              <a:t> </a:t>
            </a:r>
            <a:r>
              <a:rPr dirty="0" sz="1550" spc="30">
                <a:latin typeface="Trebuchet MS"/>
                <a:cs typeface="Trebuchet MS"/>
              </a:rPr>
              <a:t>loss</a:t>
            </a:r>
            <a:endParaRPr sz="155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550" spc="45">
                <a:latin typeface="Trebuchet MS"/>
                <a:cs typeface="Trebuchet MS"/>
              </a:rPr>
              <a:t>Positive</a:t>
            </a:r>
            <a:r>
              <a:rPr dirty="0" sz="1550" spc="2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Predictive</a:t>
            </a:r>
            <a:r>
              <a:rPr dirty="0" sz="1550" spc="2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Value:</a:t>
            </a:r>
            <a:r>
              <a:rPr dirty="0" sz="1550" spc="85">
                <a:latin typeface="Trebuchet MS"/>
                <a:cs typeface="Trebuchet MS"/>
              </a:rPr>
              <a:t> </a:t>
            </a:r>
            <a:r>
              <a:rPr dirty="0" sz="1550" spc="165">
                <a:latin typeface="Trebuchet MS"/>
                <a:cs typeface="Trebuchet MS"/>
              </a:rPr>
              <a:t>57%</a:t>
            </a:r>
            <a:r>
              <a:rPr dirty="0" sz="1550" spc="2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(4/7</a:t>
            </a:r>
            <a:r>
              <a:rPr dirty="0" sz="1550" spc="4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with</a:t>
            </a:r>
            <a:r>
              <a:rPr dirty="0" sz="1550" spc="10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fear</a:t>
            </a:r>
            <a:r>
              <a:rPr dirty="0" sz="1550" spc="-30">
                <a:latin typeface="Trebuchet MS"/>
                <a:cs typeface="Trebuchet MS"/>
              </a:rPr>
              <a:t> </a:t>
            </a:r>
            <a:r>
              <a:rPr dirty="0" sz="1550" spc="45">
                <a:latin typeface="Trebuchet MS"/>
                <a:cs typeface="Trebuchet MS"/>
              </a:rPr>
              <a:t>paid)</a:t>
            </a:r>
            <a:endParaRPr sz="155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550" spc="55">
                <a:latin typeface="Trebuchet MS"/>
                <a:cs typeface="Trebuchet MS"/>
              </a:rPr>
              <a:t>Negative</a:t>
            </a:r>
            <a:r>
              <a:rPr dirty="0" sz="1550" spc="4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Predictive</a:t>
            </a:r>
            <a:r>
              <a:rPr dirty="0" sz="1550" spc="4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Value:</a:t>
            </a:r>
            <a:r>
              <a:rPr dirty="0" sz="1550" spc="105">
                <a:latin typeface="Trebuchet MS"/>
                <a:cs typeface="Trebuchet MS"/>
              </a:rPr>
              <a:t> </a:t>
            </a:r>
            <a:r>
              <a:rPr dirty="0" sz="1550" spc="70">
                <a:latin typeface="Trebuchet MS"/>
                <a:cs typeface="Trebuchet MS"/>
              </a:rPr>
              <a:t>100%</a:t>
            </a:r>
            <a:r>
              <a:rPr dirty="0" sz="1550" spc="40">
                <a:latin typeface="Trebuchet MS"/>
                <a:cs typeface="Trebuchet MS"/>
              </a:rPr>
              <a:t> </a:t>
            </a:r>
            <a:r>
              <a:rPr dirty="0" sz="1550" spc="60">
                <a:latin typeface="Trebuchet MS"/>
                <a:cs typeface="Trebuchet MS"/>
              </a:rPr>
              <a:t>(0/89</a:t>
            </a:r>
            <a:r>
              <a:rPr dirty="0" sz="1550" spc="7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without</a:t>
            </a:r>
            <a:r>
              <a:rPr dirty="0" sz="1550" spc="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fear</a:t>
            </a:r>
            <a:r>
              <a:rPr dirty="0" sz="1550" spc="70">
                <a:latin typeface="Trebuchet MS"/>
                <a:cs typeface="Trebuchet MS"/>
              </a:rPr>
              <a:t> </a:t>
            </a:r>
            <a:r>
              <a:rPr dirty="0" sz="1550" spc="45">
                <a:latin typeface="Trebuchet MS"/>
                <a:cs typeface="Trebuchet MS"/>
              </a:rPr>
              <a:t>paid)</a:t>
            </a:r>
            <a:endParaRPr sz="1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Urgency/</a:t>
            </a:r>
            <a:r>
              <a:rPr dirty="0" spc="-70"/>
              <a:t> </a:t>
            </a:r>
            <a:r>
              <a:rPr dirty="0"/>
              <a:t>Time</a:t>
            </a:r>
            <a:r>
              <a:rPr dirty="0" spc="-35"/>
              <a:t> </a:t>
            </a:r>
            <a:r>
              <a:rPr dirty="0" spc="-10"/>
              <a:t>Pressure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0" y="1025016"/>
          <a:ext cx="9220200" cy="121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No</a:t>
                      </a:r>
                      <a:r>
                        <a:rPr dirty="0" sz="14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Urgency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Urgency</a:t>
                      </a:r>
                      <a:r>
                        <a:rPr dirty="0" sz="14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Present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Total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No</a:t>
                      </a:r>
                      <a:r>
                        <a:rPr dirty="0" sz="14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Payment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91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(98.9%)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400" spc="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(25%)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92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Made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Payment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400" spc="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(1.1%)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3</a:t>
                      </a:r>
                      <a:r>
                        <a:rPr dirty="0" sz="1400" spc="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(75%)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Total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92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96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Statistical</a:t>
            </a:r>
            <a:r>
              <a:rPr dirty="0" spc="-55"/>
              <a:t> </a:t>
            </a:r>
            <a:r>
              <a:rPr dirty="0"/>
              <a:t>Test:</a:t>
            </a:r>
            <a:r>
              <a:rPr dirty="0" spc="-60"/>
              <a:t> </a:t>
            </a:r>
            <a:r>
              <a:rPr dirty="0"/>
              <a:t>Fisher's</a:t>
            </a:r>
            <a:r>
              <a:rPr dirty="0" spc="-130"/>
              <a:t> </a:t>
            </a:r>
            <a:r>
              <a:rPr dirty="0" spc="-10"/>
              <a:t>Exact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575" y="1316037"/>
            <a:ext cx="6807834" cy="295719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130">
                <a:latin typeface="Trebuchet MS"/>
                <a:cs typeface="Trebuchet MS"/>
              </a:rPr>
              <a:t>Odds</a:t>
            </a:r>
            <a:r>
              <a:rPr dirty="0" sz="1550" spc="-4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Ratio:</a:t>
            </a:r>
            <a:r>
              <a:rPr dirty="0" sz="1550" spc="-55">
                <a:latin typeface="Trebuchet MS"/>
                <a:cs typeface="Trebuchet MS"/>
              </a:rPr>
              <a:t> </a:t>
            </a:r>
            <a:r>
              <a:rPr dirty="0" sz="1550" spc="95">
                <a:latin typeface="Trebuchet MS"/>
                <a:cs typeface="Trebuchet MS"/>
              </a:rPr>
              <a:t>273</a:t>
            </a:r>
            <a:endParaRPr sz="1550">
              <a:latin typeface="Trebuchet MS"/>
              <a:cs typeface="Trebuchet MS"/>
            </a:endParaRPr>
          </a:p>
          <a:p>
            <a:pPr marL="241935" indent="-229235">
              <a:lnSpc>
                <a:spcPct val="100000"/>
              </a:lnSpc>
              <a:spcBef>
                <a:spcPts val="95"/>
              </a:spcBef>
              <a:buSzPct val="93548"/>
              <a:buAutoNum type="alphaLcPeriod" startAt="16"/>
              <a:tabLst>
                <a:tab pos="241935" algn="l"/>
              </a:tabLst>
            </a:pPr>
            <a:r>
              <a:rPr dirty="0" sz="1550">
                <a:latin typeface="Trebuchet MS"/>
                <a:cs typeface="Trebuchet MS"/>
              </a:rPr>
              <a:t>value:</a:t>
            </a:r>
            <a:r>
              <a:rPr dirty="0" sz="1550" spc="-10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0.0001</a:t>
            </a: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550">
                <a:latin typeface="Trebuchet MS"/>
                <a:cs typeface="Trebuchet MS"/>
              </a:rPr>
              <a:t>Effect</a:t>
            </a:r>
            <a:r>
              <a:rPr dirty="0" sz="1550" spc="-1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Size:</a:t>
            </a:r>
            <a:r>
              <a:rPr dirty="0" sz="1550" spc="10">
                <a:latin typeface="Trebuchet MS"/>
                <a:cs typeface="Trebuchet MS"/>
              </a:rPr>
              <a:t> </a:t>
            </a:r>
            <a:r>
              <a:rPr dirty="0" sz="1550" spc="95">
                <a:latin typeface="Trebuchet MS"/>
                <a:cs typeface="Trebuchet MS"/>
              </a:rPr>
              <a:t>Cohen's</a:t>
            </a:r>
            <a:r>
              <a:rPr dirty="0" sz="1550" spc="2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h</a:t>
            </a:r>
            <a:r>
              <a:rPr dirty="0" sz="1550" spc="105">
                <a:latin typeface="Trebuchet MS"/>
                <a:cs typeface="Trebuchet MS"/>
              </a:rPr>
              <a:t> </a:t>
            </a:r>
            <a:r>
              <a:rPr dirty="0" sz="1550" spc="235">
                <a:latin typeface="Trebuchet MS"/>
                <a:cs typeface="Trebuchet MS"/>
              </a:rPr>
              <a:t>=</a:t>
            </a:r>
            <a:r>
              <a:rPr dirty="0" sz="1550" spc="15">
                <a:latin typeface="Trebuchet MS"/>
                <a:cs typeface="Trebuchet MS"/>
              </a:rPr>
              <a:t> </a:t>
            </a:r>
            <a:r>
              <a:rPr dirty="0" sz="1550" spc="-20">
                <a:latin typeface="Trebuchet MS"/>
                <a:cs typeface="Trebuchet MS"/>
              </a:rPr>
              <a:t>1.886</a:t>
            </a:r>
            <a:endParaRPr sz="1550">
              <a:latin typeface="Trebuchet MS"/>
              <a:cs typeface="Trebuchet MS"/>
            </a:endParaRPr>
          </a:p>
          <a:p>
            <a:pPr lvl="1" marL="102870" indent="-100330">
              <a:lnSpc>
                <a:spcPct val="100000"/>
              </a:lnSpc>
              <a:spcBef>
                <a:spcPts val="90"/>
              </a:spcBef>
              <a:buSzPct val="83870"/>
              <a:buChar char="•"/>
              <a:tabLst>
                <a:tab pos="102870" algn="l"/>
              </a:tabLst>
            </a:pPr>
            <a:r>
              <a:rPr dirty="0" sz="1550">
                <a:latin typeface="Trebuchet MS"/>
                <a:cs typeface="Trebuchet MS"/>
              </a:rPr>
              <a:t>Benchmark:</a:t>
            </a:r>
            <a:r>
              <a:rPr dirty="0" sz="1550" spc="22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0.2=small,</a:t>
            </a:r>
            <a:r>
              <a:rPr dirty="0" sz="1550" spc="285">
                <a:latin typeface="Trebuchet MS"/>
                <a:cs typeface="Trebuchet MS"/>
              </a:rPr>
              <a:t> </a:t>
            </a:r>
            <a:r>
              <a:rPr dirty="0" sz="1550" spc="60">
                <a:latin typeface="Trebuchet MS"/>
                <a:cs typeface="Trebuchet MS"/>
              </a:rPr>
              <a:t>0.5=medium,</a:t>
            </a:r>
            <a:r>
              <a:rPr dirty="0" sz="1550" spc="170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0.8=large</a:t>
            </a:r>
            <a:endParaRPr sz="1550">
              <a:latin typeface="Trebuchet MS"/>
              <a:cs typeface="Trebuchet MS"/>
            </a:endParaRPr>
          </a:p>
          <a:p>
            <a:pPr lvl="1" marL="102870" indent="-100330">
              <a:lnSpc>
                <a:spcPct val="100000"/>
              </a:lnSpc>
              <a:spcBef>
                <a:spcPts val="95"/>
              </a:spcBef>
              <a:buSzPct val="83870"/>
              <a:buChar char="•"/>
              <a:tabLst>
                <a:tab pos="102870" algn="l"/>
              </a:tabLst>
            </a:pPr>
            <a:r>
              <a:rPr dirty="0" sz="1550" spc="-40">
                <a:latin typeface="Trebuchet MS"/>
                <a:cs typeface="Trebuchet MS"/>
              </a:rPr>
              <a:t>1.89</a:t>
            </a:r>
            <a:r>
              <a:rPr dirty="0" sz="1550" spc="20">
                <a:latin typeface="Trebuchet MS"/>
                <a:cs typeface="Trebuchet MS"/>
              </a:rPr>
              <a:t> </a:t>
            </a:r>
            <a:r>
              <a:rPr dirty="0" sz="1550" spc="235">
                <a:latin typeface="Trebuchet MS"/>
                <a:cs typeface="Trebuchet MS"/>
              </a:rPr>
              <a:t>=</a:t>
            </a:r>
            <a:r>
              <a:rPr dirty="0" sz="1550" spc="-5">
                <a:latin typeface="Trebuchet MS"/>
                <a:cs typeface="Trebuchet MS"/>
              </a:rPr>
              <a:t> </a:t>
            </a:r>
            <a:r>
              <a:rPr dirty="0" sz="1550" spc="140">
                <a:latin typeface="Trebuchet MS"/>
                <a:cs typeface="Trebuchet MS"/>
              </a:rPr>
              <a:t>EXTREMELY</a:t>
            </a:r>
            <a:r>
              <a:rPr dirty="0" sz="1550" spc="25">
                <a:latin typeface="Trebuchet MS"/>
                <a:cs typeface="Trebuchet MS"/>
              </a:rPr>
              <a:t> </a:t>
            </a:r>
            <a:r>
              <a:rPr dirty="0" sz="1550" spc="114">
                <a:latin typeface="Trebuchet MS"/>
                <a:cs typeface="Trebuchet MS"/>
              </a:rPr>
              <a:t>LARGE</a:t>
            </a:r>
            <a:r>
              <a:rPr dirty="0" sz="1550" spc="5">
                <a:latin typeface="Trebuchet MS"/>
                <a:cs typeface="Trebuchet MS"/>
              </a:rPr>
              <a:t> </a:t>
            </a:r>
            <a:r>
              <a:rPr dirty="0" sz="1550" spc="75">
                <a:latin typeface="Trebuchet MS"/>
                <a:cs typeface="Trebuchet MS"/>
              </a:rPr>
              <a:t>(more</a:t>
            </a:r>
            <a:r>
              <a:rPr dirty="0" sz="1550" spc="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than</a:t>
            </a:r>
            <a:r>
              <a:rPr dirty="0" sz="1550" spc="5">
                <a:latin typeface="Trebuchet MS"/>
                <a:cs typeface="Trebuchet MS"/>
              </a:rPr>
              <a:t> </a:t>
            </a:r>
            <a:r>
              <a:rPr dirty="0" sz="1550" spc="85">
                <a:latin typeface="Trebuchet MS"/>
                <a:cs typeface="Trebuchet MS"/>
              </a:rPr>
              <a:t>2</a:t>
            </a:r>
            <a:r>
              <a:rPr dirty="0" sz="1550" spc="85">
                <a:latin typeface="Arial"/>
                <a:cs typeface="Arial"/>
              </a:rPr>
              <a:t>×</a:t>
            </a:r>
            <a:r>
              <a:rPr dirty="0" sz="1550" spc="55">
                <a:latin typeface="Arial"/>
                <a:cs typeface="Arial"/>
              </a:rPr>
              <a:t> </a:t>
            </a:r>
            <a:r>
              <a:rPr dirty="0" sz="1550">
                <a:latin typeface="Trebuchet MS"/>
                <a:cs typeface="Trebuchet MS"/>
              </a:rPr>
              <a:t>"large"</a:t>
            </a:r>
            <a:r>
              <a:rPr dirty="0" sz="1550" spc="35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threshold)</a:t>
            </a:r>
            <a:endParaRPr sz="15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550" spc="-10">
                <a:latin typeface="Trebuchet MS"/>
                <a:cs typeface="Trebuchet MS"/>
              </a:rPr>
              <a:t>Interpretation</a:t>
            </a:r>
            <a:endParaRPr sz="1550">
              <a:latin typeface="Trebuchet MS"/>
              <a:cs typeface="Trebuchet MS"/>
            </a:endParaRPr>
          </a:p>
          <a:p>
            <a:pPr marL="12700" marR="71755">
              <a:lnSpc>
                <a:spcPts val="1950"/>
              </a:lnSpc>
              <a:spcBef>
                <a:spcPts val="10"/>
              </a:spcBef>
            </a:pPr>
            <a:r>
              <a:rPr dirty="0" sz="1550" spc="95">
                <a:latin typeface="Trebuchet MS"/>
                <a:cs typeface="Trebuchet MS"/>
              </a:rPr>
              <a:t>Second</a:t>
            </a:r>
            <a:r>
              <a:rPr dirty="0" sz="1550" spc="100">
                <a:latin typeface="Trebuchet MS"/>
                <a:cs typeface="Trebuchet MS"/>
              </a:rPr>
              <a:t> </a:t>
            </a:r>
            <a:r>
              <a:rPr dirty="0" sz="1550" spc="75">
                <a:latin typeface="Trebuchet MS"/>
                <a:cs typeface="Trebuchet MS"/>
              </a:rPr>
              <a:t>most</a:t>
            </a:r>
            <a:r>
              <a:rPr dirty="0" sz="1550" spc="4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powerful</a:t>
            </a:r>
            <a:r>
              <a:rPr dirty="0" sz="1550" spc="1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predictor.</a:t>
            </a:r>
            <a:r>
              <a:rPr dirty="0" sz="1550" spc="8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Urgency/time</a:t>
            </a:r>
            <a:r>
              <a:rPr dirty="0" sz="1550" spc="95">
                <a:latin typeface="Trebuchet MS"/>
                <a:cs typeface="Trebuchet MS"/>
              </a:rPr>
              <a:t> </a:t>
            </a:r>
            <a:r>
              <a:rPr dirty="0" sz="1550" spc="45">
                <a:latin typeface="Trebuchet MS"/>
                <a:cs typeface="Trebuchet MS"/>
              </a:rPr>
              <a:t>pressure</a:t>
            </a:r>
            <a:r>
              <a:rPr dirty="0" sz="1550" spc="95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increases</a:t>
            </a:r>
            <a:r>
              <a:rPr dirty="0" sz="1550" spc="85">
                <a:latin typeface="Trebuchet MS"/>
                <a:cs typeface="Trebuchet MS"/>
              </a:rPr>
              <a:t> </a:t>
            </a:r>
            <a:r>
              <a:rPr dirty="0" sz="1550" spc="90">
                <a:latin typeface="Trebuchet MS"/>
                <a:cs typeface="Trebuchet MS"/>
              </a:rPr>
              <a:t>odds </a:t>
            </a:r>
            <a:r>
              <a:rPr dirty="0" sz="1550">
                <a:latin typeface="Trebuchet MS"/>
                <a:cs typeface="Trebuchet MS"/>
              </a:rPr>
              <a:t>of</a:t>
            </a:r>
            <a:r>
              <a:rPr dirty="0" sz="1550" spc="13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payment</a:t>
            </a:r>
            <a:r>
              <a:rPr dirty="0" sz="1550" spc="175">
                <a:latin typeface="Trebuchet MS"/>
                <a:cs typeface="Trebuchet MS"/>
              </a:rPr>
              <a:t> </a:t>
            </a:r>
            <a:r>
              <a:rPr dirty="0" sz="1550" spc="70">
                <a:latin typeface="Trebuchet MS"/>
                <a:cs typeface="Trebuchet MS"/>
              </a:rPr>
              <a:t>by</a:t>
            </a:r>
            <a:r>
              <a:rPr dirty="0" sz="1550" spc="145">
                <a:latin typeface="Trebuchet MS"/>
                <a:cs typeface="Trebuchet MS"/>
              </a:rPr>
              <a:t> </a:t>
            </a:r>
            <a:r>
              <a:rPr dirty="0" sz="1550" spc="150">
                <a:latin typeface="Trebuchet MS"/>
                <a:cs typeface="Trebuchet MS"/>
              </a:rPr>
              <a:t>273-</a:t>
            </a:r>
            <a:r>
              <a:rPr dirty="0" sz="1550" spc="-25">
                <a:latin typeface="Trebuchet MS"/>
                <a:cs typeface="Trebuchet MS"/>
              </a:rPr>
              <a:t>fold.</a:t>
            </a:r>
            <a:r>
              <a:rPr dirty="0" sz="1550" spc="130">
                <a:latin typeface="Trebuchet MS"/>
                <a:cs typeface="Trebuchet MS"/>
              </a:rPr>
              <a:t> </a:t>
            </a:r>
            <a:r>
              <a:rPr dirty="0" sz="1550" spc="135">
                <a:latin typeface="Trebuchet MS"/>
                <a:cs typeface="Trebuchet MS"/>
              </a:rPr>
              <a:t>Among</a:t>
            </a:r>
            <a:r>
              <a:rPr dirty="0" sz="1550" spc="14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those</a:t>
            </a:r>
            <a:r>
              <a:rPr dirty="0" sz="1550" spc="14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experiencing</a:t>
            </a:r>
            <a:r>
              <a:rPr dirty="0" sz="1550" spc="14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urgency,</a:t>
            </a:r>
            <a:r>
              <a:rPr dirty="0" sz="1550" spc="70">
                <a:latin typeface="Trebuchet MS"/>
                <a:cs typeface="Trebuchet MS"/>
              </a:rPr>
              <a:t> </a:t>
            </a:r>
            <a:r>
              <a:rPr dirty="0" sz="1550" spc="130">
                <a:latin typeface="Trebuchet MS"/>
                <a:cs typeface="Trebuchet MS"/>
              </a:rPr>
              <a:t>3</a:t>
            </a:r>
            <a:r>
              <a:rPr dirty="0" sz="1550" spc="15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out</a:t>
            </a:r>
            <a:r>
              <a:rPr dirty="0" sz="1550" spc="8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of</a:t>
            </a:r>
            <a:r>
              <a:rPr dirty="0" sz="1550" spc="135">
                <a:latin typeface="Trebuchet MS"/>
                <a:cs typeface="Trebuchet MS"/>
              </a:rPr>
              <a:t> </a:t>
            </a:r>
            <a:r>
              <a:rPr dirty="0" sz="1550" spc="165">
                <a:latin typeface="Trebuchet MS"/>
                <a:cs typeface="Trebuchet MS"/>
              </a:rPr>
              <a:t>4</a:t>
            </a:r>
            <a:endParaRPr sz="1550">
              <a:latin typeface="Trebuchet MS"/>
              <a:cs typeface="Trebuchet MS"/>
            </a:endParaRPr>
          </a:p>
          <a:p>
            <a:pPr marL="12700" marR="5080">
              <a:lnSpc>
                <a:spcPts val="1880"/>
              </a:lnSpc>
              <a:spcBef>
                <a:spcPts val="65"/>
              </a:spcBef>
            </a:pPr>
            <a:r>
              <a:rPr dirty="0" sz="1550" spc="50">
                <a:latin typeface="Trebuchet MS"/>
                <a:cs typeface="Trebuchet MS"/>
              </a:rPr>
              <a:t>paid </a:t>
            </a:r>
            <a:r>
              <a:rPr dirty="0" sz="1550" spc="85">
                <a:latin typeface="Trebuchet MS"/>
                <a:cs typeface="Trebuchet MS"/>
              </a:rPr>
              <a:t>(75%),</a:t>
            </a:r>
            <a:r>
              <a:rPr dirty="0" sz="1550" spc="-5">
                <a:latin typeface="Trebuchet MS"/>
                <a:cs typeface="Trebuchet MS"/>
              </a:rPr>
              <a:t> </a:t>
            </a:r>
            <a:r>
              <a:rPr dirty="0" sz="1550" spc="75">
                <a:latin typeface="Trebuchet MS"/>
                <a:cs typeface="Trebuchet MS"/>
              </a:rPr>
              <a:t>compared</a:t>
            </a:r>
            <a:r>
              <a:rPr dirty="0" sz="1550" spc="5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to</a:t>
            </a:r>
            <a:r>
              <a:rPr dirty="0" sz="1550" spc="8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only</a:t>
            </a:r>
            <a:r>
              <a:rPr dirty="0" sz="1550" spc="55">
                <a:latin typeface="Trebuchet MS"/>
                <a:cs typeface="Trebuchet MS"/>
              </a:rPr>
              <a:t> </a:t>
            </a:r>
            <a:r>
              <a:rPr dirty="0" sz="1550" spc="-335">
                <a:latin typeface="Trebuchet MS"/>
                <a:cs typeface="Trebuchet MS"/>
              </a:rPr>
              <a:t>1</a:t>
            </a:r>
            <a:r>
              <a:rPr dirty="0" sz="1550" spc="-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out</a:t>
            </a:r>
            <a:r>
              <a:rPr dirty="0" sz="1550" spc="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of</a:t>
            </a:r>
            <a:r>
              <a:rPr dirty="0" sz="1550" spc="50">
                <a:latin typeface="Trebuchet MS"/>
                <a:cs typeface="Trebuchet MS"/>
              </a:rPr>
              <a:t> </a:t>
            </a:r>
            <a:r>
              <a:rPr dirty="0" sz="1550" spc="140">
                <a:latin typeface="Trebuchet MS"/>
                <a:cs typeface="Trebuchet MS"/>
              </a:rPr>
              <a:t>92</a:t>
            </a:r>
            <a:r>
              <a:rPr dirty="0" sz="1550" spc="-20">
                <a:latin typeface="Trebuchet MS"/>
                <a:cs typeface="Trebuchet MS"/>
              </a:rPr>
              <a:t> </a:t>
            </a:r>
            <a:r>
              <a:rPr dirty="0" sz="1550" spc="-70">
                <a:latin typeface="Trebuchet MS"/>
                <a:cs typeface="Trebuchet MS"/>
              </a:rPr>
              <a:t>(1.1%)</a:t>
            </a:r>
            <a:r>
              <a:rPr dirty="0" sz="1550" spc="7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without</a:t>
            </a:r>
            <a:r>
              <a:rPr dirty="0" sz="1550" spc="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urgency.</a:t>
            </a:r>
            <a:r>
              <a:rPr dirty="0" sz="1550" spc="45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This</a:t>
            </a:r>
            <a:r>
              <a:rPr dirty="0" sz="1550" spc="3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is</a:t>
            </a:r>
            <a:r>
              <a:rPr dirty="0" sz="1550" spc="40">
                <a:latin typeface="Trebuchet MS"/>
                <a:cs typeface="Trebuchet MS"/>
              </a:rPr>
              <a:t> </a:t>
            </a:r>
            <a:r>
              <a:rPr dirty="0" sz="1550" spc="-50">
                <a:latin typeface="Trebuchet MS"/>
                <a:cs typeface="Trebuchet MS"/>
              </a:rPr>
              <a:t>a </a:t>
            </a:r>
            <a:r>
              <a:rPr dirty="0" sz="1550" spc="145">
                <a:latin typeface="Trebuchet MS"/>
                <a:cs typeface="Trebuchet MS"/>
              </a:rPr>
              <a:t>74</a:t>
            </a:r>
            <a:r>
              <a:rPr dirty="0" sz="1550" spc="70">
                <a:latin typeface="Trebuchet MS"/>
                <a:cs typeface="Trebuchet MS"/>
              </a:rPr>
              <a:t> </a:t>
            </a:r>
            <a:r>
              <a:rPr dirty="0" sz="1550" spc="45">
                <a:latin typeface="Trebuchet MS"/>
                <a:cs typeface="Trebuchet MS"/>
              </a:rPr>
              <a:t>percentage</a:t>
            </a:r>
            <a:r>
              <a:rPr dirty="0" sz="1550" spc="6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point</a:t>
            </a:r>
            <a:r>
              <a:rPr dirty="0" sz="1550" spc="100">
                <a:latin typeface="Trebuchet MS"/>
                <a:cs typeface="Trebuchet MS"/>
              </a:rPr>
              <a:t> </a:t>
            </a:r>
            <a:r>
              <a:rPr dirty="0" sz="1550" spc="65">
                <a:latin typeface="Trebuchet MS"/>
                <a:cs typeface="Trebuchet MS"/>
              </a:rPr>
              <a:t>increase—</a:t>
            </a:r>
            <a:r>
              <a:rPr dirty="0" sz="1550" spc="70">
                <a:latin typeface="Trebuchet MS"/>
                <a:cs typeface="Trebuchet MS"/>
              </a:rPr>
              <a:t>one </a:t>
            </a:r>
            <a:r>
              <a:rPr dirty="0" sz="1550">
                <a:latin typeface="Trebuchet MS"/>
                <a:cs typeface="Trebuchet MS"/>
              </a:rPr>
              <a:t>of</a:t>
            </a:r>
            <a:r>
              <a:rPr dirty="0" sz="1550" spc="7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the</a:t>
            </a:r>
            <a:r>
              <a:rPr dirty="0" sz="1550" spc="7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largest</a:t>
            </a:r>
            <a:r>
              <a:rPr dirty="0" sz="1550" spc="2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effects</a:t>
            </a:r>
            <a:r>
              <a:rPr dirty="0" sz="1550" spc="150">
                <a:latin typeface="Trebuchet MS"/>
                <a:cs typeface="Trebuchet MS"/>
              </a:rPr>
              <a:t> </a:t>
            </a:r>
            <a:r>
              <a:rPr dirty="0" sz="1550" spc="-20">
                <a:latin typeface="Trebuchet MS"/>
                <a:cs typeface="Trebuchet MS"/>
              </a:rPr>
              <a:t>ever</a:t>
            </a: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550" spc="65">
                <a:latin typeface="Trebuchet MS"/>
                <a:cs typeface="Trebuchet MS"/>
              </a:rPr>
              <a:t>documented</a:t>
            </a:r>
            <a:r>
              <a:rPr dirty="0" sz="1550" spc="11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in</a:t>
            </a:r>
            <a:r>
              <a:rPr dirty="0" sz="1550" spc="10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behavioral</a:t>
            </a:r>
            <a:r>
              <a:rPr dirty="0" sz="1550" spc="20">
                <a:latin typeface="Trebuchet MS"/>
                <a:cs typeface="Trebuchet MS"/>
              </a:rPr>
              <a:t> </a:t>
            </a:r>
            <a:r>
              <a:rPr dirty="0" sz="1550" spc="45">
                <a:latin typeface="Trebuchet MS"/>
                <a:cs typeface="Trebuchet MS"/>
              </a:rPr>
              <a:t>economics.</a:t>
            </a:r>
            <a:endParaRPr sz="1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Vulnerability</a:t>
            </a:r>
            <a:r>
              <a:rPr dirty="0" spc="-95"/>
              <a:t> </a:t>
            </a:r>
            <a:r>
              <a:rPr dirty="0" spc="-10"/>
              <a:t>Moderation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0" y="1071372"/>
          <a:ext cx="92202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0"/>
                <a:gridCol w="3048000"/>
                <a:gridCol w="3048000"/>
              </a:tblGrid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400" spc="-10" b="1">
                          <a:latin typeface="Trebuchet MS"/>
                          <a:cs typeface="Trebuchet MS"/>
                        </a:rPr>
                        <a:t>Low</a:t>
                      </a:r>
                      <a:r>
                        <a:rPr dirty="0" sz="1400" spc="-8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 b="1">
                          <a:latin typeface="Trebuchet MS"/>
                          <a:cs typeface="Trebuchet MS"/>
                        </a:rPr>
                        <a:t>Vulnerability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400" b="1">
                          <a:latin typeface="Trebuchet MS"/>
                          <a:cs typeface="Trebuchet MS"/>
                        </a:rPr>
                        <a:t>High</a:t>
                      </a:r>
                      <a:r>
                        <a:rPr dirty="0" sz="1400" spc="114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 b="1">
                          <a:latin typeface="Trebuchet MS"/>
                          <a:cs typeface="Trebuchet MS"/>
                        </a:rPr>
                        <a:t>Vulnerability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dirty="0" sz="1400" spc="-10" b="1">
                          <a:latin typeface="Trebuchet MS"/>
                          <a:cs typeface="Trebuchet MS"/>
                        </a:rPr>
                        <a:t>Low</a:t>
                      </a:r>
                      <a:r>
                        <a:rPr dirty="0" sz="1400" spc="-1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b="1">
                          <a:latin typeface="Trebuchet MS"/>
                          <a:cs typeface="Trebuchet MS"/>
                        </a:rPr>
                        <a:t>Loss</a:t>
                      </a:r>
                      <a:r>
                        <a:rPr dirty="0" sz="1400" spc="11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 b="1">
                          <a:latin typeface="Trebuchet MS"/>
                          <a:cs typeface="Trebuchet MS"/>
                        </a:rPr>
                        <a:t>Aversion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2544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dirty="0" sz="1400" spc="195">
                          <a:latin typeface="Trebuchet MS"/>
                          <a:cs typeface="Trebuchet MS"/>
                        </a:rPr>
                        <a:t>0%</a:t>
                      </a:r>
                      <a:r>
                        <a:rPr dirty="0" sz="140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latin typeface="Trebuchet MS"/>
                          <a:cs typeface="Trebuchet MS"/>
                        </a:rPr>
                        <a:t>paid</a:t>
                      </a:r>
                      <a:r>
                        <a:rPr dirty="0" sz="1400" spc="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>
                          <a:latin typeface="Trebuchet MS"/>
                          <a:cs typeface="Trebuchet MS"/>
                        </a:rPr>
                        <a:t>(0/18)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2544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dirty="0" sz="1400" spc="195">
                          <a:latin typeface="Trebuchet MS"/>
                          <a:cs typeface="Trebuchet MS"/>
                        </a:rPr>
                        <a:t>0%</a:t>
                      </a:r>
                      <a:r>
                        <a:rPr dirty="0" sz="140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latin typeface="Trebuchet MS"/>
                          <a:cs typeface="Trebuchet MS"/>
                        </a:rPr>
                        <a:t>paid</a:t>
                      </a:r>
                      <a:r>
                        <a:rPr dirty="0" sz="1400" spc="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>
                          <a:latin typeface="Trebuchet MS"/>
                          <a:cs typeface="Trebuchet MS"/>
                        </a:rPr>
                        <a:t>(0/71)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2544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 b="1">
                          <a:latin typeface="Trebuchet MS"/>
                          <a:cs typeface="Trebuchet MS"/>
                        </a:rPr>
                        <a:t>High</a:t>
                      </a:r>
                      <a:r>
                        <a:rPr dirty="0" sz="1400" spc="13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b="1">
                          <a:latin typeface="Trebuchet MS"/>
                          <a:cs typeface="Trebuchet MS"/>
                        </a:rPr>
                        <a:t>Loss</a:t>
                      </a:r>
                      <a:r>
                        <a:rPr dirty="0" sz="1400" spc="8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 b="1">
                          <a:latin typeface="Trebuchet MS"/>
                          <a:cs typeface="Trebuchet MS"/>
                        </a:rPr>
                        <a:t>Aversion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 spc="195">
                          <a:latin typeface="Trebuchet MS"/>
                          <a:cs typeface="Trebuchet MS"/>
                        </a:rPr>
                        <a:t>0%</a:t>
                      </a:r>
                      <a:r>
                        <a:rPr dirty="0" sz="140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latin typeface="Trebuchet MS"/>
                          <a:cs typeface="Trebuchet MS"/>
                        </a:rPr>
                        <a:t>paid</a:t>
                      </a:r>
                      <a:r>
                        <a:rPr dirty="0" sz="1400" spc="6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>
                          <a:latin typeface="Trebuchet MS"/>
                          <a:cs typeface="Trebuchet MS"/>
                        </a:rPr>
                        <a:t>(0/0)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 spc="-65" b="1">
                          <a:latin typeface="Trebuchet MS"/>
                          <a:cs typeface="Trebuchet MS"/>
                        </a:rPr>
                        <a:t>57.1%</a:t>
                      </a:r>
                      <a:r>
                        <a:rPr dirty="0" sz="1400" spc="-2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b="1">
                          <a:latin typeface="Trebuchet MS"/>
                          <a:cs typeface="Trebuchet MS"/>
                        </a:rPr>
                        <a:t>paid</a:t>
                      </a:r>
                      <a:r>
                        <a:rPr dirty="0" sz="1400" spc="-6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20" b="1">
                          <a:latin typeface="Trebuchet MS"/>
                          <a:cs typeface="Trebuchet MS"/>
                        </a:rPr>
                        <a:t>(4/7)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44145" y="2420302"/>
            <a:ext cx="8449945" cy="12490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200">
                <a:latin typeface="Trebuchet MS"/>
                <a:cs typeface="Trebuchet MS"/>
              </a:rPr>
              <a:t>3-</a:t>
            </a:r>
            <a:r>
              <a:rPr dirty="0" sz="1550" spc="95">
                <a:latin typeface="Trebuchet MS"/>
                <a:cs typeface="Trebuchet MS"/>
              </a:rPr>
              <a:t>Way</a:t>
            </a:r>
            <a:r>
              <a:rPr dirty="0" sz="1550" spc="8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Breakdown:</a:t>
            </a:r>
            <a:r>
              <a:rPr dirty="0" sz="1550" spc="5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Vulnerability</a:t>
            </a:r>
            <a:r>
              <a:rPr dirty="0" sz="1550" spc="110">
                <a:latin typeface="Trebuchet MS"/>
                <a:cs typeface="Trebuchet MS"/>
              </a:rPr>
              <a:t> </a:t>
            </a:r>
            <a:r>
              <a:rPr dirty="0" sz="1550">
                <a:latin typeface="Arial"/>
                <a:cs typeface="Arial"/>
              </a:rPr>
              <a:t>×</a:t>
            </a:r>
            <a:r>
              <a:rPr dirty="0" sz="1550" spc="120">
                <a:latin typeface="Arial"/>
                <a:cs typeface="Arial"/>
              </a:rPr>
              <a:t> </a:t>
            </a:r>
            <a:r>
              <a:rPr dirty="0" sz="1550" spc="95">
                <a:latin typeface="Trebuchet MS"/>
                <a:cs typeface="Trebuchet MS"/>
              </a:rPr>
              <a:t>Loss</a:t>
            </a:r>
            <a:r>
              <a:rPr dirty="0" sz="1550" spc="65">
                <a:latin typeface="Trebuchet MS"/>
                <a:cs typeface="Trebuchet MS"/>
              </a:rPr>
              <a:t> </a:t>
            </a:r>
            <a:r>
              <a:rPr dirty="0" sz="1550" spc="60">
                <a:latin typeface="Trebuchet MS"/>
                <a:cs typeface="Trebuchet MS"/>
              </a:rPr>
              <a:t>Aversion</a:t>
            </a:r>
            <a:r>
              <a:rPr dirty="0" sz="1550" spc="70">
                <a:latin typeface="Trebuchet MS"/>
                <a:cs typeface="Trebuchet MS"/>
              </a:rPr>
              <a:t> </a:t>
            </a:r>
            <a:r>
              <a:rPr dirty="0" sz="1550">
                <a:latin typeface="Arial"/>
                <a:cs typeface="Arial"/>
              </a:rPr>
              <a:t>×</a:t>
            </a:r>
            <a:r>
              <a:rPr dirty="0" sz="1550" spc="120">
                <a:latin typeface="Arial"/>
                <a:cs typeface="Arial"/>
              </a:rPr>
              <a:t> </a:t>
            </a:r>
            <a:r>
              <a:rPr dirty="0" sz="1550" spc="40">
                <a:latin typeface="Trebuchet MS"/>
                <a:cs typeface="Trebuchet MS"/>
              </a:rPr>
              <a:t>Payment</a:t>
            </a:r>
            <a:endParaRPr sz="15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550" spc="100">
                <a:latin typeface="Trebuchet MS"/>
                <a:cs typeface="Trebuchet MS"/>
              </a:rPr>
              <a:t>Loss</a:t>
            </a:r>
            <a:r>
              <a:rPr dirty="0" sz="1550" spc="15">
                <a:latin typeface="Trebuchet MS"/>
                <a:cs typeface="Trebuchet MS"/>
              </a:rPr>
              <a:t> </a:t>
            </a:r>
            <a:r>
              <a:rPr dirty="0" sz="1550" spc="65">
                <a:latin typeface="Trebuchet MS"/>
                <a:cs typeface="Trebuchet MS"/>
              </a:rPr>
              <a:t>Aversion</a:t>
            </a:r>
            <a:r>
              <a:rPr dirty="0" sz="1550" spc="20">
                <a:latin typeface="Trebuchet MS"/>
                <a:cs typeface="Trebuchet MS"/>
              </a:rPr>
              <a:t> </a:t>
            </a:r>
            <a:r>
              <a:rPr dirty="0" sz="1550" spc="235">
                <a:latin typeface="Trebuchet MS"/>
                <a:cs typeface="Trebuchet MS"/>
              </a:rPr>
              <a:t>=</a:t>
            </a:r>
            <a:r>
              <a:rPr dirty="0" sz="1550" spc="1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Fear</a:t>
            </a:r>
            <a:r>
              <a:rPr dirty="0" sz="1550" spc="-3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of</a:t>
            </a:r>
            <a:r>
              <a:rPr dirty="0" sz="1550" spc="20">
                <a:latin typeface="Trebuchet MS"/>
                <a:cs typeface="Trebuchet MS"/>
              </a:rPr>
              <a:t> </a:t>
            </a:r>
            <a:r>
              <a:rPr dirty="0" sz="1550" spc="65">
                <a:latin typeface="Trebuchet MS"/>
                <a:cs typeface="Trebuchet MS"/>
              </a:rPr>
              <a:t>loss</a:t>
            </a:r>
            <a:r>
              <a:rPr dirty="0" sz="1550" spc="15">
                <a:latin typeface="Trebuchet MS"/>
                <a:cs typeface="Trebuchet MS"/>
              </a:rPr>
              <a:t> </a:t>
            </a:r>
            <a:r>
              <a:rPr dirty="0" sz="1550" spc="110">
                <a:latin typeface="Trebuchet MS"/>
                <a:cs typeface="Trebuchet MS"/>
              </a:rPr>
              <a:t>OR</a:t>
            </a:r>
            <a:r>
              <a:rPr dirty="0" sz="1550" spc="80">
                <a:latin typeface="Trebuchet MS"/>
                <a:cs typeface="Trebuchet MS"/>
              </a:rPr>
              <a:t> </a:t>
            </a:r>
            <a:r>
              <a:rPr dirty="0" sz="1550" spc="70">
                <a:latin typeface="Trebuchet MS"/>
                <a:cs typeface="Trebuchet MS"/>
              </a:rPr>
              <a:t>Urgency</a:t>
            </a:r>
            <a:r>
              <a:rPr dirty="0" sz="1550" spc="2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(binary: </a:t>
            </a:r>
            <a:r>
              <a:rPr dirty="0" sz="1550" spc="175">
                <a:latin typeface="Trebuchet MS"/>
                <a:cs typeface="Trebuchet MS"/>
              </a:rPr>
              <a:t>0</a:t>
            </a:r>
            <a:r>
              <a:rPr dirty="0" sz="1550" spc="70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or</a:t>
            </a:r>
            <a:r>
              <a:rPr dirty="0" sz="1550" spc="-35">
                <a:latin typeface="Trebuchet MS"/>
                <a:cs typeface="Trebuchet MS"/>
              </a:rPr>
              <a:t> </a:t>
            </a:r>
            <a:r>
              <a:rPr dirty="0" sz="1550" spc="-25">
                <a:latin typeface="Trebuchet MS"/>
                <a:cs typeface="Trebuchet MS"/>
              </a:rPr>
              <a:t>1+)</a:t>
            </a: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550" spc="175">
                <a:latin typeface="Trebuchet MS"/>
                <a:cs typeface="Trebuchet MS"/>
              </a:rPr>
              <a:t>N=0</a:t>
            </a:r>
            <a:r>
              <a:rPr dirty="0" sz="1550" spc="8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for</a:t>
            </a:r>
            <a:r>
              <a:rPr dirty="0" sz="1550" spc="6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low</a:t>
            </a:r>
            <a:r>
              <a:rPr dirty="0" sz="1550" spc="12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vulnerability</a:t>
            </a:r>
            <a:r>
              <a:rPr dirty="0" sz="1550" spc="45">
                <a:latin typeface="Trebuchet MS"/>
                <a:cs typeface="Trebuchet MS"/>
              </a:rPr>
              <a:t> </a:t>
            </a:r>
            <a:r>
              <a:rPr dirty="0" sz="1550" spc="185">
                <a:latin typeface="Trebuchet MS"/>
                <a:cs typeface="Trebuchet MS"/>
              </a:rPr>
              <a:t>+</a:t>
            </a:r>
            <a:r>
              <a:rPr dirty="0" sz="1550">
                <a:latin typeface="Trebuchet MS"/>
                <a:cs typeface="Trebuchet MS"/>
              </a:rPr>
              <a:t> </a:t>
            </a:r>
            <a:r>
              <a:rPr dirty="0" sz="1550" spc="70">
                <a:latin typeface="Trebuchet MS"/>
                <a:cs typeface="Trebuchet MS"/>
              </a:rPr>
              <a:t>high</a:t>
            </a:r>
            <a:r>
              <a:rPr dirty="0" sz="1550" spc="35">
                <a:latin typeface="Trebuchet MS"/>
                <a:cs typeface="Trebuchet MS"/>
              </a:rPr>
              <a:t> </a:t>
            </a:r>
            <a:r>
              <a:rPr dirty="0" sz="1550" spc="65">
                <a:latin typeface="Trebuchet MS"/>
                <a:cs typeface="Trebuchet MS"/>
              </a:rPr>
              <a:t>loss</a:t>
            </a:r>
            <a:r>
              <a:rPr dirty="0" sz="1550" spc="3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aversion:</a:t>
            </a:r>
            <a:r>
              <a:rPr dirty="0" sz="1550" spc="15">
                <a:latin typeface="Trebuchet MS"/>
                <a:cs typeface="Trebuchet MS"/>
              </a:rPr>
              <a:t> </a:t>
            </a:r>
            <a:r>
              <a:rPr dirty="0" sz="1550" spc="110">
                <a:latin typeface="Trebuchet MS"/>
                <a:cs typeface="Trebuchet MS"/>
              </a:rPr>
              <a:t>No</a:t>
            </a:r>
            <a:r>
              <a:rPr dirty="0" sz="1550" spc="-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vulnerable</a:t>
            </a:r>
            <a:r>
              <a:rPr dirty="0" sz="1550" spc="40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people</a:t>
            </a:r>
            <a:r>
              <a:rPr dirty="0" sz="1550" spc="4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reported</a:t>
            </a:r>
            <a:r>
              <a:rPr dirty="0" sz="1550" spc="50">
                <a:latin typeface="Trebuchet MS"/>
                <a:cs typeface="Trebuchet MS"/>
              </a:rPr>
              <a:t> </a:t>
            </a:r>
            <a:r>
              <a:rPr dirty="0" sz="1550" spc="65">
                <a:latin typeface="Trebuchet MS"/>
                <a:cs typeface="Trebuchet MS"/>
              </a:rPr>
              <a:t>loss</a:t>
            </a:r>
            <a:r>
              <a:rPr dirty="0" sz="1550" spc="35">
                <a:latin typeface="Trebuchet MS"/>
                <a:cs typeface="Trebuchet MS"/>
              </a:rPr>
              <a:t> </a:t>
            </a:r>
            <a:r>
              <a:rPr dirty="0" sz="1550" spc="40">
                <a:latin typeface="Trebuchet MS"/>
                <a:cs typeface="Trebuchet MS"/>
              </a:rPr>
              <a:t>aversion</a:t>
            </a: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35">
                <a:latin typeface="Trebuchet MS"/>
                <a:cs typeface="Trebuchet MS"/>
              </a:rPr>
              <a:t>triggers</a:t>
            </a:r>
            <a:endParaRPr sz="1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Vulnerability</a:t>
            </a:r>
            <a:r>
              <a:rPr dirty="0" spc="-95"/>
              <a:t> </a:t>
            </a:r>
            <a:r>
              <a:rPr dirty="0" spc="-10"/>
              <a:t>Moderation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295" y="955992"/>
            <a:ext cx="3975735" cy="21615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10">
                <a:latin typeface="Trebuchet MS"/>
                <a:cs typeface="Trebuchet MS"/>
              </a:rPr>
              <a:t>Interpretation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400">
              <a:latin typeface="Trebuchet MS"/>
              <a:cs typeface="Trebuchet MS"/>
            </a:endParaRPr>
          </a:p>
          <a:p>
            <a:pPr marL="12700" marR="5080">
              <a:lnSpc>
                <a:spcPct val="99700"/>
              </a:lnSpc>
            </a:pPr>
            <a:r>
              <a:rPr dirty="0" sz="1400" spc="80">
                <a:latin typeface="Trebuchet MS"/>
                <a:cs typeface="Trebuchet MS"/>
              </a:rPr>
              <a:t>Loss</a:t>
            </a:r>
            <a:r>
              <a:rPr dirty="0" sz="1400" spc="6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aversion</a:t>
            </a:r>
            <a:r>
              <a:rPr dirty="0" sz="1400" spc="10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only triggers</a:t>
            </a:r>
            <a:r>
              <a:rPr dirty="0" sz="1400" spc="7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payment</a:t>
            </a:r>
            <a:r>
              <a:rPr dirty="0" sz="1400" spc="10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when </a:t>
            </a:r>
            <a:r>
              <a:rPr dirty="0" sz="1400" spc="45">
                <a:latin typeface="Trebuchet MS"/>
                <a:cs typeface="Trebuchet MS"/>
              </a:rPr>
              <a:t>combined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with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financial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 spc="-30">
                <a:latin typeface="Trebuchet MS"/>
                <a:cs typeface="Trebuchet MS"/>
              </a:rPr>
              <a:t>vulnerability.</a:t>
            </a:r>
            <a:r>
              <a:rPr dirty="0" sz="1400" spc="-65">
                <a:latin typeface="Trebuchet MS"/>
                <a:cs typeface="Trebuchet MS"/>
              </a:rPr>
              <a:t> </a:t>
            </a:r>
            <a:r>
              <a:rPr dirty="0" sz="1400" spc="75">
                <a:latin typeface="Trebuchet MS"/>
                <a:cs typeface="Trebuchet MS"/>
              </a:rPr>
              <a:t>Among </a:t>
            </a:r>
            <a:r>
              <a:rPr dirty="0" sz="1400" spc="50">
                <a:latin typeface="Trebuchet MS"/>
                <a:cs typeface="Trebuchet MS"/>
              </a:rPr>
              <a:t>high</a:t>
            </a:r>
            <a:r>
              <a:rPr dirty="0" sz="1400" spc="3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vulnerability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individuals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with</a:t>
            </a:r>
            <a:r>
              <a:rPr dirty="0" sz="1400" spc="35">
                <a:latin typeface="Trebuchet MS"/>
                <a:cs typeface="Trebuchet MS"/>
              </a:rPr>
              <a:t> </a:t>
            </a:r>
            <a:r>
              <a:rPr dirty="0" sz="1400" spc="50">
                <a:latin typeface="Trebuchet MS"/>
                <a:cs typeface="Trebuchet MS"/>
              </a:rPr>
              <a:t>high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 spc="40">
                <a:latin typeface="Trebuchet MS"/>
                <a:cs typeface="Trebuchet MS"/>
              </a:rPr>
              <a:t>loss </a:t>
            </a:r>
            <a:r>
              <a:rPr dirty="0" sz="1400">
                <a:latin typeface="Trebuchet MS"/>
                <a:cs typeface="Trebuchet MS"/>
              </a:rPr>
              <a:t>aversion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(fear</a:t>
            </a:r>
            <a:r>
              <a:rPr dirty="0" sz="1400" spc="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of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loss</a:t>
            </a:r>
            <a:r>
              <a:rPr dirty="0" sz="1400" spc="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or</a:t>
            </a:r>
            <a:r>
              <a:rPr dirty="0" sz="1400" spc="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urgency),</a:t>
            </a:r>
            <a:r>
              <a:rPr dirty="0" sz="1400" spc="25">
                <a:latin typeface="Trebuchet MS"/>
                <a:cs typeface="Trebuchet MS"/>
              </a:rPr>
              <a:t> </a:t>
            </a:r>
            <a:r>
              <a:rPr dirty="0" sz="1400" spc="135">
                <a:latin typeface="Trebuchet MS"/>
                <a:cs typeface="Trebuchet MS"/>
              </a:rPr>
              <a:t>57%</a:t>
            </a:r>
            <a:r>
              <a:rPr dirty="0" sz="1400" spc="7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paid.</a:t>
            </a:r>
            <a:r>
              <a:rPr dirty="0" sz="1400" spc="7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But </a:t>
            </a:r>
            <a:r>
              <a:rPr dirty="0" sz="1400" spc="65">
                <a:latin typeface="Trebuchet MS"/>
                <a:cs typeface="Trebuchet MS"/>
              </a:rPr>
              <a:t>among</a:t>
            </a:r>
            <a:r>
              <a:rPr dirty="0" sz="1400" spc="1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those</a:t>
            </a:r>
            <a:r>
              <a:rPr dirty="0" sz="1400" spc="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without</a:t>
            </a:r>
            <a:r>
              <a:rPr dirty="0" sz="1400" spc="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these</a:t>
            </a:r>
            <a:r>
              <a:rPr dirty="0" sz="1400" spc="1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triggers—even</a:t>
            </a:r>
            <a:r>
              <a:rPr dirty="0" sz="1400" spc="14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if </a:t>
            </a:r>
            <a:r>
              <a:rPr dirty="0" sz="1400">
                <a:latin typeface="Trebuchet MS"/>
                <a:cs typeface="Trebuchet MS"/>
              </a:rPr>
              <a:t>vulnerable—</a:t>
            </a:r>
            <a:r>
              <a:rPr dirty="0" sz="1400" spc="195">
                <a:latin typeface="Trebuchet MS"/>
                <a:cs typeface="Trebuchet MS"/>
              </a:rPr>
              <a:t>0%</a:t>
            </a:r>
            <a:r>
              <a:rPr dirty="0" sz="1400" spc="-10">
                <a:latin typeface="Trebuchet MS"/>
                <a:cs typeface="Trebuchet MS"/>
              </a:rPr>
              <a:t> paid.</a:t>
            </a:r>
            <a:r>
              <a:rPr dirty="0" sz="1400" spc="7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This</a:t>
            </a:r>
            <a:r>
              <a:rPr dirty="0" sz="1400" spc="30">
                <a:latin typeface="Trebuchet MS"/>
                <a:cs typeface="Trebuchet MS"/>
              </a:rPr>
              <a:t> </a:t>
            </a:r>
            <a:r>
              <a:rPr dirty="0" sz="1400" spc="70">
                <a:latin typeface="Trebuchet MS"/>
                <a:cs typeface="Trebuchet MS"/>
              </a:rPr>
              <a:t>suggests</a:t>
            </a:r>
            <a:r>
              <a:rPr dirty="0" sz="1400" spc="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loss</a:t>
            </a:r>
            <a:r>
              <a:rPr dirty="0" sz="1400" spc="2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aversion </a:t>
            </a:r>
            <a:r>
              <a:rPr dirty="0" sz="1400">
                <a:latin typeface="Trebuchet MS"/>
                <a:cs typeface="Trebuchet MS"/>
              </a:rPr>
              <a:t>is</a:t>
            </a:r>
            <a:r>
              <a:rPr dirty="0" sz="1400" spc="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the</a:t>
            </a:r>
            <a:r>
              <a:rPr dirty="0" sz="1400" spc="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proximate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mechanism,</a:t>
            </a:r>
            <a:r>
              <a:rPr dirty="0" sz="1400" spc="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while</a:t>
            </a:r>
            <a:r>
              <a:rPr dirty="0" sz="1400" spc="6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vulnerability </a:t>
            </a:r>
            <a:r>
              <a:rPr dirty="0" sz="1400">
                <a:latin typeface="Trebuchet MS"/>
                <a:cs typeface="Trebuchet MS"/>
              </a:rPr>
              <a:t>is</a:t>
            </a:r>
            <a:r>
              <a:rPr dirty="0" sz="1400" spc="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a</a:t>
            </a:r>
            <a:r>
              <a:rPr dirty="0" sz="1400" spc="35">
                <a:latin typeface="Trebuchet MS"/>
                <a:cs typeface="Trebuchet MS"/>
              </a:rPr>
              <a:t> </a:t>
            </a:r>
            <a:r>
              <a:rPr dirty="0" sz="1400" spc="45">
                <a:latin typeface="Trebuchet MS"/>
                <a:cs typeface="Trebuchet MS"/>
              </a:rPr>
              <a:t>background</a:t>
            </a:r>
            <a:r>
              <a:rPr dirty="0" sz="1400" spc="7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condition</a:t>
            </a:r>
            <a:r>
              <a:rPr dirty="0" sz="1400" spc="6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that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enables</a:t>
            </a:r>
            <a:r>
              <a:rPr dirty="0" sz="1400" spc="3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it.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4" name="object 4" descr="A graph of a payment rate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7200" y="828675"/>
            <a:ext cx="44577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Summary</a:t>
            </a:r>
            <a:r>
              <a:rPr dirty="0" spc="-45"/>
              <a:t> </a:t>
            </a:r>
            <a:r>
              <a:rPr dirty="0"/>
              <a:t>for</a:t>
            </a:r>
            <a:r>
              <a:rPr dirty="0" spc="-20"/>
              <a:t> </a:t>
            </a:r>
            <a:r>
              <a:rPr dirty="0" spc="-25"/>
              <a:t>H3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28383" y="1716277"/>
          <a:ext cx="6736080" cy="1859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7980"/>
                <a:gridCol w="1676399"/>
                <a:gridCol w="1676400"/>
                <a:gridCol w="1676400"/>
              </a:tblGrid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 spc="-10" b="1">
                          <a:latin typeface="Trebuchet MS"/>
                          <a:cs typeface="Trebuchet MS"/>
                        </a:rPr>
                        <a:t>Hypothesis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 spc="-10" b="1">
                          <a:latin typeface="Trebuchet MS"/>
                          <a:cs typeface="Trebuchet MS"/>
                        </a:rPr>
                        <a:t>Finding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 spc="120" b="1">
                          <a:latin typeface="Trebuchet MS"/>
                          <a:cs typeface="Trebuchet MS"/>
                        </a:rPr>
                        <a:t>p-</a:t>
                      </a:r>
                      <a:r>
                        <a:rPr dirty="0" sz="1400" spc="-10" b="1">
                          <a:latin typeface="Trebuchet MS"/>
                          <a:cs typeface="Trebuchet MS"/>
                        </a:rPr>
                        <a:t>value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 spc="-10" b="1">
                          <a:latin typeface="Trebuchet MS"/>
                          <a:cs typeface="Trebuchet MS"/>
                        </a:rPr>
                        <a:t>Effect</a:t>
                      </a:r>
                      <a:r>
                        <a:rPr dirty="0" sz="1400" spc="-9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20" b="1">
                          <a:latin typeface="Trebuchet MS"/>
                          <a:cs typeface="Trebuchet MS"/>
                        </a:rPr>
                        <a:t>Size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 spc="-20" b="1">
                          <a:latin typeface="Trebuchet MS"/>
                          <a:cs typeface="Trebuchet MS"/>
                        </a:rPr>
                        <a:t>H3a:</a:t>
                      </a:r>
                      <a:r>
                        <a:rPr dirty="0" sz="1400" spc="-1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latin typeface="Trebuchet MS"/>
                          <a:cs typeface="Trebuchet MS"/>
                        </a:rPr>
                        <a:t>Fear</a:t>
                      </a:r>
                      <a:r>
                        <a:rPr dirty="0" sz="140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dirty="0" sz="1400" spc="-6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60">
                          <a:latin typeface="Trebuchet MS"/>
                          <a:cs typeface="Trebuchet MS"/>
                        </a:rPr>
                        <a:t>Loss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 spc="195">
                          <a:latin typeface="Trebuchet MS"/>
                          <a:cs typeface="Trebuchet MS"/>
                        </a:rPr>
                        <a:t>0%</a:t>
                      </a:r>
                      <a:r>
                        <a:rPr dirty="0" sz="1400" spc="-7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85">
                          <a:latin typeface="Trebuchet MS"/>
                          <a:cs typeface="Trebuchet MS"/>
                        </a:rPr>
                        <a:t>vs</a:t>
                      </a:r>
                      <a:r>
                        <a:rPr dirty="0" sz="140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>
                          <a:latin typeface="Trebuchet MS"/>
                          <a:cs typeface="Trebuchet MS"/>
                        </a:rPr>
                        <a:t>57.1%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 spc="85">
                          <a:latin typeface="Trebuchet MS"/>
                          <a:cs typeface="Trebuchet MS"/>
                        </a:rPr>
                        <a:t>p</a:t>
                      </a:r>
                      <a:r>
                        <a:rPr dirty="0" sz="140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30">
                          <a:latin typeface="Trebuchet MS"/>
                          <a:cs typeface="Trebuchet MS"/>
                        </a:rPr>
                        <a:t>&lt;</a:t>
                      </a:r>
                      <a:r>
                        <a:rPr dirty="0" sz="1400" spc="-8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>
                          <a:latin typeface="Trebuchet MS"/>
                          <a:cs typeface="Trebuchet MS"/>
                        </a:rPr>
                        <a:t>0.0001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 spc="125">
                          <a:latin typeface="Trebuchet MS"/>
                          <a:cs typeface="Trebuchet MS"/>
                        </a:rPr>
                        <a:t>OR</a:t>
                      </a:r>
                      <a:r>
                        <a:rPr dirty="0" sz="1400" spc="-114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21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dirty="0" sz="1400" spc="-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170">
                          <a:latin typeface="Trebuchet MS"/>
                          <a:cs typeface="Trebuchet MS"/>
                        </a:rPr>
                        <a:t>∞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dirty="0" sz="1400" spc="-10" b="1">
                          <a:latin typeface="Trebuchet MS"/>
                          <a:cs typeface="Trebuchet MS"/>
                        </a:rPr>
                        <a:t>H3b:</a:t>
                      </a:r>
                      <a:r>
                        <a:rPr dirty="0" sz="1400" spc="-8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>
                          <a:latin typeface="Trebuchet MS"/>
                          <a:cs typeface="Trebuchet MS"/>
                        </a:rPr>
                        <a:t>Urgency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15049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dirty="0" sz="1400" spc="-150">
                          <a:latin typeface="Trebuchet MS"/>
                          <a:cs typeface="Trebuchet MS"/>
                        </a:rPr>
                        <a:t>1.1%</a:t>
                      </a:r>
                      <a:r>
                        <a:rPr dirty="0" sz="1400" spc="-6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85">
                          <a:latin typeface="Trebuchet MS"/>
                          <a:cs typeface="Trebuchet MS"/>
                        </a:rPr>
                        <a:t>vs</a:t>
                      </a:r>
                      <a:r>
                        <a:rPr dirty="0" sz="140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110">
                          <a:latin typeface="Trebuchet MS"/>
                          <a:cs typeface="Trebuchet MS"/>
                        </a:rPr>
                        <a:t>75%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15049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dirty="0" sz="1400" spc="85">
                          <a:latin typeface="Trebuchet MS"/>
                          <a:cs typeface="Trebuchet MS"/>
                        </a:rPr>
                        <a:t>p</a:t>
                      </a:r>
                      <a:r>
                        <a:rPr dirty="0" sz="140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21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dirty="0" sz="1400" spc="-10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>
                          <a:latin typeface="Trebuchet MS"/>
                          <a:cs typeface="Trebuchet MS"/>
                        </a:rPr>
                        <a:t>0.0001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15049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 marR="419734">
                        <a:lnSpc>
                          <a:spcPts val="1650"/>
                        </a:lnSpc>
                        <a:spcBef>
                          <a:spcPts val="425"/>
                        </a:spcBef>
                      </a:pPr>
                      <a:r>
                        <a:rPr dirty="0" sz="1400" spc="125">
                          <a:latin typeface="Trebuchet MS"/>
                          <a:cs typeface="Trebuchet MS"/>
                        </a:rPr>
                        <a:t>OR</a:t>
                      </a:r>
                      <a:r>
                        <a:rPr dirty="0" sz="1400" spc="-8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21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dirty="0" sz="140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latin typeface="Trebuchet MS"/>
                          <a:cs typeface="Trebuchet MS"/>
                        </a:rPr>
                        <a:t>273,</a:t>
                      </a:r>
                      <a:r>
                        <a:rPr dirty="0" sz="140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latin typeface="Trebuchet MS"/>
                          <a:cs typeface="Trebuchet MS"/>
                        </a:rPr>
                        <a:t>h</a:t>
                      </a:r>
                      <a:r>
                        <a:rPr dirty="0" sz="140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160">
                          <a:latin typeface="Trebuchet MS"/>
                          <a:cs typeface="Trebuchet MS"/>
                        </a:rPr>
                        <a:t>= </a:t>
                      </a:r>
                      <a:r>
                        <a:rPr dirty="0" sz="1400" spc="-20">
                          <a:latin typeface="Trebuchet MS"/>
                          <a:cs typeface="Trebuchet MS"/>
                        </a:rPr>
                        <a:t>1.89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91440">
                        <a:lnSpc>
                          <a:spcPts val="1664"/>
                        </a:lnSpc>
                        <a:spcBef>
                          <a:spcPts val="355"/>
                        </a:spcBef>
                      </a:pPr>
                      <a:r>
                        <a:rPr dirty="0" sz="1400" spc="-20" b="1">
                          <a:latin typeface="Trebuchet MS"/>
                          <a:cs typeface="Trebuchet MS"/>
                        </a:rPr>
                        <a:t>H3c: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1440" marR="502284">
                        <a:lnSpc>
                          <a:spcPts val="1730"/>
                        </a:lnSpc>
                      </a:pPr>
                      <a:r>
                        <a:rPr dirty="0" sz="1400" spc="-10">
                          <a:latin typeface="Trebuchet MS"/>
                          <a:cs typeface="Trebuchet MS"/>
                        </a:rPr>
                        <a:t>Vulnerability Moderation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195">
                          <a:latin typeface="Trebuchet MS"/>
                          <a:cs typeface="Trebuchet MS"/>
                        </a:rPr>
                        <a:t>0%</a:t>
                      </a:r>
                      <a:r>
                        <a:rPr dirty="0" sz="1400" spc="-7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85">
                          <a:latin typeface="Trebuchet MS"/>
                          <a:cs typeface="Trebuchet MS"/>
                        </a:rPr>
                        <a:t>vs</a:t>
                      </a:r>
                      <a:r>
                        <a:rPr dirty="0" sz="140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>
                          <a:latin typeface="Trebuchet MS"/>
                          <a:cs typeface="Trebuchet MS"/>
                        </a:rPr>
                        <a:t>57.1%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52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>
                          <a:latin typeface="Trebuchet MS"/>
                          <a:cs typeface="Trebuchet MS"/>
                        </a:rPr>
                        <a:t>Not</a:t>
                      </a:r>
                      <a:r>
                        <a:rPr dirty="0" sz="1400" spc="7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>
                          <a:latin typeface="Trebuchet MS"/>
                          <a:cs typeface="Trebuchet MS"/>
                        </a:rPr>
                        <a:t>testable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65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10">
                          <a:latin typeface="Trebuchet MS"/>
                          <a:cs typeface="Trebuchet MS"/>
                        </a:rPr>
                        <a:t>Descriptive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Sentiment</a:t>
            </a:r>
            <a:r>
              <a:rPr dirty="0" spc="-100"/>
              <a:t> </a:t>
            </a:r>
            <a:r>
              <a:rPr dirty="0" spc="-1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7804" y="890587"/>
            <a:ext cx="6859270" cy="2470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10" b="1">
                <a:latin typeface="Trebuchet MS"/>
                <a:cs typeface="Trebuchet MS"/>
              </a:rPr>
              <a:t>Purpose</a:t>
            </a:r>
            <a:endParaRPr sz="1550">
              <a:latin typeface="Trebuchet MS"/>
              <a:cs typeface="Trebuchet MS"/>
            </a:endParaRPr>
          </a:p>
          <a:p>
            <a:pPr marL="12700" marR="5080">
              <a:lnSpc>
                <a:spcPct val="101000"/>
              </a:lnSpc>
              <a:spcBef>
                <a:spcPts val="75"/>
              </a:spcBef>
            </a:pPr>
            <a:r>
              <a:rPr dirty="0" sz="1550" b="1">
                <a:latin typeface="Trebuchet MS"/>
                <a:cs typeface="Trebuchet MS"/>
              </a:rPr>
              <a:t>Question:</a:t>
            </a:r>
            <a:r>
              <a:rPr dirty="0" sz="1550" spc="40" b="1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What</a:t>
            </a:r>
            <a:r>
              <a:rPr dirty="0" sz="1550" spc="40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emotions</a:t>
            </a:r>
            <a:r>
              <a:rPr dirty="0" sz="1550">
                <a:latin typeface="Trebuchet MS"/>
                <a:cs typeface="Trebuchet MS"/>
              </a:rPr>
              <a:t> </a:t>
            </a:r>
            <a:r>
              <a:rPr dirty="0" sz="1550" spc="95">
                <a:latin typeface="Trebuchet MS"/>
                <a:cs typeface="Trebuchet MS"/>
              </a:rPr>
              <a:t>do</a:t>
            </a:r>
            <a:r>
              <a:rPr dirty="0" sz="1550" spc="40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victims</a:t>
            </a:r>
            <a:r>
              <a:rPr dirty="0" sz="1550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express</a:t>
            </a:r>
            <a:r>
              <a:rPr dirty="0" sz="1550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when</a:t>
            </a:r>
            <a:r>
              <a:rPr dirty="0" sz="1550" spc="10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describing</a:t>
            </a:r>
            <a:r>
              <a:rPr dirty="0" sz="1550" spc="1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their</a:t>
            </a:r>
            <a:r>
              <a:rPr dirty="0" sz="1550" spc="-45">
                <a:latin typeface="Trebuchet MS"/>
                <a:cs typeface="Trebuchet MS"/>
              </a:rPr>
              <a:t> </a:t>
            </a:r>
            <a:r>
              <a:rPr dirty="0" sz="1550" spc="90">
                <a:latin typeface="Trebuchet MS"/>
                <a:cs typeface="Trebuchet MS"/>
              </a:rPr>
              <a:t>scam </a:t>
            </a:r>
            <a:r>
              <a:rPr dirty="0" sz="1550" spc="55">
                <a:latin typeface="Trebuchet MS"/>
                <a:cs typeface="Trebuchet MS"/>
              </a:rPr>
              <a:t>experiences?</a:t>
            </a:r>
            <a:endParaRPr sz="15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550" b="1">
                <a:latin typeface="Trebuchet MS"/>
                <a:cs typeface="Trebuchet MS"/>
              </a:rPr>
              <a:t>Method:</a:t>
            </a:r>
            <a:r>
              <a:rPr dirty="0" sz="1550" spc="75" b="1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Natural</a:t>
            </a:r>
            <a:r>
              <a:rPr dirty="0" sz="1550" spc="50">
                <a:latin typeface="Trebuchet MS"/>
                <a:cs typeface="Trebuchet MS"/>
              </a:rPr>
              <a:t> </a:t>
            </a:r>
            <a:r>
              <a:rPr dirty="0" sz="1550" spc="75">
                <a:latin typeface="Trebuchet MS"/>
                <a:cs typeface="Trebuchet MS"/>
              </a:rPr>
              <a:t>Language</a:t>
            </a:r>
            <a:r>
              <a:rPr dirty="0" sz="1550" spc="45">
                <a:latin typeface="Trebuchet MS"/>
                <a:cs typeface="Trebuchet MS"/>
              </a:rPr>
              <a:t> </a:t>
            </a:r>
            <a:r>
              <a:rPr dirty="0" sz="1550" spc="75">
                <a:latin typeface="Trebuchet MS"/>
                <a:cs typeface="Trebuchet MS"/>
              </a:rPr>
              <a:t>Processing</a:t>
            </a:r>
            <a:r>
              <a:rPr dirty="0" sz="1550" spc="50">
                <a:latin typeface="Trebuchet MS"/>
                <a:cs typeface="Trebuchet MS"/>
              </a:rPr>
              <a:t> </a:t>
            </a:r>
            <a:r>
              <a:rPr dirty="0" sz="1550" spc="70">
                <a:latin typeface="Trebuchet MS"/>
                <a:cs typeface="Trebuchet MS"/>
              </a:rPr>
              <a:t>(NLP)</a:t>
            </a:r>
            <a:r>
              <a:rPr dirty="0" sz="1550" spc="6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analysis</a:t>
            </a:r>
            <a:endParaRPr sz="1550">
              <a:latin typeface="Trebuchet MS"/>
              <a:cs typeface="Trebuchet MS"/>
            </a:endParaRPr>
          </a:p>
          <a:p>
            <a:pPr marL="102870" indent="-100330">
              <a:lnSpc>
                <a:spcPct val="100000"/>
              </a:lnSpc>
              <a:spcBef>
                <a:spcPts val="20"/>
              </a:spcBef>
              <a:buSzPct val="83870"/>
              <a:buChar char="•"/>
              <a:tabLst>
                <a:tab pos="102870" algn="l"/>
              </a:tabLst>
            </a:pPr>
            <a:r>
              <a:rPr dirty="0" sz="1550">
                <a:latin typeface="Trebuchet MS"/>
                <a:cs typeface="Trebuchet MS"/>
              </a:rPr>
              <a:t>Text</a:t>
            </a:r>
            <a:r>
              <a:rPr dirty="0" sz="1550" spc="3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source:</a:t>
            </a:r>
            <a:r>
              <a:rPr dirty="0" sz="1550" spc="145">
                <a:latin typeface="Trebuchet MS"/>
                <a:cs typeface="Trebuchet MS"/>
              </a:rPr>
              <a:t> </a:t>
            </a:r>
            <a:r>
              <a:rPr dirty="0" sz="1550" spc="120">
                <a:latin typeface="Trebuchet MS"/>
                <a:cs typeface="Trebuchet MS"/>
              </a:rPr>
              <a:t>Open-</a:t>
            </a:r>
            <a:r>
              <a:rPr dirty="0" sz="1550" spc="60">
                <a:latin typeface="Trebuchet MS"/>
                <a:cs typeface="Trebuchet MS"/>
              </a:rPr>
              <a:t>ended</a:t>
            </a:r>
            <a:r>
              <a:rPr dirty="0" sz="1550" spc="9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narrative</a:t>
            </a:r>
            <a:r>
              <a:rPr dirty="0" sz="1550" spc="85">
                <a:latin typeface="Trebuchet MS"/>
                <a:cs typeface="Trebuchet MS"/>
              </a:rPr>
              <a:t> </a:t>
            </a:r>
            <a:r>
              <a:rPr dirty="0" sz="1550" spc="70">
                <a:latin typeface="Trebuchet MS"/>
                <a:cs typeface="Trebuchet MS"/>
              </a:rPr>
              <a:t>responses</a:t>
            </a:r>
            <a:endParaRPr sz="1550">
              <a:latin typeface="Trebuchet MS"/>
              <a:cs typeface="Trebuchet MS"/>
            </a:endParaRPr>
          </a:p>
          <a:p>
            <a:pPr marL="102870" indent="-100330">
              <a:lnSpc>
                <a:spcPct val="100000"/>
              </a:lnSpc>
              <a:spcBef>
                <a:spcPts val="90"/>
              </a:spcBef>
              <a:buSzPct val="83870"/>
              <a:buChar char="•"/>
              <a:tabLst>
                <a:tab pos="102870" algn="l"/>
              </a:tabLst>
            </a:pPr>
            <a:r>
              <a:rPr dirty="0" sz="1550">
                <a:latin typeface="Trebuchet MS"/>
                <a:cs typeface="Trebuchet MS"/>
              </a:rPr>
              <a:t>Sample:</a:t>
            </a:r>
            <a:r>
              <a:rPr dirty="0" sz="1550" spc="20">
                <a:latin typeface="Trebuchet MS"/>
                <a:cs typeface="Trebuchet MS"/>
              </a:rPr>
              <a:t> </a:t>
            </a:r>
            <a:r>
              <a:rPr dirty="0" sz="1550" spc="170">
                <a:latin typeface="Trebuchet MS"/>
                <a:cs typeface="Trebuchet MS"/>
              </a:rPr>
              <a:t>N=35</a:t>
            </a:r>
            <a:r>
              <a:rPr dirty="0" sz="1550" spc="20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victims</a:t>
            </a:r>
            <a:r>
              <a:rPr dirty="0" sz="1550" spc="3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with</a:t>
            </a:r>
            <a:r>
              <a:rPr dirty="0" sz="1550" spc="4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written</a:t>
            </a:r>
            <a:r>
              <a:rPr dirty="0" sz="1550" spc="4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narratives</a:t>
            </a:r>
            <a:endParaRPr sz="15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5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550">
                <a:latin typeface="Trebuchet MS"/>
                <a:cs typeface="Trebuchet MS"/>
              </a:rPr>
              <a:t>Note:</a:t>
            </a:r>
            <a:r>
              <a:rPr dirty="0" sz="1550" spc="50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This</a:t>
            </a:r>
            <a:r>
              <a:rPr dirty="0" sz="1550" spc="60">
                <a:latin typeface="Trebuchet MS"/>
                <a:cs typeface="Trebuchet MS"/>
              </a:rPr>
              <a:t> is </a:t>
            </a:r>
            <a:r>
              <a:rPr dirty="0" sz="1550">
                <a:latin typeface="Trebuchet MS"/>
                <a:cs typeface="Trebuchet MS"/>
              </a:rPr>
              <a:t>exploratory/descriptive</a:t>
            </a:r>
            <a:r>
              <a:rPr dirty="0" sz="1550" spc="7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only</a:t>
            </a:r>
            <a:r>
              <a:rPr dirty="0" sz="1550" spc="80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(not</a:t>
            </a:r>
            <a:r>
              <a:rPr dirty="0" sz="1550" spc="30">
                <a:latin typeface="Trebuchet MS"/>
                <a:cs typeface="Trebuchet MS"/>
              </a:rPr>
              <a:t> </a:t>
            </a:r>
            <a:r>
              <a:rPr dirty="0" sz="1550" spc="85">
                <a:latin typeface="Trebuchet MS"/>
                <a:cs typeface="Trebuchet MS"/>
              </a:rPr>
              <a:t>hypothesis-</a:t>
            </a:r>
            <a:r>
              <a:rPr dirty="0" sz="1550" spc="-10">
                <a:latin typeface="Trebuchet MS"/>
                <a:cs typeface="Trebuchet MS"/>
              </a:rPr>
              <a:t>driven)</a:t>
            </a:r>
            <a:endParaRPr sz="1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Sentiment</a:t>
            </a:r>
            <a:r>
              <a:rPr dirty="0" spc="-100"/>
              <a:t> </a:t>
            </a:r>
            <a:r>
              <a:rPr dirty="0" spc="-1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7804" y="890587"/>
            <a:ext cx="6880859" cy="17354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90" b="1">
                <a:latin typeface="Trebuchet MS"/>
                <a:cs typeface="Trebuchet MS"/>
              </a:rPr>
              <a:t>Why</a:t>
            </a:r>
            <a:r>
              <a:rPr dirty="0" sz="1550" spc="70" b="1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Analyze</a:t>
            </a:r>
            <a:r>
              <a:rPr dirty="0" sz="1550" spc="70" b="1">
                <a:latin typeface="Trebuchet MS"/>
                <a:cs typeface="Trebuchet MS"/>
              </a:rPr>
              <a:t> </a:t>
            </a:r>
            <a:r>
              <a:rPr dirty="0" sz="1550" spc="40" b="1">
                <a:latin typeface="Trebuchet MS"/>
                <a:cs typeface="Trebuchet MS"/>
              </a:rPr>
              <a:t>Emotions?</a:t>
            </a:r>
            <a:endParaRPr sz="15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550">
                <a:latin typeface="Trebuchet MS"/>
                <a:cs typeface="Trebuchet MS"/>
              </a:rPr>
              <a:t>Practical</a:t>
            </a:r>
            <a:r>
              <a:rPr dirty="0" sz="1550" spc="18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applications:</a:t>
            </a:r>
            <a:endParaRPr sz="155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90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550" spc="50">
                <a:latin typeface="Trebuchet MS"/>
                <a:cs typeface="Trebuchet MS"/>
              </a:rPr>
              <a:t>Victim</a:t>
            </a:r>
            <a:r>
              <a:rPr dirty="0" sz="1550" spc="13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support:</a:t>
            </a:r>
            <a:r>
              <a:rPr dirty="0" sz="1550" spc="12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Tailor</a:t>
            </a:r>
            <a:r>
              <a:rPr dirty="0" sz="1550" spc="7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interventions</a:t>
            </a:r>
            <a:r>
              <a:rPr dirty="0" sz="1550" spc="13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to</a:t>
            </a:r>
            <a:r>
              <a:rPr dirty="0" sz="1550" spc="18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emotional</a:t>
            </a:r>
            <a:r>
              <a:rPr dirty="0" sz="1550" spc="145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state</a:t>
            </a:r>
            <a:endParaRPr sz="155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550" spc="50">
                <a:latin typeface="Trebuchet MS"/>
                <a:cs typeface="Trebuchet MS"/>
              </a:rPr>
              <a:t>Reporting</a:t>
            </a:r>
            <a:r>
              <a:rPr dirty="0" sz="1550" spc="14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barriers:</a:t>
            </a:r>
            <a:r>
              <a:rPr dirty="0" sz="1550" spc="114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Understand</a:t>
            </a:r>
            <a:r>
              <a:rPr dirty="0" sz="1550" spc="145">
                <a:latin typeface="Trebuchet MS"/>
                <a:cs typeface="Trebuchet MS"/>
              </a:rPr>
              <a:t> </a:t>
            </a:r>
            <a:r>
              <a:rPr dirty="0" sz="1550" spc="65">
                <a:latin typeface="Trebuchet MS"/>
                <a:cs typeface="Trebuchet MS"/>
              </a:rPr>
              <a:t>why</a:t>
            </a:r>
            <a:r>
              <a:rPr dirty="0" sz="1550" spc="15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victims</a:t>
            </a:r>
            <a:r>
              <a:rPr dirty="0" sz="1550" spc="22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don't</a:t>
            </a:r>
            <a:r>
              <a:rPr dirty="0" sz="1550" spc="18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report</a:t>
            </a:r>
            <a:r>
              <a:rPr dirty="0" sz="1550" spc="9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(shame/fear?)</a:t>
            </a:r>
            <a:endParaRPr sz="1550">
              <a:latin typeface="Trebuchet MS"/>
              <a:cs typeface="Trebuchet MS"/>
            </a:endParaRPr>
          </a:p>
          <a:p>
            <a:pPr marL="12700" marR="708660" indent="285750">
              <a:lnSpc>
                <a:spcPts val="1950"/>
              </a:lnSpc>
              <a:spcBef>
                <a:spcPts val="10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550">
                <a:latin typeface="Trebuchet MS"/>
                <a:cs typeface="Trebuchet MS"/>
              </a:rPr>
              <a:t>Narrative</a:t>
            </a:r>
            <a:r>
              <a:rPr dirty="0" sz="1550" spc="3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patterns:</a:t>
            </a:r>
            <a:r>
              <a:rPr dirty="0" sz="1550" spc="95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What</a:t>
            </a:r>
            <a:r>
              <a:rPr dirty="0" sz="1550" spc="-10">
                <a:latin typeface="Trebuchet MS"/>
                <a:cs typeface="Trebuchet MS"/>
              </a:rPr>
              <a:t> </a:t>
            </a:r>
            <a:r>
              <a:rPr dirty="0" sz="1550" spc="60">
                <a:latin typeface="Trebuchet MS"/>
                <a:cs typeface="Trebuchet MS"/>
              </a:rPr>
              <a:t>emotions</a:t>
            </a:r>
            <a:r>
              <a:rPr dirty="0" sz="1550" spc="2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correlate</a:t>
            </a:r>
            <a:r>
              <a:rPr dirty="0" sz="1550" spc="3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with</a:t>
            </a:r>
            <a:r>
              <a:rPr dirty="0" sz="1550" spc="30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loss</a:t>
            </a:r>
            <a:r>
              <a:rPr dirty="0" sz="1550" spc="105">
                <a:latin typeface="Trebuchet MS"/>
                <a:cs typeface="Trebuchet MS"/>
              </a:rPr>
              <a:t> </a:t>
            </a:r>
            <a:r>
              <a:rPr dirty="0" sz="1550" spc="45">
                <a:latin typeface="Trebuchet MS"/>
                <a:cs typeface="Trebuchet MS"/>
              </a:rPr>
              <a:t>severity? </a:t>
            </a:r>
            <a:r>
              <a:rPr dirty="0" sz="1550">
                <a:latin typeface="Trebuchet MS"/>
                <a:cs typeface="Trebuchet MS"/>
              </a:rPr>
              <a:t>Theoretical:</a:t>
            </a:r>
            <a:r>
              <a:rPr dirty="0" sz="1550" spc="8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Limited</a:t>
            </a:r>
            <a:r>
              <a:rPr dirty="0" sz="1550" spc="12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research</a:t>
            </a:r>
            <a:r>
              <a:rPr dirty="0" sz="1550" spc="110">
                <a:latin typeface="Trebuchet MS"/>
                <a:cs typeface="Trebuchet MS"/>
              </a:rPr>
              <a:t> </a:t>
            </a:r>
            <a:r>
              <a:rPr dirty="0" sz="1550" spc="80">
                <a:latin typeface="Trebuchet MS"/>
                <a:cs typeface="Trebuchet MS"/>
              </a:rPr>
              <a:t>on</a:t>
            </a:r>
            <a:r>
              <a:rPr dirty="0" sz="1550" spc="114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emotional</a:t>
            </a:r>
            <a:r>
              <a:rPr dirty="0" sz="1550" spc="120">
                <a:latin typeface="Trebuchet MS"/>
                <a:cs typeface="Trebuchet MS"/>
              </a:rPr>
              <a:t> </a:t>
            </a:r>
            <a:r>
              <a:rPr dirty="0" sz="1550" spc="70">
                <a:latin typeface="Trebuchet MS"/>
                <a:cs typeface="Trebuchet MS"/>
              </a:rPr>
              <a:t>responses</a:t>
            </a:r>
            <a:r>
              <a:rPr dirty="0" sz="1550" spc="19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to</a:t>
            </a:r>
            <a:r>
              <a:rPr dirty="0" sz="1550" spc="155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fraud</a:t>
            </a:r>
            <a:endParaRPr sz="1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0970" y="145668"/>
            <a:ext cx="2601595" cy="3924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00">
                <a:solidFill>
                  <a:srgbClr val="2F251C"/>
                </a:solidFill>
                <a:latin typeface="Calibri"/>
                <a:cs typeface="Calibri"/>
              </a:rPr>
              <a:t>Emotion</a:t>
            </a:r>
            <a:r>
              <a:rPr dirty="0" sz="2400" spc="-70">
                <a:solidFill>
                  <a:srgbClr val="2F251C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2F251C"/>
                </a:solidFill>
                <a:latin typeface="Calibri"/>
                <a:cs typeface="Calibri"/>
              </a:rPr>
              <a:t>Distribution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7804" y="890587"/>
            <a:ext cx="1910714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>
                <a:latin typeface="Trebuchet MS"/>
                <a:cs typeface="Trebuchet MS"/>
              </a:rPr>
              <a:t>Sample</a:t>
            </a:r>
            <a:r>
              <a:rPr dirty="0" sz="1400" spc="17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Characteristics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804" y="1100391"/>
            <a:ext cx="5972175" cy="67310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5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400" spc="135">
                <a:latin typeface="Trebuchet MS"/>
                <a:cs typeface="Trebuchet MS"/>
              </a:rPr>
              <a:t>N=35</a:t>
            </a:r>
            <a:r>
              <a:rPr dirty="0" sz="1400" spc="-6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narratives</a:t>
            </a:r>
            <a:r>
              <a:rPr dirty="0" sz="1400" spc="-7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analyzed</a:t>
            </a:r>
            <a:endParaRPr sz="1400">
              <a:latin typeface="Trebuchet MS"/>
              <a:cs typeface="Trebuchet MS"/>
            </a:endParaRPr>
          </a:p>
          <a:p>
            <a:pPr marL="298450" indent="-285750">
              <a:lnSpc>
                <a:spcPts val="1664"/>
              </a:lnSpc>
              <a:spcBef>
                <a:spcPts val="50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400">
                <a:latin typeface="Trebuchet MS"/>
                <a:cs typeface="Trebuchet MS"/>
              </a:rPr>
              <a:t>Text</a:t>
            </a:r>
            <a:r>
              <a:rPr dirty="0" sz="1400" spc="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sources:</a:t>
            </a:r>
            <a:r>
              <a:rPr dirty="0" sz="1400" spc="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"Share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your</a:t>
            </a:r>
            <a:r>
              <a:rPr dirty="0" sz="1400" spc="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experience"</a:t>
            </a:r>
            <a:r>
              <a:rPr dirty="0" sz="1400" spc="35">
                <a:latin typeface="Trebuchet MS"/>
                <a:cs typeface="Trebuchet MS"/>
              </a:rPr>
              <a:t> </a:t>
            </a:r>
            <a:r>
              <a:rPr dirty="0" sz="1400" spc="165">
                <a:latin typeface="Trebuchet MS"/>
                <a:cs typeface="Trebuchet MS"/>
              </a:rPr>
              <a:t>+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"Why</a:t>
            </a:r>
            <a:r>
              <a:rPr dirty="0" sz="1400" spc="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didn't</a:t>
            </a:r>
            <a:r>
              <a:rPr dirty="0" sz="1400" spc="50">
                <a:latin typeface="Trebuchet MS"/>
                <a:cs typeface="Trebuchet MS"/>
              </a:rPr>
              <a:t> you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55">
                <a:latin typeface="Trebuchet MS"/>
                <a:cs typeface="Trebuchet MS"/>
              </a:rPr>
              <a:t>stop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earlier?"</a:t>
            </a:r>
            <a:endParaRPr sz="1400">
              <a:latin typeface="Trebuchet MS"/>
              <a:cs typeface="Trebuchet MS"/>
            </a:endParaRPr>
          </a:p>
          <a:p>
            <a:pPr marL="298450" indent="-285750">
              <a:lnSpc>
                <a:spcPts val="1664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400">
                <a:latin typeface="Trebuchet MS"/>
                <a:cs typeface="Trebuchet MS"/>
              </a:rPr>
              <a:t>Average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narrative</a:t>
            </a:r>
            <a:r>
              <a:rPr dirty="0" sz="1400" spc="6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length: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114">
                <a:latin typeface="Trebuchet MS"/>
                <a:cs typeface="Trebuchet MS"/>
              </a:rPr>
              <a:t>~500</a:t>
            </a:r>
            <a:r>
              <a:rPr dirty="0" sz="1400" spc="5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characters</a:t>
            </a:r>
            <a:endParaRPr sz="1400">
              <a:latin typeface="Trebuchet MS"/>
              <a:cs typeface="Trebuchet M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8964" y="2274189"/>
          <a:ext cx="9161780" cy="2133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0"/>
                <a:gridCol w="3048000"/>
                <a:gridCol w="2982595"/>
              </a:tblGrid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 spc="-10" b="1">
                          <a:latin typeface="Trebuchet MS"/>
                          <a:cs typeface="Trebuchet MS"/>
                        </a:rPr>
                        <a:t>Emotion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 spc="-10" b="1">
                          <a:latin typeface="Trebuchet MS"/>
                          <a:cs typeface="Trebuchet MS"/>
                        </a:rPr>
                        <a:t>Count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 spc="-10" b="1">
                          <a:latin typeface="Trebuchet MS"/>
                          <a:cs typeface="Trebuchet MS"/>
                        </a:rPr>
                        <a:t>Percentage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F3F3F3"/>
                      </a:solidFill>
                      <a:prstDash val="solid"/>
                    </a:lnL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00" spc="-20" b="1">
                          <a:latin typeface="Trebuchet MS"/>
                          <a:cs typeface="Trebuchet MS"/>
                        </a:rPr>
                        <a:t>Fear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00" spc="-25">
                          <a:latin typeface="Trebuchet MS"/>
                          <a:cs typeface="Trebuchet MS"/>
                        </a:rPr>
                        <a:t>13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00" spc="-10" b="1">
                          <a:latin typeface="Trebuchet MS"/>
                          <a:cs typeface="Trebuchet MS"/>
                        </a:rPr>
                        <a:t>37.1%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3F3F3"/>
                      </a:solidFill>
                      <a:prstDash val="solid"/>
                    </a:lnL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400" spc="-10">
                          <a:latin typeface="Trebuchet MS"/>
                          <a:cs typeface="Trebuchet MS"/>
                        </a:rPr>
                        <a:t>Surprise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400" spc="60">
                          <a:latin typeface="Trebuchet MS"/>
                          <a:cs typeface="Trebuchet MS"/>
                        </a:rPr>
                        <a:t>6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400" spc="-10">
                          <a:latin typeface="Trebuchet MS"/>
                          <a:cs typeface="Trebuchet MS"/>
                        </a:rPr>
                        <a:t>17.1%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3F3F3"/>
                      </a:solidFill>
                      <a:prstDash val="solid"/>
                    </a:lnL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1400" spc="55">
                          <a:latin typeface="Trebuchet MS"/>
                          <a:cs typeface="Trebuchet MS"/>
                        </a:rPr>
                        <a:t>Sadness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1400" spc="95">
                          <a:latin typeface="Trebuchet MS"/>
                          <a:cs typeface="Trebuchet MS"/>
                        </a:rPr>
                        <a:t>5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1400" spc="-10">
                          <a:latin typeface="Trebuchet MS"/>
                          <a:cs typeface="Trebuchet MS"/>
                        </a:rPr>
                        <a:t>14.3%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F3F3F3"/>
                      </a:solidFill>
                      <a:prstDash val="solid"/>
                    </a:lnL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400" spc="-10">
                          <a:latin typeface="Trebuchet MS"/>
                          <a:cs typeface="Trebuchet MS"/>
                        </a:rPr>
                        <a:t>Neutral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400" spc="140">
                          <a:latin typeface="Trebuchet MS"/>
                          <a:cs typeface="Trebuchet MS"/>
                        </a:rPr>
                        <a:t>4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400" spc="-10">
                          <a:latin typeface="Trebuchet MS"/>
                          <a:cs typeface="Trebuchet MS"/>
                        </a:rPr>
                        <a:t>11.4%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3F3F3"/>
                      </a:solidFill>
                      <a:prstDash val="solid"/>
                    </a:lnL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400" spc="40">
                          <a:latin typeface="Trebuchet MS"/>
                          <a:cs typeface="Trebuchet MS"/>
                        </a:rPr>
                        <a:t>Joy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400" spc="140">
                          <a:latin typeface="Trebuchet MS"/>
                          <a:cs typeface="Trebuchet MS"/>
                        </a:rPr>
                        <a:t>4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400" spc="-10">
                          <a:latin typeface="Trebuchet MS"/>
                          <a:cs typeface="Trebuchet MS"/>
                        </a:rPr>
                        <a:t>11.4%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3F3F3"/>
                      </a:solidFill>
                      <a:prstDash val="solid"/>
                    </a:lnL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40">
                          <a:latin typeface="Trebuchet MS"/>
                          <a:cs typeface="Trebuchet MS"/>
                        </a:rPr>
                        <a:t>Anger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699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60">
                          <a:latin typeface="Trebuchet MS"/>
                          <a:cs typeface="Trebuchet MS"/>
                        </a:rPr>
                        <a:t>3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699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45">
                          <a:latin typeface="Trebuchet MS"/>
                          <a:cs typeface="Trebuchet MS"/>
                        </a:rPr>
                        <a:t>8.6%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6990">
                    <a:lnL w="12700">
                      <a:solidFill>
                        <a:srgbClr val="F3F3F3"/>
                      </a:solidFill>
                      <a:prstDash val="solid"/>
                    </a:lnL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369434" y="138112"/>
            <a:ext cx="2811145" cy="45275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1664"/>
              </a:lnSpc>
              <a:spcBef>
                <a:spcPts val="125"/>
              </a:spcBef>
            </a:pPr>
            <a:r>
              <a:rPr dirty="0" sz="1400">
                <a:solidFill>
                  <a:srgbClr val="000000"/>
                </a:solidFill>
                <a:latin typeface="Trebuchet MS"/>
                <a:cs typeface="Trebuchet MS"/>
              </a:rPr>
              <a:t>Emotion</a:t>
            </a:r>
            <a:r>
              <a:rPr dirty="0" sz="1400" spc="195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000000"/>
                </a:solidFill>
                <a:latin typeface="Trebuchet MS"/>
                <a:cs typeface="Trebuchet MS"/>
              </a:rPr>
              <a:t>Distribution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64"/>
              </a:lnSpc>
            </a:pPr>
            <a:r>
              <a:rPr dirty="0" sz="1400">
                <a:solidFill>
                  <a:srgbClr val="000000"/>
                </a:solidFill>
                <a:latin typeface="Trebuchet MS"/>
                <a:cs typeface="Trebuchet MS"/>
              </a:rPr>
              <a:t>Visual:</a:t>
            </a:r>
            <a:r>
              <a:rPr dirty="0" sz="1400" spc="-4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000000"/>
                </a:solidFill>
                <a:latin typeface="Trebuchet MS"/>
                <a:cs typeface="Trebuchet MS"/>
              </a:rPr>
              <a:t>Bar</a:t>
            </a:r>
            <a:r>
              <a:rPr dirty="0" sz="1400" spc="-5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000000"/>
                </a:solidFill>
                <a:latin typeface="Trebuchet MS"/>
                <a:cs typeface="Trebuchet MS"/>
              </a:rPr>
              <a:t>chart</a:t>
            </a:r>
            <a:r>
              <a:rPr dirty="0" sz="1400" spc="-4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000000"/>
                </a:solidFill>
                <a:latin typeface="Trebuchet MS"/>
                <a:cs typeface="Trebuchet MS"/>
              </a:rPr>
              <a:t>with</a:t>
            </a:r>
            <a:r>
              <a:rPr dirty="0" sz="1400" spc="-4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000000"/>
                </a:solidFill>
                <a:latin typeface="Trebuchet MS"/>
                <a:cs typeface="Trebuchet MS"/>
              </a:rPr>
              <a:t>percentages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69434" y="777557"/>
            <a:ext cx="254254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>
                <a:latin typeface="Trebuchet MS"/>
                <a:cs typeface="Trebuchet MS"/>
              </a:rPr>
              <a:t>Dominant</a:t>
            </a:r>
            <a:r>
              <a:rPr dirty="0" sz="1400" spc="13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emotion:</a:t>
            </a:r>
            <a:r>
              <a:rPr dirty="0" sz="1400" spc="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Fear</a:t>
            </a:r>
            <a:r>
              <a:rPr dirty="0" sz="1400" spc="120">
                <a:latin typeface="Trebuchet MS"/>
                <a:cs typeface="Trebuchet MS"/>
              </a:rPr>
              <a:t> </a:t>
            </a:r>
            <a:r>
              <a:rPr dirty="0" sz="1400" spc="65">
                <a:latin typeface="Trebuchet MS"/>
                <a:cs typeface="Trebuchet MS"/>
              </a:rPr>
              <a:t>(37%)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Emotion</a:t>
            </a:r>
            <a:r>
              <a:rPr dirty="0" spc="-70"/>
              <a:t> </a:t>
            </a:r>
            <a:r>
              <a:rPr dirty="0" spc="-10"/>
              <a:t>Distribution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295" y="1013523"/>
            <a:ext cx="6664325" cy="17354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10" b="1">
                <a:latin typeface="Trebuchet MS"/>
                <a:cs typeface="Trebuchet MS"/>
              </a:rPr>
              <a:t>Interpretation</a:t>
            </a:r>
            <a:endParaRPr sz="15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550">
              <a:latin typeface="Trebuchet MS"/>
              <a:cs typeface="Trebuchet MS"/>
            </a:endParaRPr>
          </a:p>
          <a:p>
            <a:pPr marL="12700" marR="5080">
              <a:lnSpc>
                <a:spcPct val="104000"/>
              </a:lnSpc>
            </a:pPr>
            <a:r>
              <a:rPr dirty="0" sz="1550">
                <a:latin typeface="Trebuchet MS"/>
                <a:cs typeface="Trebuchet MS"/>
              </a:rPr>
              <a:t>Fear</a:t>
            </a:r>
            <a:r>
              <a:rPr dirty="0" sz="1550" spc="17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is</a:t>
            </a:r>
            <a:r>
              <a:rPr dirty="0" sz="1550" spc="14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the</a:t>
            </a:r>
            <a:r>
              <a:rPr dirty="0" sz="1550" spc="15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predominant</a:t>
            </a:r>
            <a:r>
              <a:rPr dirty="0" sz="1550" spc="20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emotional</a:t>
            </a:r>
            <a:r>
              <a:rPr dirty="0" sz="1550" spc="55">
                <a:latin typeface="Trebuchet MS"/>
                <a:cs typeface="Trebuchet MS"/>
              </a:rPr>
              <a:t> </a:t>
            </a:r>
            <a:r>
              <a:rPr dirty="0" sz="1550" spc="75">
                <a:latin typeface="Trebuchet MS"/>
                <a:cs typeface="Trebuchet MS"/>
              </a:rPr>
              <a:t>response</a:t>
            </a:r>
            <a:r>
              <a:rPr dirty="0" sz="1550" spc="15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in</a:t>
            </a:r>
            <a:r>
              <a:rPr dirty="0" sz="1550" spc="15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victim</a:t>
            </a:r>
            <a:r>
              <a:rPr dirty="0" sz="1550" spc="15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narratives</a:t>
            </a:r>
            <a:r>
              <a:rPr dirty="0" sz="1550" spc="240">
                <a:latin typeface="Trebuchet MS"/>
                <a:cs typeface="Trebuchet MS"/>
              </a:rPr>
              <a:t> </a:t>
            </a:r>
            <a:r>
              <a:rPr dirty="0" sz="1550" spc="60">
                <a:latin typeface="Trebuchet MS"/>
                <a:cs typeface="Trebuchet MS"/>
              </a:rPr>
              <a:t>(37%). </a:t>
            </a:r>
            <a:r>
              <a:rPr dirty="0" sz="1550" spc="55">
                <a:latin typeface="Trebuchet MS"/>
                <a:cs typeface="Trebuchet MS"/>
              </a:rPr>
              <a:t>This</a:t>
            </a:r>
            <a:r>
              <a:rPr dirty="0" sz="1550" spc="9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aligns</a:t>
            </a:r>
            <a:r>
              <a:rPr dirty="0" sz="1550" spc="10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with</a:t>
            </a:r>
            <a:r>
              <a:rPr dirty="0" sz="1550" spc="105">
                <a:latin typeface="Trebuchet MS"/>
                <a:cs typeface="Trebuchet MS"/>
              </a:rPr>
              <a:t> </a:t>
            </a:r>
            <a:r>
              <a:rPr dirty="0" sz="1550" spc="70">
                <a:latin typeface="Trebuchet MS"/>
                <a:cs typeface="Trebuchet MS"/>
              </a:rPr>
              <a:t>loss</a:t>
            </a:r>
            <a:r>
              <a:rPr dirty="0" sz="1550" spc="10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aversion</a:t>
            </a:r>
            <a:r>
              <a:rPr dirty="0" sz="1550" spc="114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theory—</a:t>
            </a:r>
            <a:r>
              <a:rPr dirty="0" sz="1550" spc="114">
                <a:latin typeface="Trebuchet MS"/>
                <a:cs typeface="Trebuchet MS"/>
              </a:rPr>
              <a:t>scams</a:t>
            </a:r>
            <a:r>
              <a:rPr dirty="0" sz="1550" spc="9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activate</a:t>
            </a:r>
            <a:r>
              <a:rPr dirty="0" sz="1550" spc="105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threat/fear </a:t>
            </a:r>
            <a:r>
              <a:rPr dirty="0" sz="1550" spc="50">
                <a:latin typeface="Trebuchet MS"/>
                <a:cs typeface="Trebuchet MS"/>
              </a:rPr>
              <a:t>responses. </a:t>
            </a:r>
            <a:r>
              <a:rPr dirty="0" sz="1550">
                <a:latin typeface="Trebuchet MS"/>
                <a:cs typeface="Trebuchet MS"/>
              </a:rPr>
              <a:t>Surprise</a:t>
            </a:r>
            <a:r>
              <a:rPr dirty="0" sz="1550" spc="8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(17%)</a:t>
            </a:r>
            <a:r>
              <a:rPr dirty="0" sz="1550" spc="100">
                <a:latin typeface="Trebuchet MS"/>
                <a:cs typeface="Trebuchet MS"/>
              </a:rPr>
              <a:t> suggests</a:t>
            </a:r>
            <a:r>
              <a:rPr dirty="0" sz="1550" spc="75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many victims </a:t>
            </a:r>
            <a:r>
              <a:rPr dirty="0" sz="1550">
                <a:latin typeface="Trebuchet MS"/>
                <a:cs typeface="Trebuchet MS"/>
              </a:rPr>
              <a:t>were</a:t>
            </a:r>
            <a:r>
              <a:rPr dirty="0" sz="1550" spc="55">
                <a:latin typeface="Trebuchet MS"/>
                <a:cs typeface="Trebuchet MS"/>
              </a:rPr>
              <a:t> caught</a:t>
            </a:r>
            <a:r>
              <a:rPr dirty="0" sz="1550" spc="125">
                <a:latin typeface="Trebuchet MS"/>
                <a:cs typeface="Trebuchet MS"/>
              </a:rPr>
              <a:t> </a:t>
            </a:r>
            <a:r>
              <a:rPr dirty="0" sz="1550" spc="-20">
                <a:latin typeface="Trebuchet MS"/>
                <a:cs typeface="Trebuchet MS"/>
              </a:rPr>
              <a:t>off-</a:t>
            </a:r>
            <a:r>
              <a:rPr dirty="0" sz="1550">
                <a:latin typeface="Trebuchet MS"/>
                <a:cs typeface="Trebuchet MS"/>
              </a:rPr>
              <a:t>guard.</a:t>
            </a:r>
            <a:r>
              <a:rPr dirty="0" sz="1550" spc="85">
                <a:latin typeface="Trebuchet MS"/>
                <a:cs typeface="Trebuchet MS"/>
              </a:rPr>
              <a:t> </a:t>
            </a:r>
            <a:r>
              <a:rPr dirty="0" sz="1550" spc="65">
                <a:latin typeface="Trebuchet MS"/>
                <a:cs typeface="Trebuchet MS"/>
              </a:rPr>
              <a:t>Low</a:t>
            </a:r>
            <a:r>
              <a:rPr dirty="0" sz="1550" spc="95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anger</a:t>
            </a:r>
            <a:r>
              <a:rPr dirty="0" sz="1550" spc="125">
                <a:latin typeface="Trebuchet MS"/>
                <a:cs typeface="Trebuchet MS"/>
              </a:rPr>
              <a:t> </a:t>
            </a:r>
            <a:r>
              <a:rPr dirty="0" sz="1550" spc="145">
                <a:latin typeface="Trebuchet MS"/>
                <a:cs typeface="Trebuchet MS"/>
              </a:rPr>
              <a:t>(9%)</a:t>
            </a:r>
            <a:r>
              <a:rPr dirty="0" sz="1550" spc="30">
                <a:latin typeface="Trebuchet MS"/>
                <a:cs typeface="Trebuchet MS"/>
              </a:rPr>
              <a:t> </a:t>
            </a:r>
            <a:r>
              <a:rPr dirty="0" sz="1550" spc="85">
                <a:latin typeface="Trebuchet MS"/>
                <a:cs typeface="Trebuchet MS"/>
              </a:rPr>
              <a:t>may</a:t>
            </a:r>
            <a:r>
              <a:rPr dirty="0" sz="1550" spc="10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indicate</a:t>
            </a:r>
            <a:r>
              <a:rPr dirty="0" sz="1550" spc="10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self-blame</a:t>
            </a:r>
            <a:r>
              <a:rPr dirty="0" sz="1550" spc="9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rather</a:t>
            </a:r>
            <a:r>
              <a:rPr dirty="0" sz="1550" spc="12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than</a:t>
            </a:r>
            <a:r>
              <a:rPr dirty="0" sz="1550" spc="9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outward blame.</a:t>
            </a:r>
            <a:endParaRPr sz="1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Emotion</a:t>
            </a:r>
            <a:r>
              <a:rPr dirty="0" spc="-65"/>
              <a:t> </a:t>
            </a:r>
            <a:r>
              <a:rPr dirty="0"/>
              <a:t>×</a:t>
            </a:r>
            <a:r>
              <a:rPr dirty="0" spc="-65"/>
              <a:t> </a:t>
            </a:r>
            <a:r>
              <a:rPr dirty="0"/>
              <a:t>Payment</a:t>
            </a:r>
            <a:r>
              <a:rPr dirty="0" spc="-65"/>
              <a:t> </a:t>
            </a:r>
            <a:r>
              <a:rPr dirty="0"/>
              <a:t>Amount</a:t>
            </a:r>
            <a:r>
              <a:rPr dirty="0" spc="-60"/>
              <a:t> </a:t>
            </a:r>
            <a:r>
              <a:rPr dirty="0"/>
              <a:t>(Exploratory</a:t>
            </a:r>
            <a:r>
              <a:rPr dirty="0" spc="-50"/>
              <a:t> </a:t>
            </a:r>
            <a:r>
              <a:rPr dirty="0" spc="-10"/>
              <a:t>Pattern)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0" y="1457833"/>
          <a:ext cx="9218930" cy="2132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77745"/>
                <a:gridCol w="2286000"/>
                <a:gridCol w="2286000"/>
                <a:gridCol w="2286000"/>
              </a:tblGrid>
              <a:tr h="304800"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 spc="-10" b="1">
                          <a:latin typeface="Trebuchet MS"/>
                          <a:cs typeface="Trebuchet MS"/>
                        </a:rPr>
                        <a:t>Emotion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1910"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 spc="100" b="1">
                          <a:latin typeface="Trebuchet MS"/>
                          <a:cs typeface="Trebuchet MS"/>
                        </a:rPr>
                        <a:t>Avg</a:t>
                      </a:r>
                      <a:r>
                        <a:rPr dirty="0" sz="140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 b="1">
                          <a:latin typeface="Trebuchet MS"/>
                          <a:cs typeface="Trebuchet MS"/>
                        </a:rPr>
                        <a:t>Payment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 spc="-10" b="1">
                          <a:latin typeface="Trebuchet MS"/>
                          <a:cs typeface="Trebuchet MS"/>
                        </a:rPr>
                        <a:t>Median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 spc="25" b="1">
                          <a:latin typeface="Trebuchet MS"/>
                          <a:cs typeface="Trebuchet MS"/>
                        </a:rPr>
                        <a:t>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 spc="-10" b="1">
                          <a:latin typeface="Trebuchet MS"/>
                          <a:cs typeface="Trebuchet MS"/>
                        </a:rPr>
                        <a:t>Surprise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2545"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 spc="-10" b="1">
                          <a:latin typeface="Trebuchet MS"/>
                          <a:cs typeface="Trebuchet MS"/>
                        </a:rPr>
                        <a:t>₹25,833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 spc="-10">
                          <a:latin typeface="Trebuchet MS"/>
                          <a:cs typeface="Trebuchet MS"/>
                        </a:rPr>
                        <a:t>₹1,250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 spc="60">
                          <a:latin typeface="Trebuchet MS"/>
                          <a:cs typeface="Trebuchet MS"/>
                        </a:rPr>
                        <a:t>3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 spc="-10">
                          <a:latin typeface="Trebuchet MS"/>
                          <a:cs typeface="Trebuchet MS"/>
                        </a:rPr>
                        <a:t>Neutral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3180"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 spc="-10">
                          <a:latin typeface="Trebuchet MS"/>
                          <a:cs typeface="Trebuchet MS"/>
                        </a:rPr>
                        <a:t>₹10,000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 spc="130">
                          <a:latin typeface="Trebuchet MS"/>
                          <a:cs typeface="Trebuchet MS"/>
                        </a:rPr>
                        <a:t>₹0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 spc="60">
                          <a:latin typeface="Trebuchet MS"/>
                          <a:cs typeface="Trebuchet MS"/>
                        </a:rPr>
                        <a:t>3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 spc="-20">
                          <a:latin typeface="Trebuchet MS"/>
                          <a:cs typeface="Trebuchet MS"/>
                        </a:rPr>
                        <a:t>Fear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3815"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 spc="130">
                          <a:latin typeface="Trebuchet MS"/>
                          <a:cs typeface="Trebuchet MS"/>
                        </a:rPr>
                        <a:t>₹0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 spc="130">
                          <a:latin typeface="Trebuchet MS"/>
                          <a:cs typeface="Trebuchet MS"/>
                        </a:rPr>
                        <a:t>₹0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 spc="95">
                          <a:latin typeface="Trebuchet MS"/>
                          <a:cs typeface="Trebuchet MS"/>
                        </a:rPr>
                        <a:t>5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00" spc="55">
                          <a:latin typeface="Trebuchet MS"/>
                          <a:cs typeface="Trebuchet MS"/>
                        </a:rPr>
                        <a:t>Sadness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4450"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00" spc="130">
                          <a:latin typeface="Trebuchet MS"/>
                          <a:cs typeface="Trebuchet MS"/>
                        </a:rPr>
                        <a:t>₹0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00" spc="130">
                          <a:latin typeface="Trebuchet MS"/>
                          <a:cs typeface="Trebuchet MS"/>
                        </a:rPr>
                        <a:t>₹0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00" spc="65">
                          <a:latin typeface="Trebuchet MS"/>
                          <a:cs typeface="Trebuchet MS"/>
                        </a:rPr>
                        <a:t>2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400" spc="40">
                          <a:latin typeface="Trebuchet MS"/>
                          <a:cs typeface="Trebuchet MS"/>
                        </a:rPr>
                        <a:t>Anger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5085"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400" spc="130">
                          <a:latin typeface="Trebuchet MS"/>
                          <a:cs typeface="Trebuchet MS"/>
                        </a:rPr>
                        <a:t>₹0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400" spc="130">
                          <a:latin typeface="Trebuchet MS"/>
                          <a:cs typeface="Trebuchet MS"/>
                        </a:rPr>
                        <a:t>₹0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400" spc="-355">
                          <a:latin typeface="Trebuchet MS"/>
                          <a:cs typeface="Trebuchet MS"/>
                        </a:rPr>
                        <a:t>1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400" spc="35">
                          <a:latin typeface="Trebuchet MS"/>
                          <a:cs typeface="Trebuchet MS"/>
                        </a:rPr>
                        <a:t>Joy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5720"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400" spc="-25">
                          <a:latin typeface="Trebuchet MS"/>
                          <a:cs typeface="Trebuchet MS"/>
                        </a:rPr>
                        <a:t>N/A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400" spc="-25">
                          <a:latin typeface="Trebuchet MS"/>
                          <a:cs typeface="Trebuchet MS"/>
                        </a:rPr>
                        <a:t>N/A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400" spc="100">
                          <a:latin typeface="Trebuchet MS"/>
                          <a:cs typeface="Trebuchet MS"/>
                        </a:rPr>
                        <a:t>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44145" y="588073"/>
            <a:ext cx="4511675" cy="4527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1664"/>
              </a:lnSpc>
              <a:spcBef>
                <a:spcPts val="125"/>
              </a:spcBef>
            </a:pPr>
            <a:r>
              <a:rPr dirty="0" sz="1400" spc="45">
                <a:latin typeface="Trebuchet MS"/>
                <a:cs typeface="Trebuchet MS"/>
              </a:rPr>
              <a:t>Average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Payment</a:t>
            </a:r>
            <a:r>
              <a:rPr dirty="0" sz="1400" spc="8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by</a:t>
            </a:r>
            <a:r>
              <a:rPr dirty="0" sz="1400" spc="8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Emotion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64"/>
              </a:lnSpc>
            </a:pPr>
            <a:r>
              <a:rPr dirty="0" sz="1400" spc="10">
                <a:latin typeface="Trebuchet MS"/>
                <a:cs typeface="Trebuchet MS"/>
              </a:rPr>
              <a:t>Sample:</a:t>
            </a:r>
            <a:r>
              <a:rPr dirty="0" sz="1400" spc="70">
                <a:latin typeface="Trebuchet MS"/>
                <a:cs typeface="Trebuchet MS"/>
              </a:rPr>
              <a:t> </a:t>
            </a:r>
            <a:r>
              <a:rPr dirty="0" sz="1400" spc="10">
                <a:latin typeface="Trebuchet MS"/>
                <a:cs typeface="Trebuchet MS"/>
              </a:rPr>
              <a:t>N=14</a:t>
            </a:r>
            <a:r>
              <a:rPr dirty="0" sz="1400" spc="95">
                <a:latin typeface="Trebuchet MS"/>
                <a:cs typeface="Trebuchet MS"/>
              </a:rPr>
              <a:t> </a:t>
            </a:r>
            <a:r>
              <a:rPr dirty="0" sz="1400" spc="10">
                <a:latin typeface="Trebuchet MS"/>
                <a:cs typeface="Trebuchet MS"/>
              </a:rPr>
              <a:t>victims</a:t>
            </a:r>
            <a:r>
              <a:rPr dirty="0" sz="1400" spc="40">
                <a:latin typeface="Trebuchet MS"/>
                <a:cs typeface="Trebuchet MS"/>
              </a:rPr>
              <a:t> </a:t>
            </a:r>
            <a:r>
              <a:rPr dirty="0" sz="1400" spc="10">
                <a:latin typeface="Trebuchet MS"/>
                <a:cs typeface="Trebuchet MS"/>
              </a:rPr>
              <a:t>who</a:t>
            </a:r>
            <a:r>
              <a:rPr dirty="0" sz="1400" spc="120">
                <a:latin typeface="Trebuchet MS"/>
                <a:cs typeface="Trebuchet MS"/>
              </a:rPr>
              <a:t> </a:t>
            </a:r>
            <a:r>
              <a:rPr dirty="0" sz="1400" spc="10">
                <a:latin typeface="Trebuchet MS"/>
                <a:cs typeface="Trebuchet MS"/>
              </a:rPr>
              <a:t>disclosed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10">
                <a:latin typeface="Trebuchet MS"/>
                <a:cs typeface="Trebuchet MS"/>
              </a:rPr>
              <a:t>payment</a:t>
            </a:r>
            <a:r>
              <a:rPr dirty="0" sz="1400" spc="7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amounts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Missing</a:t>
            </a:r>
            <a:r>
              <a:rPr dirty="0" spc="-70"/>
              <a:t> </a:t>
            </a:r>
            <a:r>
              <a:rPr dirty="0" spc="-2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2252" y="597598"/>
            <a:ext cx="6515100" cy="14871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10">
                <a:latin typeface="Arial"/>
                <a:cs typeface="Arial"/>
              </a:rPr>
              <a:t>Purpose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550">
                <a:latin typeface="Arial"/>
                <a:cs typeface="Arial"/>
              </a:rPr>
              <a:t>Question:</a:t>
            </a:r>
            <a:r>
              <a:rPr dirty="0" sz="1550" spc="8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Why</a:t>
            </a:r>
            <a:r>
              <a:rPr dirty="0" sz="1550" spc="114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do</a:t>
            </a:r>
            <a:r>
              <a:rPr dirty="0" sz="1550" spc="10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victims</a:t>
            </a:r>
            <a:r>
              <a:rPr dirty="0" sz="1550" spc="114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skip</a:t>
            </a:r>
            <a:r>
              <a:rPr dirty="0" sz="1550" spc="10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certain</a:t>
            </a:r>
            <a:r>
              <a:rPr dirty="0" sz="1550" spc="100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questions?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>
                <a:latin typeface="Arial"/>
                <a:cs typeface="Arial"/>
              </a:rPr>
              <a:t>Approach:</a:t>
            </a:r>
            <a:r>
              <a:rPr dirty="0" sz="1550" spc="14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Interpret</a:t>
            </a:r>
            <a:r>
              <a:rPr dirty="0" sz="1550" spc="14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missing</a:t>
            </a:r>
            <a:r>
              <a:rPr dirty="0" sz="1550" spc="1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data</a:t>
            </a:r>
            <a:r>
              <a:rPr dirty="0" sz="1550" spc="1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patterns</a:t>
            </a:r>
            <a:r>
              <a:rPr dirty="0" sz="1550" spc="17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through</a:t>
            </a:r>
            <a:r>
              <a:rPr dirty="0" sz="1550" spc="1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behavioral</a:t>
            </a:r>
            <a:r>
              <a:rPr dirty="0" sz="1550" spc="70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economics</a:t>
            </a:r>
            <a:endParaRPr sz="155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90"/>
              </a:spcBef>
              <a:buChar char="•"/>
              <a:tabLst>
                <a:tab pos="298450" algn="l"/>
              </a:tabLst>
            </a:pPr>
            <a:r>
              <a:rPr dirty="0" sz="1550">
                <a:latin typeface="Arial"/>
                <a:cs typeface="Arial"/>
              </a:rPr>
              <a:t>Not</a:t>
            </a:r>
            <a:r>
              <a:rPr dirty="0" sz="1550" spc="10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just</a:t>
            </a:r>
            <a:r>
              <a:rPr dirty="0" sz="1550" spc="10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"bad</a:t>
            </a:r>
            <a:r>
              <a:rPr dirty="0" sz="1550" spc="2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data"</a:t>
            </a:r>
            <a:r>
              <a:rPr dirty="0" sz="1550" spc="4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→</a:t>
            </a:r>
            <a:r>
              <a:rPr dirty="0" sz="1550" spc="17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Reveals</a:t>
            </a:r>
            <a:r>
              <a:rPr dirty="0" sz="1550" spc="13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psychological</a:t>
            </a:r>
            <a:r>
              <a:rPr dirty="0" sz="1550" spc="30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processes</a:t>
            </a:r>
            <a:endParaRPr sz="155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20"/>
              </a:spcBef>
              <a:buChar char="•"/>
              <a:tabLst>
                <a:tab pos="298450" algn="l"/>
              </a:tabLst>
            </a:pPr>
            <a:r>
              <a:rPr dirty="0" sz="1550">
                <a:latin typeface="Arial"/>
                <a:cs typeface="Arial"/>
              </a:rPr>
              <a:t>Strategic</a:t>
            </a:r>
            <a:r>
              <a:rPr dirty="0" sz="1550" spc="114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non-disclosure</a:t>
            </a:r>
            <a:r>
              <a:rPr dirty="0" sz="1550" spc="21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as</a:t>
            </a:r>
            <a:r>
              <a:rPr dirty="0" sz="1550" spc="12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rational</a:t>
            </a:r>
            <a:r>
              <a:rPr dirty="0" sz="1550" spc="105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behavior</a:t>
            </a:r>
            <a:endParaRPr sz="155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95"/>
              </a:spcBef>
              <a:buChar char="•"/>
              <a:tabLst>
                <a:tab pos="298450" algn="l"/>
              </a:tabLst>
            </a:pPr>
            <a:r>
              <a:rPr dirty="0" sz="1550">
                <a:latin typeface="Arial"/>
                <a:cs typeface="Arial"/>
              </a:rPr>
              <a:t>Patterns</a:t>
            </a:r>
            <a:r>
              <a:rPr dirty="0" sz="1550" spc="15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reflect</a:t>
            </a:r>
            <a:r>
              <a:rPr dirty="0" sz="1550" spc="13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underlying</a:t>
            </a:r>
            <a:r>
              <a:rPr dirty="0" sz="1550" spc="140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biases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657" y="2765107"/>
            <a:ext cx="4356735" cy="12395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10">
                <a:latin typeface="Arial"/>
                <a:cs typeface="Arial"/>
              </a:rPr>
              <a:t>Sample</a:t>
            </a:r>
            <a:endParaRPr sz="1550">
              <a:latin typeface="Arial"/>
              <a:cs typeface="Arial"/>
            </a:endParaRPr>
          </a:p>
          <a:p>
            <a:pPr marL="83185" indent="-77470">
              <a:lnSpc>
                <a:spcPct val="100000"/>
              </a:lnSpc>
              <a:spcBef>
                <a:spcPts val="20"/>
              </a:spcBef>
              <a:buSzPct val="93548"/>
              <a:buChar char="•"/>
              <a:tabLst>
                <a:tab pos="83185" algn="l"/>
              </a:tabLst>
            </a:pPr>
            <a:r>
              <a:rPr dirty="0" sz="1550">
                <a:latin typeface="Arial"/>
                <a:cs typeface="Arial"/>
              </a:rPr>
              <a:t>Total</a:t>
            </a:r>
            <a:r>
              <a:rPr dirty="0" sz="1550" spc="10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responses:</a:t>
            </a:r>
            <a:r>
              <a:rPr dirty="0" sz="1550" spc="190">
                <a:latin typeface="Arial"/>
                <a:cs typeface="Arial"/>
              </a:rPr>
              <a:t> </a:t>
            </a:r>
            <a:r>
              <a:rPr dirty="0" sz="1550" spc="-20">
                <a:latin typeface="Arial"/>
                <a:cs typeface="Arial"/>
              </a:rPr>
              <a:t>N=96</a:t>
            </a:r>
            <a:endParaRPr sz="1550">
              <a:latin typeface="Arial"/>
              <a:cs typeface="Arial"/>
            </a:endParaRPr>
          </a:p>
          <a:p>
            <a:pPr marL="83820" indent="-78105">
              <a:lnSpc>
                <a:spcPct val="100000"/>
              </a:lnSpc>
              <a:spcBef>
                <a:spcPts val="95"/>
              </a:spcBef>
              <a:buSzPct val="93548"/>
              <a:buChar char="•"/>
              <a:tabLst>
                <a:tab pos="83820" algn="l"/>
              </a:tabLst>
            </a:pPr>
            <a:r>
              <a:rPr dirty="0" sz="1550">
                <a:latin typeface="Arial"/>
                <a:cs typeface="Arial"/>
              </a:rPr>
              <a:t>Consented:</a:t>
            </a:r>
            <a:r>
              <a:rPr dirty="0" sz="1550" spc="12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91</a:t>
            </a:r>
            <a:r>
              <a:rPr dirty="0" sz="1550" spc="145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(94.8%)</a:t>
            </a:r>
            <a:endParaRPr sz="1550">
              <a:latin typeface="Arial"/>
              <a:cs typeface="Arial"/>
            </a:endParaRPr>
          </a:p>
          <a:p>
            <a:pPr marL="83820" indent="-78105">
              <a:lnSpc>
                <a:spcPct val="100000"/>
              </a:lnSpc>
              <a:spcBef>
                <a:spcPts val="90"/>
              </a:spcBef>
              <a:buSzPct val="93548"/>
              <a:buChar char="•"/>
              <a:tabLst>
                <a:tab pos="83820" algn="l"/>
              </a:tabLst>
            </a:pPr>
            <a:r>
              <a:rPr dirty="0" sz="1550">
                <a:latin typeface="Arial"/>
                <a:cs typeface="Arial"/>
              </a:rPr>
              <a:t>Had</a:t>
            </a:r>
            <a:r>
              <a:rPr dirty="0" sz="1550" spc="11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scam</a:t>
            </a:r>
            <a:r>
              <a:rPr dirty="0" sz="1550" spc="12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encounter:</a:t>
            </a:r>
            <a:r>
              <a:rPr dirty="0" sz="1550" spc="9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37</a:t>
            </a:r>
            <a:r>
              <a:rPr dirty="0" sz="1550" spc="114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(40.7%</a:t>
            </a:r>
            <a:r>
              <a:rPr dirty="0" sz="1550" spc="11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of</a:t>
            </a:r>
            <a:r>
              <a:rPr dirty="0" sz="1550" spc="95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consenters)</a:t>
            </a:r>
            <a:endParaRPr sz="1550">
              <a:latin typeface="Arial"/>
              <a:cs typeface="Arial"/>
            </a:endParaRPr>
          </a:p>
          <a:p>
            <a:pPr marL="83820" indent="-78105">
              <a:lnSpc>
                <a:spcPct val="100000"/>
              </a:lnSpc>
              <a:spcBef>
                <a:spcPts val="20"/>
              </a:spcBef>
              <a:buSzPct val="93548"/>
              <a:buChar char="•"/>
              <a:tabLst>
                <a:tab pos="83820" algn="l"/>
              </a:tabLst>
            </a:pPr>
            <a:r>
              <a:rPr dirty="0" sz="1550">
                <a:latin typeface="Arial"/>
                <a:cs typeface="Arial"/>
              </a:rPr>
              <a:t>Survey</a:t>
            </a:r>
            <a:r>
              <a:rPr dirty="0" sz="1550" spc="3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period:</a:t>
            </a:r>
            <a:r>
              <a:rPr dirty="0" sz="1550" spc="8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Oct</a:t>
            </a:r>
            <a:r>
              <a:rPr dirty="0" sz="1550" spc="8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7</a:t>
            </a:r>
            <a:r>
              <a:rPr dirty="0" sz="1550" spc="9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-</a:t>
            </a:r>
            <a:r>
              <a:rPr dirty="0" sz="1550" spc="9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Nov</a:t>
            </a:r>
            <a:r>
              <a:rPr dirty="0" sz="1550" spc="114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1,</a:t>
            </a:r>
            <a:r>
              <a:rPr dirty="0" sz="1550" spc="85">
                <a:latin typeface="Arial"/>
                <a:cs typeface="Arial"/>
              </a:rPr>
              <a:t> </a:t>
            </a:r>
            <a:r>
              <a:rPr dirty="0" sz="1550" spc="-20">
                <a:latin typeface="Arial"/>
                <a:cs typeface="Arial"/>
              </a:rPr>
              <a:t>2025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Missing</a:t>
            </a:r>
            <a:r>
              <a:rPr dirty="0" spc="-70"/>
              <a:t> </a:t>
            </a:r>
            <a:r>
              <a:rPr dirty="0" spc="-20"/>
              <a:t>Data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40601" y="1022350"/>
          <a:ext cx="8505825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5430"/>
                <a:gridCol w="2805430"/>
                <a:gridCol w="2805430"/>
              </a:tblGrid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Disclosure</a:t>
                      </a:r>
                      <a:r>
                        <a:rPr dirty="0" sz="1400" spc="-9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Status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400" spc="-50" b="1">
                          <a:latin typeface="Arial"/>
                          <a:cs typeface="Arial"/>
                        </a:rPr>
                        <a:t>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400" spc="-50" b="1">
                          <a:latin typeface="Arial"/>
                          <a:cs typeface="Arial"/>
                        </a:rPr>
                        <a:t>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Did</a:t>
                      </a:r>
                      <a:r>
                        <a:rPr dirty="0" sz="140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NOT</a:t>
                      </a:r>
                      <a:r>
                        <a:rPr dirty="0" sz="1400" spc="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disclose</a:t>
                      </a:r>
                      <a:r>
                        <a:rPr dirty="0" sz="1400" spc="-6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amount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 spc="-25" b="1">
                          <a:latin typeface="Arial"/>
                          <a:cs typeface="Arial"/>
                        </a:rPr>
                        <a:t>11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73.3%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Disclosed</a:t>
                      </a:r>
                      <a:r>
                        <a:rPr dirty="0" sz="1400" spc="-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amount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26.7%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89254" y="2281237"/>
            <a:ext cx="4454525" cy="238061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827405">
              <a:lnSpc>
                <a:spcPct val="102800"/>
              </a:lnSpc>
              <a:spcBef>
                <a:spcPts val="80"/>
              </a:spcBef>
            </a:pPr>
            <a:r>
              <a:rPr dirty="0" sz="1400">
                <a:latin typeface="Arial"/>
                <a:cs typeface="Arial"/>
              </a:rPr>
              <a:t>Pattern: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Victims</a:t>
            </a:r>
            <a:r>
              <a:rPr dirty="0" sz="1400" spc="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Avoid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Acknowledging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Losses </a:t>
            </a:r>
            <a:r>
              <a:rPr dirty="0" sz="1400">
                <a:latin typeface="Arial"/>
                <a:cs typeface="Arial"/>
              </a:rPr>
              <a:t>Among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payment-</a:t>
            </a:r>
            <a:r>
              <a:rPr dirty="0" sz="1400">
                <a:latin typeface="Arial"/>
                <a:cs typeface="Arial"/>
              </a:rPr>
              <a:t>based scam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victims</a:t>
            </a:r>
            <a:r>
              <a:rPr dirty="0" sz="1400" spc="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(N=15):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Arial"/>
                <a:cs typeface="Arial"/>
              </a:rPr>
              <a:t>Payment</a:t>
            </a:r>
            <a:r>
              <a:rPr dirty="0" sz="1400" spc="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amounts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(among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4</a:t>
            </a:r>
            <a:r>
              <a:rPr dirty="0" sz="1400" spc="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who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disclosed):</a:t>
            </a:r>
            <a:endParaRPr sz="1400">
              <a:latin typeface="Arial"/>
              <a:cs typeface="Arial"/>
            </a:endParaRPr>
          </a:p>
          <a:p>
            <a:pPr marL="74295" indent="-69850">
              <a:lnSpc>
                <a:spcPts val="1664"/>
              </a:lnSpc>
              <a:spcBef>
                <a:spcPts val="50"/>
              </a:spcBef>
              <a:buSzPct val="92857"/>
              <a:buChar char="•"/>
              <a:tabLst>
                <a:tab pos="74295" algn="l"/>
              </a:tabLst>
            </a:pPr>
            <a:r>
              <a:rPr dirty="0" sz="1400" spc="-10">
                <a:latin typeface="Arial"/>
                <a:cs typeface="Arial"/>
              </a:rPr>
              <a:t>₹500-</a:t>
            </a:r>
            <a:r>
              <a:rPr dirty="0" sz="1400">
                <a:latin typeface="Arial"/>
                <a:cs typeface="Arial"/>
              </a:rPr>
              <a:t>2,000: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2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people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(13.3%)</a:t>
            </a:r>
            <a:endParaRPr sz="1400">
              <a:latin typeface="Arial"/>
              <a:cs typeface="Arial"/>
            </a:endParaRPr>
          </a:p>
          <a:p>
            <a:pPr marL="74295" indent="-69850">
              <a:lnSpc>
                <a:spcPts val="1664"/>
              </a:lnSpc>
              <a:buSzPct val="92857"/>
              <a:buChar char="•"/>
              <a:tabLst>
                <a:tab pos="74295" algn="l"/>
              </a:tabLst>
            </a:pPr>
            <a:r>
              <a:rPr dirty="0" sz="1400" spc="-10">
                <a:latin typeface="Arial"/>
                <a:cs typeface="Arial"/>
              </a:rPr>
              <a:t>₹5,000-</a:t>
            </a:r>
            <a:r>
              <a:rPr dirty="0" sz="1400">
                <a:latin typeface="Arial"/>
                <a:cs typeface="Arial"/>
              </a:rPr>
              <a:t>10,000: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1</a:t>
            </a:r>
            <a:r>
              <a:rPr dirty="0" sz="1400" spc="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person</a:t>
            </a:r>
            <a:r>
              <a:rPr dirty="0" sz="1400" spc="1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(6.7%)</a:t>
            </a:r>
            <a:endParaRPr sz="1400">
              <a:latin typeface="Arial"/>
              <a:cs typeface="Arial"/>
            </a:endParaRPr>
          </a:p>
          <a:p>
            <a:pPr marL="74295" indent="-69850">
              <a:lnSpc>
                <a:spcPct val="100000"/>
              </a:lnSpc>
              <a:spcBef>
                <a:spcPts val="45"/>
              </a:spcBef>
              <a:buSzPct val="92857"/>
              <a:buChar char="•"/>
              <a:tabLst>
                <a:tab pos="74295" algn="l"/>
              </a:tabLst>
            </a:pPr>
            <a:r>
              <a:rPr dirty="0" sz="1400">
                <a:latin typeface="Arial"/>
                <a:cs typeface="Arial"/>
              </a:rPr>
              <a:t>₹50,000+: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1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person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(6.7%)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600"/>
              </a:lnSpc>
            </a:pPr>
            <a:r>
              <a:rPr dirty="0" sz="1400">
                <a:latin typeface="Arial"/>
                <a:cs typeface="Arial"/>
              </a:rPr>
              <a:t>Acknowledgment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triggers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pain</a:t>
            </a:r>
            <a:r>
              <a:rPr dirty="0" sz="1400" spc="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loss</a:t>
            </a:r>
            <a:r>
              <a:rPr dirty="0" sz="1400" spc="1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realization </a:t>
            </a:r>
            <a:r>
              <a:rPr dirty="0" sz="1400">
                <a:latin typeface="Arial"/>
                <a:cs typeface="Arial"/>
              </a:rPr>
              <a:t>Disclosing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"I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paid</a:t>
            </a:r>
            <a:r>
              <a:rPr dirty="0" sz="1400" spc="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₹10,000"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=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40">
                <a:latin typeface="Arial"/>
                <a:cs typeface="Arial"/>
              </a:rPr>
              <a:t>Re-</a:t>
            </a:r>
            <a:r>
              <a:rPr dirty="0" sz="1400">
                <a:latin typeface="Arial"/>
                <a:cs typeface="Arial"/>
              </a:rPr>
              <a:t>experiencing</a:t>
            </a:r>
            <a:r>
              <a:rPr dirty="0" sz="1400" spc="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5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loss </a:t>
            </a:r>
            <a:r>
              <a:rPr dirty="0" sz="1400">
                <a:latin typeface="Arial"/>
                <a:cs typeface="Arial"/>
              </a:rPr>
              <a:t>Reporting behavior91.9%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didn't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report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Transaction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costs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Missing</a:t>
            </a:r>
            <a:r>
              <a:rPr dirty="0" spc="-70"/>
              <a:t> </a:t>
            </a:r>
            <a:r>
              <a:rPr dirty="0"/>
              <a:t>Data:</a:t>
            </a:r>
            <a:r>
              <a:rPr dirty="0" spc="-30"/>
              <a:t> </a:t>
            </a:r>
            <a:r>
              <a:rPr dirty="0"/>
              <a:t>Survey</a:t>
            </a:r>
            <a:r>
              <a:rPr dirty="0" spc="-30"/>
              <a:t> </a:t>
            </a:r>
            <a:r>
              <a:rPr dirty="0" spc="-10"/>
              <a:t>Fatigue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145" y="972502"/>
            <a:ext cx="7352665" cy="249555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2054860">
              <a:lnSpc>
                <a:spcPct val="100899"/>
              </a:lnSpc>
              <a:spcBef>
                <a:spcPts val="80"/>
              </a:spcBef>
            </a:pPr>
            <a:r>
              <a:rPr dirty="0" sz="1800" spc="-30">
                <a:latin typeface="Trebuchet MS"/>
                <a:cs typeface="Trebuchet MS"/>
              </a:rPr>
              <a:t>Pattern:</a:t>
            </a:r>
            <a:r>
              <a:rPr dirty="0" sz="1800" spc="150">
                <a:latin typeface="Trebuchet MS"/>
                <a:cs typeface="Trebuchet MS"/>
              </a:rPr>
              <a:t> </a:t>
            </a:r>
            <a:r>
              <a:rPr dirty="0" sz="1800" spc="80">
                <a:latin typeface="Trebuchet MS"/>
                <a:cs typeface="Trebuchet MS"/>
              </a:rPr>
              <a:t>Missingness</a:t>
            </a:r>
            <a:r>
              <a:rPr dirty="0" sz="1800" spc="11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Increases</a:t>
            </a:r>
            <a:r>
              <a:rPr dirty="0" sz="1800" spc="10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Throughout</a:t>
            </a:r>
            <a:r>
              <a:rPr dirty="0" sz="1800" spc="10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Survey </a:t>
            </a:r>
            <a:r>
              <a:rPr dirty="0" sz="1800">
                <a:latin typeface="Trebuchet MS"/>
                <a:cs typeface="Trebuchet MS"/>
              </a:rPr>
              <a:t>Overall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missingness:</a:t>
            </a:r>
            <a:endParaRPr sz="1800">
              <a:latin typeface="Trebuchet MS"/>
              <a:cs typeface="Trebuchet MS"/>
            </a:endParaRPr>
          </a:p>
          <a:p>
            <a:pPr marL="298450" indent="-285750">
              <a:lnSpc>
                <a:spcPts val="2100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800">
                <a:latin typeface="Trebuchet MS"/>
                <a:cs typeface="Trebuchet MS"/>
              </a:rPr>
              <a:t>Mean:</a:t>
            </a:r>
            <a:r>
              <a:rPr dirty="0" sz="1800" spc="30">
                <a:latin typeface="Trebuchet MS"/>
                <a:cs typeface="Trebuchet MS"/>
              </a:rPr>
              <a:t> </a:t>
            </a:r>
            <a:r>
              <a:rPr dirty="0" sz="1800" spc="105">
                <a:latin typeface="Trebuchet MS"/>
                <a:cs typeface="Trebuchet MS"/>
              </a:rPr>
              <a:t>55.5%</a:t>
            </a:r>
            <a:endParaRPr sz="18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800">
                <a:latin typeface="Trebuchet MS"/>
                <a:cs typeface="Trebuchet MS"/>
              </a:rPr>
              <a:t>Median:</a:t>
            </a:r>
            <a:r>
              <a:rPr dirty="0" sz="1800" spc="85">
                <a:latin typeface="Trebuchet MS"/>
                <a:cs typeface="Trebuchet MS"/>
              </a:rPr>
              <a:t> </a:t>
            </a:r>
            <a:r>
              <a:rPr dirty="0" sz="1800" spc="65">
                <a:latin typeface="Trebuchet MS"/>
                <a:cs typeface="Trebuchet MS"/>
              </a:rPr>
              <a:t>62.5%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Arial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Trebuchet MS"/>
                <a:cs typeface="Trebuchet MS"/>
              </a:rPr>
              <a:t>Fatigue</a:t>
            </a:r>
            <a:r>
              <a:rPr dirty="0" sz="1800" spc="165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test:</a:t>
            </a:r>
            <a:endParaRPr sz="1800">
              <a:latin typeface="Trebuchet MS"/>
              <a:cs typeface="Trebuchet MS"/>
            </a:endParaRPr>
          </a:p>
          <a:p>
            <a:pPr marL="298450" indent="-285750">
              <a:lnSpc>
                <a:spcPts val="2130"/>
              </a:lnSpc>
              <a:spcBef>
                <a:spcPts val="20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800">
                <a:latin typeface="Trebuchet MS"/>
                <a:cs typeface="Trebuchet MS"/>
              </a:rPr>
              <a:t>Spearman</a:t>
            </a:r>
            <a:r>
              <a:rPr dirty="0" sz="1800" spc="9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correlation</a:t>
            </a:r>
            <a:r>
              <a:rPr dirty="0" sz="1800" spc="10">
                <a:latin typeface="Trebuchet MS"/>
                <a:cs typeface="Trebuchet MS"/>
              </a:rPr>
              <a:t> </a:t>
            </a:r>
            <a:r>
              <a:rPr dirty="0" sz="1800" spc="45">
                <a:latin typeface="Trebuchet MS"/>
                <a:cs typeface="Trebuchet MS"/>
              </a:rPr>
              <a:t>(Question</a:t>
            </a:r>
            <a:r>
              <a:rPr dirty="0" sz="1800" spc="1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Position</a:t>
            </a:r>
            <a:r>
              <a:rPr dirty="0" sz="1800" spc="45">
                <a:latin typeface="Trebuchet MS"/>
                <a:cs typeface="Trebuchet MS"/>
              </a:rPr>
              <a:t> </a:t>
            </a:r>
            <a:r>
              <a:rPr dirty="0" sz="1800">
                <a:latin typeface="Arial"/>
                <a:cs typeface="Arial"/>
              </a:rPr>
              <a:t>×</a:t>
            </a:r>
            <a:r>
              <a:rPr dirty="0" sz="1800" spc="75">
                <a:latin typeface="Arial"/>
                <a:cs typeface="Arial"/>
              </a:rPr>
              <a:t> </a:t>
            </a:r>
            <a:r>
              <a:rPr dirty="0" sz="1800" spc="50">
                <a:latin typeface="Trebuchet MS"/>
                <a:cs typeface="Trebuchet MS"/>
              </a:rPr>
              <a:t>Missingness):</a:t>
            </a:r>
            <a:r>
              <a:rPr dirty="0" sz="1800" spc="55">
                <a:latin typeface="Trebuchet MS"/>
                <a:cs typeface="Trebuchet MS"/>
              </a:rPr>
              <a:t> </a:t>
            </a:r>
            <a:r>
              <a:rPr dirty="0" sz="1800">
                <a:latin typeface="Cambria"/>
                <a:cs typeface="Cambria"/>
              </a:rPr>
              <a:t>ρ</a:t>
            </a:r>
            <a:r>
              <a:rPr dirty="0" sz="1800" spc="180">
                <a:latin typeface="Cambria"/>
                <a:cs typeface="Cambria"/>
              </a:rPr>
              <a:t> </a:t>
            </a:r>
            <a:r>
              <a:rPr dirty="0" sz="1800" spc="245">
                <a:latin typeface="Trebuchet MS"/>
                <a:cs typeface="Trebuchet MS"/>
              </a:rPr>
              <a:t>=</a:t>
            </a:r>
            <a:r>
              <a:rPr dirty="0" sz="1800" spc="60">
                <a:latin typeface="Trebuchet MS"/>
                <a:cs typeface="Trebuchet MS"/>
              </a:rPr>
              <a:t> 0.346</a:t>
            </a:r>
            <a:endParaRPr sz="1800">
              <a:latin typeface="Trebuchet MS"/>
              <a:cs typeface="Trebuchet MS"/>
            </a:endParaRPr>
          </a:p>
          <a:p>
            <a:pPr marL="298450" indent="-285750">
              <a:lnSpc>
                <a:spcPts val="2130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800" spc="90">
                <a:latin typeface="Trebuchet MS"/>
                <a:cs typeface="Trebuchet MS"/>
              </a:rPr>
              <a:t>p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 spc="245">
                <a:latin typeface="Trebuchet MS"/>
                <a:cs typeface="Trebuchet MS"/>
              </a:rPr>
              <a:t>=</a:t>
            </a:r>
            <a:r>
              <a:rPr dirty="0" sz="1800" spc="-15">
                <a:latin typeface="Trebuchet MS"/>
                <a:cs typeface="Trebuchet MS"/>
              </a:rPr>
              <a:t> </a:t>
            </a:r>
            <a:r>
              <a:rPr dirty="0" sz="1800" spc="100">
                <a:latin typeface="Trebuchet MS"/>
                <a:cs typeface="Trebuchet MS"/>
              </a:rPr>
              <a:t>0.0064</a:t>
            </a:r>
            <a:r>
              <a:rPr dirty="0" sz="1800" spc="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(significant)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800" spc="-30">
                <a:latin typeface="Trebuchet MS"/>
                <a:cs typeface="Trebuchet MS"/>
              </a:rPr>
              <a:t>Interpretation:</a:t>
            </a:r>
            <a:r>
              <a:rPr dirty="0" sz="1800" spc="150">
                <a:latin typeface="Trebuchet MS"/>
                <a:cs typeface="Trebuchet MS"/>
              </a:rPr>
              <a:t> </a:t>
            </a:r>
            <a:r>
              <a:rPr dirty="0" sz="1800" spc="130">
                <a:latin typeface="Trebuchet MS"/>
                <a:cs typeface="Trebuchet MS"/>
              </a:rPr>
              <a:t>As</a:t>
            </a:r>
            <a:r>
              <a:rPr dirty="0" sz="1800" spc="10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survey</a:t>
            </a:r>
            <a:r>
              <a:rPr dirty="0" sz="1800" spc="114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progresses,</a:t>
            </a:r>
            <a:r>
              <a:rPr dirty="0" sz="1800" spc="11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people</a:t>
            </a:r>
            <a:r>
              <a:rPr dirty="0" sz="1800" spc="18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skip</a:t>
            </a:r>
            <a:r>
              <a:rPr dirty="0" sz="1800" spc="9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more</a:t>
            </a:r>
            <a:r>
              <a:rPr dirty="0" sz="1800" spc="9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questions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Missing</a:t>
            </a:r>
            <a:r>
              <a:rPr dirty="0" spc="-70"/>
              <a:t> </a:t>
            </a:r>
            <a:r>
              <a:rPr dirty="0"/>
              <a:t>Data:</a:t>
            </a:r>
            <a:r>
              <a:rPr dirty="0" spc="-30"/>
              <a:t> </a:t>
            </a:r>
            <a:r>
              <a:rPr dirty="0"/>
              <a:t>Survey</a:t>
            </a:r>
            <a:r>
              <a:rPr dirty="0" spc="-30"/>
              <a:t> </a:t>
            </a:r>
            <a:r>
              <a:rPr dirty="0" spc="-10"/>
              <a:t>Fatigue</a:t>
            </a:r>
          </a:p>
        </p:txBody>
      </p:sp>
      <p:pic>
        <p:nvPicPr>
          <p:cNvPr id="3" name="object 3" descr="A graph of a graph with red and blue lines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0175" y="561975"/>
            <a:ext cx="6515100" cy="44196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Missing</a:t>
            </a:r>
            <a:r>
              <a:rPr dirty="0" spc="-70"/>
              <a:t> </a:t>
            </a:r>
            <a:r>
              <a:rPr dirty="0"/>
              <a:t>Data:</a:t>
            </a:r>
            <a:r>
              <a:rPr dirty="0" spc="-30"/>
              <a:t> </a:t>
            </a:r>
            <a:r>
              <a:rPr dirty="0"/>
              <a:t>Survey</a:t>
            </a:r>
            <a:r>
              <a:rPr dirty="0" spc="-30"/>
              <a:t> </a:t>
            </a:r>
            <a:r>
              <a:rPr dirty="0" spc="-10"/>
              <a:t>Fatigue</a:t>
            </a:r>
          </a:p>
        </p:txBody>
      </p:sp>
      <p:pic>
        <p:nvPicPr>
          <p:cNvPr id="3" name="object 3" descr="A graph of missingness by question type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4475" y="476248"/>
            <a:ext cx="6115050" cy="4581523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Suggested</a:t>
            </a:r>
            <a:r>
              <a:rPr dirty="0" spc="-95"/>
              <a:t> </a:t>
            </a:r>
            <a:r>
              <a:rPr dirty="0"/>
              <a:t>Nudges</a:t>
            </a:r>
            <a:r>
              <a:rPr dirty="0" spc="-65"/>
              <a:t> </a:t>
            </a:r>
            <a:r>
              <a:rPr dirty="0"/>
              <a:t>and</a:t>
            </a:r>
            <a:r>
              <a:rPr dirty="0" spc="-90"/>
              <a:t> </a:t>
            </a:r>
            <a:r>
              <a:rPr dirty="0"/>
              <a:t>Interventions:</a:t>
            </a:r>
            <a:r>
              <a:rPr dirty="0" spc="-75"/>
              <a:t> </a:t>
            </a:r>
            <a:r>
              <a:rPr dirty="0" spc="-10"/>
              <a:t>Urgency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145" y="1034986"/>
            <a:ext cx="7732395" cy="2171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>
                <a:latin typeface="Trebuchet MS"/>
                <a:cs typeface="Trebuchet MS"/>
              </a:rPr>
              <a:t>Urgency</a:t>
            </a:r>
            <a:r>
              <a:rPr dirty="0" sz="1400" spc="1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Detection</a:t>
            </a:r>
            <a:r>
              <a:rPr dirty="0" sz="1400" spc="160">
                <a:latin typeface="Trebuchet MS"/>
                <a:cs typeface="Trebuchet MS"/>
              </a:rPr>
              <a:t> </a:t>
            </a:r>
            <a:r>
              <a:rPr dirty="0" sz="1400" spc="165">
                <a:latin typeface="Trebuchet MS"/>
                <a:cs typeface="Trebuchet MS"/>
              </a:rPr>
              <a:t>+</a:t>
            </a:r>
            <a:r>
              <a:rPr dirty="0" sz="1400" spc="114">
                <a:latin typeface="Trebuchet MS"/>
                <a:cs typeface="Trebuchet MS"/>
              </a:rPr>
              <a:t> </a:t>
            </a:r>
            <a:r>
              <a:rPr dirty="0" sz="1400" spc="60">
                <a:latin typeface="Trebuchet MS"/>
                <a:cs typeface="Trebuchet MS"/>
              </a:rPr>
              <a:t>Auto-</a:t>
            </a:r>
            <a:r>
              <a:rPr dirty="0" sz="1400" spc="-10">
                <a:latin typeface="Trebuchet MS"/>
                <a:cs typeface="Trebuchet MS"/>
              </a:rPr>
              <a:t>Warning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400">
              <a:latin typeface="Trebuchet MS"/>
              <a:cs typeface="Trebuchet MS"/>
            </a:endParaRPr>
          </a:p>
          <a:p>
            <a:pPr marL="12700" marR="5080">
              <a:lnSpc>
                <a:spcPct val="99800"/>
              </a:lnSpc>
            </a:pPr>
            <a:r>
              <a:rPr dirty="0" sz="1400">
                <a:latin typeface="Trebuchet MS"/>
                <a:cs typeface="Trebuchet MS"/>
              </a:rPr>
              <a:t>Platform-</a:t>
            </a:r>
            <a:r>
              <a:rPr dirty="0" sz="1400" spc="-10">
                <a:latin typeface="Trebuchet MS"/>
                <a:cs typeface="Trebuchet MS"/>
              </a:rPr>
              <a:t>level</a:t>
            </a:r>
            <a:r>
              <a:rPr dirty="0" sz="1400" spc="14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algorithm:</a:t>
            </a:r>
            <a:r>
              <a:rPr dirty="0" sz="1400" spc="50">
                <a:latin typeface="Trebuchet MS"/>
                <a:cs typeface="Trebuchet MS"/>
              </a:rPr>
              <a:t> </a:t>
            </a:r>
            <a:r>
              <a:rPr dirty="0" sz="1400" spc="65">
                <a:latin typeface="Trebuchet MS"/>
                <a:cs typeface="Trebuchet MS"/>
              </a:rPr>
              <a:t>Auto-</a:t>
            </a:r>
            <a:r>
              <a:rPr dirty="0" sz="1400">
                <a:latin typeface="Trebuchet MS"/>
                <a:cs typeface="Trebuchet MS"/>
              </a:rPr>
              <a:t>append</a:t>
            </a:r>
            <a:r>
              <a:rPr dirty="0" sz="1400" spc="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disclaimer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to</a:t>
            </a:r>
            <a:r>
              <a:rPr dirty="0" sz="1400" spc="6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suspected</a:t>
            </a:r>
            <a:r>
              <a:rPr dirty="0" sz="1400" spc="125">
                <a:latin typeface="Trebuchet MS"/>
                <a:cs typeface="Trebuchet MS"/>
              </a:rPr>
              <a:t> </a:t>
            </a:r>
            <a:r>
              <a:rPr dirty="0" sz="1400" spc="65">
                <a:latin typeface="Trebuchet MS"/>
                <a:cs typeface="Trebuchet MS"/>
              </a:rPr>
              <a:t>scam</a:t>
            </a:r>
            <a:r>
              <a:rPr dirty="0" sz="1400" spc="7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message.</a:t>
            </a:r>
            <a:r>
              <a:rPr dirty="0" sz="1400" spc="1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The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label</a:t>
            </a:r>
            <a:r>
              <a:rPr dirty="0" sz="1400" spc="15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tells </a:t>
            </a:r>
            <a:r>
              <a:rPr dirty="0" sz="1400">
                <a:latin typeface="Trebuchet MS"/>
                <a:cs typeface="Trebuchet MS"/>
              </a:rPr>
              <a:t>users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 spc="-30">
                <a:latin typeface="Trebuchet MS"/>
                <a:cs typeface="Trebuchet MS"/>
              </a:rPr>
              <a:t>that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the</a:t>
            </a:r>
            <a:r>
              <a:rPr dirty="0" sz="1400" spc="40">
                <a:latin typeface="Trebuchet MS"/>
                <a:cs typeface="Trebuchet MS"/>
              </a:rPr>
              <a:t> </a:t>
            </a:r>
            <a:r>
              <a:rPr dirty="0" sz="1400" spc="70">
                <a:latin typeface="Trebuchet MS"/>
                <a:cs typeface="Trebuchet MS"/>
              </a:rPr>
              <a:t>message</a:t>
            </a:r>
            <a:r>
              <a:rPr dirty="0" sz="1400" spc="35">
                <a:latin typeface="Trebuchet MS"/>
                <a:cs typeface="Trebuchet MS"/>
              </a:rPr>
              <a:t> </a:t>
            </a:r>
            <a:r>
              <a:rPr dirty="0" sz="1400" spc="65">
                <a:latin typeface="Trebuchet MS"/>
                <a:cs typeface="Trebuchet MS"/>
              </a:rPr>
              <a:t>uses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 spc="-35">
                <a:latin typeface="Trebuchet MS"/>
                <a:cs typeface="Trebuchet MS"/>
              </a:rPr>
              <a:t>artificial</a:t>
            </a:r>
            <a:r>
              <a:rPr dirty="0" sz="1400" spc="6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urgency,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explains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how</a:t>
            </a:r>
            <a:r>
              <a:rPr dirty="0" sz="1400" spc="70">
                <a:latin typeface="Trebuchet MS"/>
                <a:cs typeface="Trebuchet MS"/>
              </a:rPr>
              <a:t> </a:t>
            </a:r>
            <a:r>
              <a:rPr dirty="0" sz="1400" spc="-40">
                <a:latin typeface="Trebuchet MS"/>
                <a:cs typeface="Trebuchet MS"/>
              </a:rPr>
              <a:t>real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deadlines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differ</a:t>
            </a:r>
            <a:r>
              <a:rPr dirty="0" sz="1400" spc="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from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 spc="50">
                <a:latin typeface="Trebuchet MS"/>
                <a:cs typeface="Trebuchet MS"/>
              </a:rPr>
              <a:t>scam </a:t>
            </a:r>
            <a:r>
              <a:rPr dirty="0" sz="1400">
                <a:latin typeface="Trebuchet MS"/>
                <a:cs typeface="Trebuchet MS"/>
              </a:rPr>
              <a:t>deadlines,</a:t>
            </a:r>
            <a:r>
              <a:rPr dirty="0" sz="1400" spc="30">
                <a:latin typeface="Trebuchet MS"/>
                <a:cs typeface="Trebuchet MS"/>
              </a:rPr>
              <a:t> </a:t>
            </a:r>
            <a:r>
              <a:rPr dirty="0" sz="1400" spc="50">
                <a:latin typeface="Trebuchet MS"/>
                <a:cs typeface="Trebuchet MS"/>
              </a:rPr>
              <a:t>and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offers</a:t>
            </a:r>
            <a:r>
              <a:rPr dirty="0" sz="1400" spc="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quick</a:t>
            </a:r>
            <a:r>
              <a:rPr dirty="0" sz="1400" spc="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options</a:t>
            </a:r>
            <a:r>
              <a:rPr dirty="0" sz="1400" spc="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to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continue</a:t>
            </a:r>
            <a:r>
              <a:rPr dirty="0" sz="1400" spc="6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or</a:t>
            </a:r>
            <a:r>
              <a:rPr dirty="0" sz="1400" spc="45">
                <a:latin typeface="Trebuchet MS"/>
                <a:cs typeface="Trebuchet MS"/>
              </a:rPr>
              <a:t> </a:t>
            </a:r>
            <a:r>
              <a:rPr dirty="0" sz="1400" spc="-30">
                <a:latin typeface="Trebuchet MS"/>
                <a:cs typeface="Trebuchet MS"/>
              </a:rPr>
              <a:t>report.</a:t>
            </a:r>
            <a:r>
              <a:rPr dirty="0" sz="1400" spc="8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The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goal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is</a:t>
            </a:r>
            <a:r>
              <a:rPr dirty="0" sz="1400" spc="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to</a:t>
            </a:r>
            <a:r>
              <a:rPr dirty="0" sz="1400" spc="1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make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the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manipulation </a:t>
            </a:r>
            <a:r>
              <a:rPr dirty="0" sz="1400">
                <a:latin typeface="Trebuchet MS"/>
                <a:cs typeface="Trebuchet MS"/>
              </a:rPr>
              <a:t>visible</a:t>
            </a:r>
            <a:r>
              <a:rPr dirty="0" sz="1400" spc="5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at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the</a:t>
            </a:r>
            <a:r>
              <a:rPr dirty="0" sz="1400" spc="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exact</a:t>
            </a:r>
            <a:r>
              <a:rPr dirty="0" sz="1400" spc="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moment</a:t>
            </a:r>
            <a:r>
              <a:rPr dirty="0" sz="1400" spc="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of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risk</a:t>
            </a:r>
            <a:r>
              <a:rPr dirty="0" sz="1400" spc="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without</a:t>
            </a:r>
            <a:r>
              <a:rPr dirty="0" sz="1400" spc="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blocking</a:t>
            </a:r>
            <a:r>
              <a:rPr dirty="0" sz="1400" spc="7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the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65">
                <a:latin typeface="Trebuchet MS"/>
                <a:cs typeface="Trebuchet MS"/>
              </a:rPr>
              <a:t>message</a:t>
            </a:r>
            <a:r>
              <a:rPr dirty="0" sz="1400" spc="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or</a:t>
            </a:r>
            <a:r>
              <a:rPr dirty="0" sz="1400" spc="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removing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user</a:t>
            </a:r>
            <a:r>
              <a:rPr dirty="0" sz="1400" spc="4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control.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Trebuchet MS"/>
                <a:cs typeface="Trebuchet MS"/>
              </a:rPr>
              <a:t>Detect</a:t>
            </a:r>
            <a:r>
              <a:rPr dirty="0" sz="1400" spc="40" b="1">
                <a:latin typeface="Trebuchet MS"/>
                <a:cs typeface="Trebuchet MS"/>
              </a:rPr>
              <a:t> </a:t>
            </a:r>
            <a:r>
              <a:rPr dirty="0" sz="1400" spc="-10" b="1">
                <a:latin typeface="Trebuchet MS"/>
                <a:cs typeface="Trebuchet MS"/>
              </a:rPr>
              <a:t>Keywords: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298450" algn="l"/>
              </a:tabLst>
            </a:pPr>
            <a:r>
              <a:rPr dirty="0" sz="1400" spc="-25">
                <a:latin typeface="Trebuchet MS"/>
                <a:cs typeface="Trebuchet MS"/>
              </a:rPr>
              <a:t>1.</a:t>
            </a:r>
            <a:r>
              <a:rPr dirty="0" sz="1400">
                <a:latin typeface="Trebuchet MS"/>
                <a:cs typeface="Trebuchet MS"/>
              </a:rPr>
              <a:t>	"Today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only",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"Limited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time",</a:t>
            </a:r>
            <a:r>
              <a:rPr dirty="0" sz="1400" spc="8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"Expires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in",</a:t>
            </a:r>
            <a:r>
              <a:rPr dirty="0" sz="1400">
                <a:latin typeface="Trebuchet MS"/>
                <a:cs typeface="Trebuchet MS"/>
              </a:rPr>
              <a:t> "Act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now", "Last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chance",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"Only</a:t>
            </a:r>
            <a:r>
              <a:rPr dirty="0" sz="1400" spc="25">
                <a:latin typeface="Trebuchet MS"/>
                <a:cs typeface="Trebuchet MS"/>
              </a:rPr>
              <a:t> </a:t>
            </a:r>
            <a:r>
              <a:rPr dirty="0" sz="1400" spc="229">
                <a:latin typeface="Trebuchet MS"/>
                <a:cs typeface="Trebuchet MS"/>
              </a:rPr>
              <a:t>X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spots"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Suggested</a:t>
            </a:r>
            <a:r>
              <a:rPr dirty="0" spc="-95"/>
              <a:t> </a:t>
            </a:r>
            <a:r>
              <a:rPr dirty="0"/>
              <a:t>Nudges</a:t>
            </a:r>
            <a:r>
              <a:rPr dirty="0" spc="-65"/>
              <a:t> </a:t>
            </a:r>
            <a:r>
              <a:rPr dirty="0"/>
              <a:t>and</a:t>
            </a:r>
            <a:r>
              <a:rPr dirty="0" spc="-90"/>
              <a:t> </a:t>
            </a:r>
            <a:r>
              <a:rPr dirty="0"/>
              <a:t>Interventions:</a:t>
            </a:r>
            <a:r>
              <a:rPr dirty="0" spc="-75"/>
              <a:t> </a:t>
            </a:r>
            <a:r>
              <a:rPr dirty="0" spc="-20"/>
              <a:t>FOMO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5617" y="816610"/>
            <a:ext cx="7807959" cy="2223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b="1">
                <a:latin typeface="Trebuchet MS"/>
                <a:cs typeface="Trebuchet MS"/>
              </a:rPr>
              <a:t>When:</a:t>
            </a:r>
            <a:r>
              <a:rPr dirty="0" sz="1550" spc="60" b="1">
                <a:latin typeface="Trebuchet MS"/>
                <a:cs typeface="Trebuchet MS"/>
              </a:rPr>
              <a:t> </a:t>
            </a:r>
            <a:r>
              <a:rPr dirty="0" sz="1550" spc="65">
                <a:latin typeface="Trebuchet MS"/>
                <a:cs typeface="Trebuchet MS"/>
              </a:rPr>
              <a:t>User</a:t>
            </a:r>
            <a:r>
              <a:rPr dirty="0" sz="1550" spc="9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revisits</a:t>
            </a:r>
            <a:r>
              <a:rPr dirty="0" sz="1550" spc="60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conversation</a:t>
            </a:r>
            <a:r>
              <a:rPr dirty="0" sz="1550" spc="7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multiple</a:t>
            </a:r>
            <a:r>
              <a:rPr dirty="0" sz="1550" spc="7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times</a:t>
            </a:r>
            <a:r>
              <a:rPr dirty="0" sz="1550" spc="6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in</a:t>
            </a:r>
            <a:r>
              <a:rPr dirty="0" sz="1550" spc="7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short</a:t>
            </a:r>
            <a:r>
              <a:rPr dirty="0" sz="1550" spc="110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period</a:t>
            </a:r>
            <a:r>
              <a:rPr dirty="0" sz="1550" spc="85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(indicates</a:t>
            </a: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10">
                <a:latin typeface="Trebuchet MS"/>
                <a:cs typeface="Trebuchet MS"/>
              </a:rPr>
              <a:t>anxiety/fear)</a:t>
            </a:r>
            <a:endParaRPr sz="15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550" b="1">
                <a:latin typeface="Trebuchet MS"/>
                <a:cs typeface="Trebuchet MS"/>
              </a:rPr>
              <a:t>Platform</a:t>
            </a:r>
            <a:r>
              <a:rPr dirty="0" sz="1550" spc="145" b="1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Action:</a:t>
            </a:r>
            <a:r>
              <a:rPr dirty="0" sz="1550" spc="90" b="1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Proactive</a:t>
            </a:r>
            <a:r>
              <a:rPr dirty="0" sz="1550" spc="120">
                <a:latin typeface="Trebuchet MS"/>
                <a:cs typeface="Trebuchet MS"/>
              </a:rPr>
              <a:t> </a:t>
            </a:r>
            <a:r>
              <a:rPr dirty="0" sz="1550" spc="100">
                <a:latin typeface="Trebuchet MS"/>
                <a:cs typeface="Trebuchet MS"/>
              </a:rPr>
              <a:t>message</a:t>
            </a:r>
            <a:r>
              <a:rPr dirty="0" sz="1550" spc="13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before</a:t>
            </a:r>
            <a:r>
              <a:rPr dirty="0" sz="1550" spc="12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they</a:t>
            </a:r>
            <a:r>
              <a:rPr dirty="0" sz="1550" spc="135">
                <a:latin typeface="Trebuchet MS"/>
                <a:cs typeface="Trebuchet MS"/>
              </a:rPr>
              <a:t> </a:t>
            </a:r>
            <a:r>
              <a:rPr dirty="0" sz="1550" spc="90">
                <a:latin typeface="Trebuchet MS"/>
                <a:cs typeface="Trebuchet MS"/>
              </a:rPr>
              <a:t>engage</a:t>
            </a:r>
            <a:endParaRPr sz="1550">
              <a:latin typeface="Trebuchet MS"/>
              <a:cs typeface="Trebuchet MS"/>
            </a:endParaRPr>
          </a:p>
          <a:p>
            <a:pPr marL="12700" marR="5080">
              <a:lnSpc>
                <a:spcPct val="103000"/>
              </a:lnSpc>
              <a:spcBef>
                <a:spcPts val="40"/>
              </a:spcBef>
            </a:pPr>
            <a:r>
              <a:rPr dirty="0" sz="1550" spc="-30">
                <a:latin typeface="Trebuchet MS"/>
                <a:cs typeface="Trebuchet MS"/>
              </a:rPr>
              <a:t>If</a:t>
            </a:r>
            <a:r>
              <a:rPr dirty="0" sz="1550" spc="5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a</a:t>
            </a:r>
            <a:r>
              <a:rPr dirty="0" sz="1550" spc="11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user</a:t>
            </a:r>
            <a:r>
              <a:rPr dirty="0" sz="1550" spc="-10">
                <a:latin typeface="Trebuchet MS"/>
                <a:cs typeface="Trebuchet MS"/>
              </a:rPr>
              <a:t> </a:t>
            </a:r>
            <a:r>
              <a:rPr dirty="0" sz="1550" spc="65">
                <a:latin typeface="Trebuchet MS"/>
                <a:cs typeface="Trebuchet MS"/>
              </a:rPr>
              <a:t>keeps</a:t>
            </a:r>
            <a:r>
              <a:rPr dirty="0" sz="1550" spc="12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revisiting</a:t>
            </a:r>
            <a:r>
              <a:rPr dirty="0" sz="1550" spc="6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a</a:t>
            </a:r>
            <a:r>
              <a:rPr dirty="0" sz="1550" spc="70">
                <a:latin typeface="Trebuchet MS"/>
                <a:cs typeface="Trebuchet MS"/>
              </a:rPr>
              <a:t> </a:t>
            </a:r>
            <a:r>
              <a:rPr dirty="0" sz="1550" spc="105">
                <a:latin typeface="Trebuchet MS"/>
                <a:cs typeface="Trebuchet MS"/>
              </a:rPr>
              <a:t>scammy</a:t>
            </a:r>
            <a:r>
              <a:rPr dirty="0" sz="1550" spc="3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chat</a:t>
            </a:r>
            <a:r>
              <a:rPr dirty="0" sz="1550" spc="8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repeatedly</a:t>
            </a:r>
            <a:r>
              <a:rPr dirty="0" sz="1550" spc="60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(a</a:t>
            </a:r>
            <a:r>
              <a:rPr dirty="0" sz="1550" spc="25">
                <a:latin typeface="Trebuchet MS"/>
                <a:cs typeface="Trebuchet MS"/>
              </a:rPr>
              <a:t> </a:t>
            </a:r>
            <a:r>
              <a:rPr dirty="0" sz="1550" spc="85">
                <a:latin typeface="Trebuchet MS"/>
                <a:cs typeface="Trebuchet MS"/>
              </a:rPr>
              <a:t>sign</a:t>
            </a:r>
            <a:r>
              <a:rPr dirty="0" sz="1550" spc="5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of</a:t>
            </a:r>
            <a:r>
              <a:rPr dirty="0" sz="1550" spc="-3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anxiety),</a:t>
            </a:r>
            <a:r>
              <a:rPr dirty="0" sz="1550" spc="7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the</a:t>
            </a:r>
            <a:r>
              <a:rPr dirty="0" sz="1550" spc="5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platform </a:t>
            </a:r>
            <a:r>
              <a:rPr dirty="0" sz="1550" spc="90">
                <a:latin typeface="Trebuchet MS"/>
                <a:cs typeface="Trebuchet MS"/>
              </a:rPr>
              <a:t>shows</a:t>
            </a:r>
            <a:r>
              <a:rPr dirty="0" sz="1550" spc="2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a</a:t>
            </a:r>
            <a:r>
              <a:rPr dirty="0" sz="1550" spc="10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gentle</a:t>
            </a:r>
            <a:r>
              <a:rPr dirty="0" sz="1550" spc="3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intervention</a:t>
            </a:r>
            <a:r>
              <a:rPr dirty="0" sz="1550" spc="4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explaining</a:t>
            </a:r>
            <a:r>
              <a:rPr dirty="0" sz="1550" spc="45">
                <a:latin typeface="Trebuchet MS"/>
                <a:cs typeface="Trebuchet MS"/>
              </a:rPr>
              <a:t> </a:t>
            </a:r>
            <a:r>
              <a:rPr dirty="0" sz="1550" spc="70">
                <a:latin typeface="Trebuchet MS"/>
                <a:cs typeface="Trebuchet MS"/>
              </a:rPr>
              <a:t>how</a:t>
            </a:r>
            <a:r>
              <a:rPr dirty="0" sz="1550" spc="35">
                <a:latin typeface="Trebuchet MS"/>
                <a:cs typeface="Trebuchet MS"/>
              </a:rPr>
              <a:t> </a:t>
            </a:r>
            <a:r>
              <a:rPr dirty="0" sz="1550" spc="90">
                <a:latin typeface="Trebuchet MS"/>
                <a:cs typeface="Trebuchet MS"/>
              </a:rPr>
              <a:t>scammers</a:t>
            </a:r>
            <a:r>
              <a:rPr dirty="0" sz="1550" spc="3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trigger</a:t>
            </a:r>
            <a:r>
              <a:rPr dirty="0" sz="1550" spc="175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fear</a:t>
            </a:r>
            <a:r>
              <a:rPr dirty="0" sz="1550" spc="105" b="1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of</a:t>
            </a:r>
            <a:r>
              <a:rPr dirty="0" sz="1550" spc="25" b="1">
                <a:latin typeface="Trebuchet MS"/>
                <a:cs typeface="Trebuchet MS"/>
              </a:rPr>
              <a:t> </a:t>
            </a:r>
            <a:r>
              <a:rPr dirty="0" sz="1550" spc="60" b="1">
                <a:latin typeface="Trebuchet MS"/>
                <a:cs typeface="Trebuchet MS"/>
              </a:rPr>
              <a:t>missing</a:t>
            </a:r>
            <a:r>
              <a:rPr dirty="0" sz="1550" spc="-20" b="1">
                <a:latin typeface="Trebuchet MS"/>
                <a:cs typeface="Trebuchet MS"/>
              </a:rPr>
              <a:t> out</a:t>
            </a:r>
            <a:r>
              <a:rPr dirty="0" sz="1550" spc="-20">
                <a:latin typeface="Trebuchet MS"/>
                <a:cs typeface="Trebuchet MS"/>
              </a:rPr>
              <a:t>.</a:t>
            </a:r>
            <a:r>
              <a:rPr dirty="0" sz="1550" spc="25">
                <a:latin typeface="Trebuchet MS"/>
                <a:cs typeface="Trebuchet MS"/>
              </a:rPr>
              <a:t> </a:t>
            </a:r>
            <a:r>
              <a:rPr dirty="0" sz="1550" spc="-25">
                <a:latin typeface="Trebuchet MS"/>
                <a:cs typeface="Trebuchet MS"/>
              </a:rPr>
              <a:t>It </a:t>
            </a:r>
            <a:r>
              <a:rPr dirty="0" sz="1550" spc="50">
                <a:latin typeface="Trebuchet MS"/>
                <a:cs typeface="Trebuchet MS"/>
              </a:rPr>
              <a:t>reassures</a:t>
            </a:r>
            <a:r>
              <a:rPr dirty="0" sz="1550" spc="40">
                <a:latin typeface="Trebuchet MS"/>
                <a:cs typeface="Trebuchet MS"/>
              </a:rPr>
              <a:t> </a:t>
            </a:r>
            <a:r>
              <a:rPr dirty="0" sz="1550" spc="10">
                <a:latin typeface="Trebuchet MS"/>
                <a:cs typeface="Trebuchet MS"/>
              </a:rPr>
              <a:t>the</a:t>
            </a:r>
            <a:r>
              <a:rPr dirty="0" sz="1550" spc="55">
                <a:latin typeface="Trebuchet MS"/>
                <a:cs typeface="Trebuchet MS"/>
              </a:rPr>
              <a:t> </a:t>
            </a:r>
            <a:r>
              <a:rPr dirty="0" sz="1550" spc="10">
                <a:latin typeface="Trebuchet MS"/>
                <a:cs typeface="Trebuchet MS"/>
              </a:rPr>
              <a:t>user</a:t>
            </a:r>
            <a:r>
              <a:rPr dirty="0" sz="1550" spc="8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that</a:t>
            </a:r>
            <a:r>
              <a:rPr dirty="0" sz="1550" spc="5">
                <a:latin typeface="Trebuchet MS"/>
                <a:cs typeface="Trebuchet MS"/>
              </a:rPr>
              <a:t> </a:t>
            </a:r>
            <a:r>
              <a:rPr dirty="0" sz="1550" spc="10">
                <a:latin typeface="Trebuchet MS"/>
                <a:cs typeface="Trebuchet MS"/>
              </a:rPr>
              <a:t>real</a:t>
            </a:r>
            <a:r>
              <a:rPr dirty="0" sz="1550" spc="60">
                <a:latin typeface="Trebuchet MS"/>
                <a:cs typeface="Trebuchet MS"/>
              </a:rPr>
              <a:t> </a:t>
            </a:r>
            <a:r>
              <a:rPr dirty="0" sz="1550" spc="10">
                <a:latin typeface="Trebuchet MS"/>
                <a:cs typeface="Trebuchet MS"/>
              </a:rPr>
              <a:t>opportunities</a:t>
            </a:r>
            <a:r>
              <a:rPr dirty="0" sz="1550" spc="45">
                <a:latin typeface="Trebuchet MS"/>
                <a:cs typeface="Trebuchet MS"/>
              </a:rPr>
              <a:t> </a:t>
            </a:r>
            <a:r>
              <a:rPr dirty="0" sz="1550" spc="10">
                <a:latin typeface="Trebuchet MS"/>
                <a:cs typeface="Trebuchet MS"/>
              </a:rPr>
              <a:t>don’t</a:t>
            </a:r>
            <a:r>
              <a:rPr dirty="0" sz="1550" spc="90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disappear</a:t>
            </a:r>
            <a:r>
              <a:rPr dirty="0" sz="1550" spc="75">
                <a:latin typeface="Trebuchet MS"/>
                <a:cs typeface="Trebuchet MS"/>
              </a:rPr>
              <a:t> </a:t>
            </a:r>
            <a:r>
              <a:rPr dirty="0" sz="1550" spc="10">
                <a:latin typeface="Trebuchet MS"/>
                <a:cs typeface="Trebuchet MS"/>
              </a:rPr>
              <a:t>overnight </a:t>
            </a:r>
            <a:r>
              <a:rPr dirty="0" sz="1550" spc="70">
                <a:latin typeface="Trebuchet MS"/>
                <a:cs typeface="Trebuchet MS"/>
              </a:rPr>
              <a:t>and</a:t>
            </a:r>
            <a:r>
              <a:rPr dirty="0" sz="1550" spc="60">
                <a:latin typeface="Trebuchet MS"/>
                <a:cs typeface="Trebuchet MS"/>
              </a:rPr>
              <a:t> </a:t>
            </a:r>
            <a:r>
              <a:rPr dirty="0" sz="1550" spc="-20">
                <a:latin typeface="Trebuchet MS"/>
                <a:cs typeface="Trebuchet MS"/>
              </a:rPr>
              <a:t>that </a:t>
            </a:r>
            <a:r>
              <a:rPr dirty="0" sz="1550" spc="55">
                <a:latin typeface="Trebuchet MS"/>
                <a:cs typeface="Trebuchet MS"/>
              </a:rPr>
              <a:t>pressure</a:t>
            </a:r>
            <a:r>
              <a:rPr dirty="0" sz="1550" spc="4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itself</a:t>
            </a:r>
            <a:r>
              <a:rPr dirty="0" sz="1550" spc="4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is</a:t>
            </a:r>
            <a:r>
              <a:rPr dirty="0" sz="1550" spc="3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a</a:t>
            </a:r>
            <a:r>
              <a:rPr dirty="0" sz="1550" spc="10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red</a:t>
            </a:r>
            <a:r>
              <a:rPr dirty="0" sz="1550" spc="50">
                <a:latin typeface="Trebuchet MS"/>
                <a:cs typeface="Trebuchet MS"/>
              </a:rPr>
              <a:t> </a:t>
            </a:r>
            <a:r>
              <a:rPr dirty="0" sz="1550" spc="-20">
                <a:latin typeface="Trebuchet MS"/>
                <a:cs typeface="Trebuchet MS"/>
              </a:rPr>
              <a:t>flag.</a:t>
            </a:r>
            <a:r>
              <a:rPr dirty="0" sz="1550" spc="35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This</a:t>
            </a:r>
            <a:r>
              <a:rPr dirty="0" sz="1550" spc="30">
                <a:latin typeface="Trebuchet MS"/>
                <a:cs typeface="Trebuchet MS"/>
              </a:rPr>
              <a:t> </a:t>
            </a:r>
            <a:r>
              <a:rPr dirty="0" sz="1550" spc="105">
                <a:latin typeface="Trebuchet MS"/>
                <a:cs typeface="Trebuchet MS"/>
              </a:rPr>
              <a:t>pre-</a:t>
            </a:r>
            <a:r>
              <a:rPr dirty="0" sz="1550">
                <a:latin typeface="Trebuchet MS"/>
                <a:cs typeface="Trebuchet MS"/>
              </a:rPr>
              <a:t>emptive</a:t>
            </a:r>
            <a:r>
              <a:rPr dirty="0" sz="1550" spc="4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reminder</a:t>
            </a:r>
            <a:r>
              <a:rPr dirty="0" sz="1550" spc="-20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breaks</a:t>
            </a:r>
            <a:r>
              <a:rPr dirty="0" sz="1550" spc="114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the</a:t>
            </a:r>
            <a:r>
              <a:rPr dirty="0" sz="1550" spc="40">
                <a:latin typeface="Trebuchet MS"/>
                <a:cs typeface="Trebuchet MS"/>
              </a:rPr>
              <a:t> </a:t>
            </a:r>
            <a:r>
              <a:rPr dirty="0" sz="1550" spc="45">
                <a:latin typeface="Trebuchet MS"/>
                <a:cs typeface="Trebuchet MS"/>
              </a:rPr>
              <a:t>anxious</a:t>
            </a:r>
            <a:r>
              <a:rPr dirty="0" sz="1550" spc="30">
                <a:latin typeface="Trebuchet MS"/>
                <a:cs typeface="Trebuchet MS"/>
              </a:rPr>
              <a:t> </a:t>
            </a:r>
            <a:r>
              <a:rPr dirty="0" sz="1550" spc="40">
                <a:latin typeface="Trebuchet MS"/>
                <a:cs typeface="Trebuchet MS"/>
              </a:rPr>
              <a:t>cycle </a:t>
            </a:r>
            <a:r>
              <a:rPr dirty="0" sz="1550">
                <a:latin typeface="Trebuchet MS"/>
                <a:cs typeface="Trebuchet MS"/>
              </a:rPr>
              <a:t>before</a:t>
            </a:r>
            <a:r>
              <a:rPr dirty="0" sz="1550" spc="6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the</a:t>
            </a:r>
            <a:r>
              <a:rPr dirty="0" sz="1550" spc="6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user</a:t>
            </a:r>
            <a:r>
              <a:rPr dirty="0" sz="1550" spc="85">
                <a:latin typeface="Trebuchet MS"/>
                <a:cs typeface="Trebuchet MS"/>
              </a:rPr>
              <a:t> </a:t>
            </a:r>
            <a:r>
              <a:rPr dirty="0" sz="1550" spc="60">
                <a:latin typeface="Trebuchet MS"/>
                <a:cs typeface="Trebuchet MS"/>
              </a:rPr>
              <a:t>makes</a:t>
            </a:r>
            <a:r>
              <a:rPr dirty="0" sz="1550" spc="5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a</a:t>
            </a:r>
            <a:r>
              <a:rPr dirty="0" sz="1550" spc="130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rushed</a:t>
            </a:r>
            <a:r>
              <a:rPr dirty="0" sz="1550" spc="7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decision.</a:t>
            </a:r>
            <a:endParaRPr sz="1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Suggested</a:t>
            </a:r>
            <a:r>
              <a:rPr dirty="0" spc="-95"/>
              <a:t> </a:t>
            </a:r>
            <a:r>
              <a:rPr dirty="0"/>
              <a:t>Nudges</a:t>
            </a:r>
            <a:r>
              <a:rPr dirty="0" spc="-65"/>
              <a:t> </a:t>
            </a:r>
            <a:r>
              <a:rPr dirty="0"/>
              <a:t>and</a:t>
            </a:r>
            <a:r>
              <a:rPr dirty="0" spc="-90"/>
              <a:t> </a:t>
            </a:r>
            <a:r>
              <a:rPr dirty="0"/>
              <a:t>Interventions:</a:t>
            </a:r>
            <a:r>
              <a:rPr dirty="0" spc="-75"/>
              <a:t> </a:t>
            </a:r>
            <a:r>
              <a:rPr dirty="0" spc="-10"/>
              <a:t>Reporting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9550" y="809053"/>
            <a:ext cx="8021320" cy="23749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110"/>
              </a:spcBef>
            </a:pPr>
            <a:r>
              <a:rPr dirty="0" sz="1550" b="1">
                <a:latin typeface="Trebuchet MS"/>
                <a:cs typeface="Trebuchet MS"/>
              </a:rPr>
              <a:t>Current Barrier:</a:t>
            </a:r>
            <a:r>
              <a:rPr dirty="0" sz="1550" spc="30" b="1">
                <a:latin typeface="Trebuchet MS"/>
                <a:cs typeface="Trebuchet MS"/>
              </a:rPr>
              <a:t>  </a:t>
            </a:r>
            <a:r>
              <a:rPr dirty="0" sz="1400">
                <a:latin typeface="Trebuchet MS"/>
                <a:cs typeface="Trebuchet MS"/>
              </a:rPr>
              <a:t>Multi-step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55">
                <a:latin typeface="Trebuchet MS"/>
                <a:cs typeface="Trebuchet MS"/>
              </a:rPr>
              <a:t>process</a:t>
            </a:r>
            <a:r>
              <a:rPr dirty="0" sz="1400" spc="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(find</a:t>
            </a:r>
            <a:r>
              <a:rPr dirty="0" sz="1400" spc="7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agency,</a:t>
            </a:r>
            <a:r>
              <a:rPr dirty="0" sz="1400" spc="25">
                <a:latin typeface="Trebuchet MS"/>
                <a:cs typeface="Trebuchet MS"/>
              </a:rPr>
              <a:t> </a:t>
            </a:r>
            <a:r>
              <a:rPr dirty="0" sz="1400" spc="-30">
                <a:latin typeface="Trebuchet MS"/>
                <a:cs typeface="Trebuchet MS"/>
              </a:rPr>
              <a:t>explain,</a:t>
            </a:r>
            <a:r>
              <a:rPr dirty="0" sz="1400" spc="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document,</a:t>
            </a:r>
            <a:r>
              <a:rPr dirty="0" sz="1400" spc="7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follow-up),</a:t>
            </a:r>
            <a:r>
              <a:rPr dirty="0" sz="1400" spc="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find</a:t>
            </a:r>
            <a:r>
              <a:rPr dirty="0" sz="1400" spc="35">
                <a:latin typeface="Trebuchet MS"/>
                <a:cs typeface="Trebuchet MS"/>
              </a:rPr>
              <a:t>  </a:t>
            </a:r>
            <a:r>
              <a:rPr dirty="0" sz="1400">
                <a:latin typeface="Trebuchet MS"/>
                <a:cs typeface="Trebuchet MS"/>
              </a:rPr>
              <a:t>where</a:t>
            </a:r>
            <a:r>
              <a:rPr dirty="0" sz="1400" spc="5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to </a:t>
            </a:r>
            <a:r>
              <a:rPr dirty="0" sz="1400" spc="-10">
                <a:latin typeface="Trebuchet MS"/>
                <a:cs typeface="Trebuchet MS"/>
              </a:rPr>
              <a:t>report"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550" b="1">
                <a:latin typeface="Trebuchet MS"/>
                <a:cs typeface="Trebuchet MS"/>
              </a:rPr>
              <a:t>Remove</a:t>
            </a:r>
            <a:r>
              <a:rPr dirty="0" sz="1550" spc="114" b="1">
                <a:latin typeface="Trebuchet MS"/>
                <a:cs typeface="Trebuchet MS"/>
              </a:rPr>
              <a:t> </a:t>
            </a:r>
            <a:r>
              <a:rPr dirty="0" sz="1550" spc="-10" b="1">
                <a:latin typeface="Trebuchet MS"/>
                <a:cs typeface="Trebuchet MS"/>
              </a:rPr>
              <a:t>Barrier:</a:t>
            </a:r>
            <a:r>
              <a:rPr dirty="0" sz="1550" spc="65" b="1">
                <a:latin typeface="Trebuchet MS"/>
                <a:cs typeface="Trebuchet MS"/>
              </a:rPr>
              <a:t> </a:t>
            </a:r>
            <a:r>
              <a:rPr dirty="0" sz="1550" spc="130">
                <a:latin typeface="Trebuchet MS"/>
                <a:cs typeface="Trebuchet MS"/>
              </a:rPr>
              <a:t>One-</a:t>
            </a:r>
            <a:r>
              <a:rPr dirty="0" sz="1550">
                <a:latin typeface="Trebuchet MS"/>
                <a:cs typeface="Trebuchet MS"/>
              </a:rPr>
              <a:t>tap</a:t>
            </a:r>
            <a:r>
              <a:rPr dirty="0" sz="1550" spc="114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bundle</a:t>
            </a:r>
            <a:endParaRPr sz="15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20"/>
              </a:spcBef>
            </a:pPr>
            <a:endParaRPr sz="1550">
              <a:latin typeface="Trebuchet MS"/>
              <a:cs typeface="Trebuchet MS"/>
            </a:endParaRPr>
          </a:p>
          <a:p>
            <a:pPr marL="12700" marR="144780">
              <a:lnSpc>
                <a:spcPct val="103000"/>
              </a:lnSpc>
            </a:pPr>
            <a:r>
              <a:rPr dirty="0" sz="1550" spc="55">
                <a:latin typeface="Trebuchet MS"/>
                <a:cs typeface="Trebuchet MS"/>
              </a:rPr>
              <a:t>This</a:t>
            </a:r>
            <a:r>
              <a:rPr dirty="0" sz="1550" spc="7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intervention</a:t>
            </a:r>
            <a:r>
              <a:rPr dirty="0" sz="1550" spc="90">
                <a:latin typeface="Trebuchet MS"/>
                <a:cs typeface="Trebuchet MS"/>
              </a:rPr>
              <a:t> </a:t>
            </a:r>
            <a:r>
              <a:rPr dirty="0" sz="1550" spc="100">
                <a:latin typeface="Trebuchet MS"/>
                <a:cs typeface="Trebuchet MS"/>
              </a:rPr>
              <a:t>adds</a:t>
            </a:r>
            <a:r>
              <a:rPr dirty="0" sz="1550" spc="7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a</a:t>
            </a:r>
            <a:r>
              <a:rPr dirty="0" sz="1550" spc="6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permanent</a:t>
            </a:r>
            <a:r>
              <a:rPr dirty="0" sz="1550" spc="12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“Report</a:t>
            </a:r>
            <a:r>
              <a:rPr dirty="0" sz="1550" spc="13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Scam”</a:t>
            </a:r>
            <a:r>
              <a:rPr dirty="0" sz="1550" spc="12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button</a:t>
            </a:r>
            <a:r>
              <a:rPr dirty="0" sz="1550" spc="90">
                <a:latin typeface="Trebuchet MS"/>
                <a:cs typeface="Trebuchet MS"/>
              </a:rPr>
              <a:t> </a:t>
            </a:r>
            <a:r>
              <a:rPr dirty="0" sz="1550" spc="100">
                <a:latin typeface="Trebuchet MS"/>
                <a:cs typeface="Trebuchet MS"/>
              </a:rPr>
              <a:t>so</a:t>
            </a:r>
            <a:r>
              <a:rPr dirty="0" sz="1550" spc="40">
                <a:latin typeface="Trebuchet MS"/>
                <a:cs typeface="Trebuchet MS"/>
              </a:rPr>
              <a:t> </a:t>
            </a:r>
            <a:r>
              <a:rPr dirty="0" sz="1550" spc="60">
                <a:latin typeface="Trebuchet MS"/>
                <a:cs typeface="Trebuchet MS"/>
              </a:rPr>
              <a:t>users</a:t>
            </a:r>
            <a:r>
              <a:rPr dirty="0" sz="1550" spc="75">
                <a:latin typeface="Trebuchet MS"/>
                <a:cs typeface="Trebuchet MS"/>
              </a:rPr>
              <a:t> </a:t>
            </a:r>
            <a:r>
              <a:rPr dirty="0" sz="1550" spc="80">
                <a:latin typeface="Trebuchet MS"/>
                <a:cs typeface="Trebuchet MS"/>
              </a:rPr>
              <a:t>can</a:t>
            </a:r>
            <a:r>
              <a:rPr dirty="0" sz="1550" spc="9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report </a:t>
            </a:r>
            <a:r>
              <a:rPr dirty="0" sz="1550">
                <a:latin typeface="Trebuchet MS"/>
                <a:cs typeface="Trebuchet MS"/>
              </a:rPr>
              <a:t>instantly</a:t>
            </a:r>
            <a:r>
              <a:rPr dirty="0" sz="1550" spc="8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instead</a:t>
            </a:r>
            <a:r>
              <a:rPr dirty="0" sz="1550" spc="9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of</a:t>
            </a:r>
            <a:r>
              <a:rPr dirty="0" sz="1550" spc="85">
                <a:latin typeface="Trebuchet MS"/>
                <a:cs typeface="Trebuchet MS"/>
              </a:rPr>
              <a:t> </a:t>
            </a:r>
            <a:r>
              <a:rPr dirty="0" sz="1550" spc="95">
                <a:latin typeface="Trebuchet MS"/>
                <a:cs typeface="Trebuchet MS"/>
              </a:rPr>
              <a:t>going </a:t>
            </a:r>
            <a:r>
              <a:rPr dirty="0" sz="1550" spc="50">
                <a:latin typeface="Trebuchet MS"/>
                <a:cs typeface="Trebuchet MS"/>
              </a:rPr>
              <a:t>through</a:t>
            </a:r>
            <a:r>
              <a:rPr dirty="0" sz="1550" spc="75">
                <a:latin typeface="Trebuchet MS"/>
                <a:cs typeface="Trebuchet MS"/>
              </a:rPr>
              <a:t> </a:t>
            </a:r>
            <a:r>
              <a:rPr dirty="0" sz="1550" spc="65">
                <a:latin typeface="Trebuchet MS"/>
                <a:cs typeface="Trebuchet MS"/>
              </a:rPr>
              <a:t>long</a:t>
            </a:r>
            <a:r>
              <a:rPr dirty="0" sz="1550" spc="9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multi-</a:t>
            </a:r>
            <a:r>
              <a:rPr dirty="0" sz="1550" spc="55">
                <a:latin typeface="Trebuchet MS"/>
                <a:cs typeface="Trebuchet MS"/>
              </a:rPr>
              <a:t>step</a:t>
            </a:r>
            <a:r>
              <a:rPr dirty="0" sz="1550" spc="9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forms.</a:t>
            </a:r>
            <a:r>
              <a:rPr dirty="0" sz="1550" spc="7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The</a:t>
            </a:r>
            <a:r>
              <a:rPr dirty="0" sz="1550" spc="8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platform</a:t>
            </a:r>
            <a:r>
              <a:rPr dirty="0" sz="1550" spc="80">
                <a:latin typeface="Trebuchet MS"/>
                <a:cs typeface="Trebuchet MS"/>
              </a:rPr>
              <a:t> </a:t>
            </a:r>
            <a:r>
              <a:rPr dirty="0" sz="1550" spc="40">
                <a:latin typeface="Trebuchet MS"/>
                <a:cs typeface="Trebuchet MS"/>
              </a:rPr>
              <a:t>bundles </a:t>
            </a:r>
            <a:r>
              <a:rPr dirty="0" sz="1550" spc="55">
                <a:latin typeface="Trebuchet MS"/>
                <a:cs typeface="Trebuchet MS"/>
              </a:rPr>
              <a:t>evidence</a:t>
            </a:r>
            <a:r>
              <a:rPr dirty="0" sz="1550" spc="10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automatically</a:t>
            </a:r>
            <a:r>
              <a:rPr dirty="0" sz="1550" spc="11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(chat,</a:t>
            </a:r>
            <a:r>
              <a:rPr dirty="0" sz="1550" spc="13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profile,</a:t>
            </a:r>
            <a:r>
              <a:rPr dirty="0" sz="1550" spc="13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timestamps),</a:t>
            </a:r>
            <a:r>
              <a:rPr dirty="0" sz="1550" spc="130">
                <a:latin typeface="Trebuchet MS"/>
                <a:cs typeface="Trebuchet MS"/>
              </a:rPr>
              <a:t> </a:t>
            </a:r>
            <a:r>
              <a:rPr dirty="0" sz="1550" spc="65">
                <a:latin typeface="Trebuchet MS"/>
                <a:cs typeface="Trebuchet MS"/>
              </a:rPr>
              <a:t>making</a:t>
            </a:r>
            <a:r>
              <a:rPr dirty="0" sz="1550" spc="12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reporting</a:t>
            </a:r>
            <a:r>
              <a:rPr dirty="0" sz="1550" spc="114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tedious.</a:t>
            </a:r>
            <a:r>
              <a:rPr dirty="0" sz="1550" spc="9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It</a:t>
            </a:r>
            <a:r>
              <a:rPr dirty="0" sz="1550" spc="55">
                <a:latin typeface="Trebuchet MS"/>
                <a:cs typeface="Trebuchet MS"/>
              </a:rPr>
              <a:t> </a:t>
            </a:r>
            <a:r>
              <a:rPr dirty="0" sz="1550" spc="-20">
                <a:latin typeface="Trebuchet MS"/>
                <a:cs typeface="Trebuchet MS"/>
              </a:rPr>
              <a:t>also </a:t>
            </a:r>
            <a:r>
              <a:rPr dirty="0" sz="1550" spc="90">
                <a:latin typeface="Trebuchet MS"/>
                <a:cs typeface="Trebuchet MS"/>
              </a:rPr>
              <a:t>shows</a:t>
            </a:r>
            <a:r>
              <a:rPr dirty="0" sz="1550" spc="35">
                <a:latin typeface="Trebuchet MS"/>
                <a:cs typeface="Trebuchet MS"/>
              </a:rPr>
              <a:t> </a:t>
            </a:r>
            <a:r>
              <a:rPr dirty="0" sz="1550" spc="45">
                <a:latin typeface="Trebuchet MS"/>
                <a:cs typeface="Trebuchet MS"/>
              </a:rPr>
              <a:t>immediate</a:t>
            </a:r>
            <a:r>
              <a:rPr dirty="0" sz="1550" spc="50">
                <a:latin typeface="Trebuchet MS"/>
                <a:cs typeface="Trebuchet MS"/>
              </a:rPr>
              <a:t> </a:t>
            </a:r>
            <a:r>
              <a:rPr dirty="0" sz="1550" spc="65">
                <a:latin typeface="Trebuchet MS"/>
                <a:cs typeface="Trebuchet MS"/>
              </a:rPr>
              <a:t>impact—</a:t>
            </a:r>
            <a:r>
              <a:rPr dirty="0" sz="1550">
                <a:latin typeface="Trebuchet MS"/>
                <a:cs typeface="Trebuchet MS"/>
              </a:rPr>
              <a:t>others</a:t>
            </a:r>
            <a:r>
              <a:rPr dirty="0" sz="1550" spc="40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get</a:t>
            </a:r>
            <a:r>
              <a:rPr dirty="0" sz="1550" spc="90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warned—</a:t>
            </a:r>
            <a:r>
              <a:rPr dirty="0" sz="1550" spc="60">
                <a:latin typeface="Trebuchet MS"/>
                <a:cs typeface="Trebuchet MS"/>
              </a:rPr>
              <a:t>reducing</a:t>
            </a:r>
            <a:r>
              <a:rPr dirty="0" sz="1550" spc="5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the</a:t>
            </a:r>
            <a:r>
              <a:rPr dirty="0" sz="1550" spc="50">
                <a:latin typeface="Trebuchet MS"/>
                <a:cs typeface="Trebuchet MS"/>
              </a:rPr>
              <a:t> </a:t>
            </a:r>
            <a:r>
              <a:rPr dirty="0" sz="1550" spc="60">
                <a:latin typeface="Trebuchet MS"/>
                <a:cs typeface="Trebuchet MS"/>
              </a:rPr>
              <a:t>psychological</a:t>
            </a:r>
            <a:r>
              <a:rPr dirty="0" sz="1550" spc="5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barrier</a:t>
            </a:r>
            <a:r>
              <a:rPr dirty="0" sz="1550" spc="-10">
                <a:latin typeface="Trebuchet MS"/>
                <a:cs typeface="Trebuchet MS"/>
              </a:rPr>
              <a:t> </a:t>
            </a:r>
            <a:r>
              <a:rPr dirty="0" sz="1550" spc="-25">
                <a:latin typeface="Trebuchet MS"/>
                <a:cs typeface="Trebuchet MS"/>
              </a:rPr>
              <a:t>to </a:t>
            </a:r>
            <a:r>
              <a:rPr dirty="0" sz="1550" spc="-10">
                <a:latin typeface="Trebuchet MS"/>
                <a:cs typeface="Trebuchet MS"/>
              </a:rPr>
              <a:t>reporting.</a:t>
            </a:r>
            <a:endParaRPr sz="1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Suggested</a:t>
            </a:r>
            <a:r>
              <a:rPr dirty="0" spc="-95"/>
              <a:t> </a:t>
            </a:r>
            <a:r>
              <a:rPr dirty="0"/>
              <a:t>Nudges</a:t>
            </a:r>
            <a:r>
              <a:rPr dirty="0" spc="-65"/>
              <a:t> </a:t>
            </a:r>
            <a:r>
              <a:rPr dirty="0"/>
              <a:t>and</a:t>
            </a:r>
            <a:r>
              <a:rPr dirty="0" spc="-90"/>
              <a:t> </a:t>
            </a:r>
            <a:r>
              <a:rPr dirty="0"/>
              <a:t>Interventions:</a:t>
            </a:r>
            <a:r>
              <a:rPr dirty="0" spc="-75"/>
              <a:t> </a:t>
            </a:r>
            <a:r>
              <a:rPr dirty="0" spc="-10"/>
              <a:t>Incentives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3209" y="1262697"/>
            <a:ext cx="7912100" cy="8826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just" marL="12700" marR="5080">
              <a:lnSpc>
                <a:spcPct val="99900"/>
              </a:lnSpc>
              <a:spcBef>
                <a:spcPts val="130"/>
              </a:spcBef>
            </a:pPr>
            <a:r>
              <a:rPr dirty="0" sz="1400" spc="-10">
                <a:latin typeface="Trebuchet MS"/>
                <a:cs typeface="Trebuchet MS"/>
              </a:rPr>
              <a:t>After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a</a:t>
            </a:r>
            <a:r>
              <a:rPr dirty="0" sz="1400" spc="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report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is</a:t>
            </a:r>
            <a:r>
              <a:rPr dirty="0" sz="1400" spc="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submitted,</a:t>
            </a:r>
            <a:r>
              <a:rPr dirty="0" sz="1400" spc="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the</a:t>
            </a:r>
            <a:r>
              <a:rPr dirty="0" sz="1400" spc="6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platform</a:t>
            </a:r>
            <a:r>
              <a:rPr dirty="0" sz="1400" spc="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displays</a:t>
            </a:r>
            <a:r>
              <a:rPr dirty="0" sz="1400" spc="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a</a:t>
            </a:r>
            <a:r>
              <a:rPr dirty="0" sz="1400" spc="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dashboard</a:t>
            </a:r>
            <a:r>
              <a:rPr dirty="0" sz="1400" spc="8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showing</a:t>
            </a:r>
            <a:r>
              <a:rPr dirty="0" sz="1400" spc="9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exactly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50">
                <a:latin typeface="Trebuchet MS"/>
                <a:cs typeface="Trebuchet MS"/>
              </a:rPr>
              <a:t>how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many</a:t>
            </a:r>
            <a:r>
              <a:rPr dirty="0" sz="1400" spc="6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people </a:t>
            </a:r>
            <a:r>
              <a:rPr dirty="0" sz="1400">
                <a:latin typeface="Trebuchet MS"/>
                <a:cs typeface="Trebuchet MS"/>
              </a:rPr>
              <a:t>were</a:t>
            </a:r>
            <a:r>
              <a:rPr dirty="0" sz="1400" spc="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protected</a:t>
            </a:r>
            <a:r>
              <a:rPr dirty="0" sz="1400" spc="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because</a:t>
            </a:r>
            <a:r>
              <a:rPr dirty="0" sz="1400" spc="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of the</a:t>
            </a:r>
            <a:r>
              <a:rPr dirty="0" sz="1400" spc="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user’s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action.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It</a:t>
            </a:r>
            <a:r>
              <a:rPr dirty="0" sz="1400" spc="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reframes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reporting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 spc="55">
                <a:latin typeface="Trebuchet MS"/>
                <a:cs typeface="Trebuchet MS"/>
              </a:rPr>
              <a:t>as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helping</a:t>
            </a:r>
            <a:r>
              <a:rPr dirty="0" sz="1400" spc="5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the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community,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not </a:t>
            </a:r>
            <a:r>
              <a:rPr dirty="0" sz="1400">
                <a:latin typeface="Trebuchet MS"/>
                <a:cs typeface="Trebuchet MS"/>
              </a:rPr>
              <a:t>trying</a:t>
            </a:r>
            <a:r>
              <a:rPr dirty="0" sz="1400" spc="10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(and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failing)</a:t>
            </a:r>
            <a:r>
              <a:rPr dirty="0" sz="1400" spc="7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to</a:t>
            </a:r>
            <a:r>
              <a:rPr dirty="0" sz="1400" spc="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recover</a:t>
            </a:r>
            <a:r>
              <a:rPr dirty="0" sz="1400" spc="7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money.</a:t>
            </a:r>
            <a:r>
              <a:rPr dirty="0" sz="1400" spc="1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Achievement</a:t>
            </a:r>
            <a:r>
              <a:rPr dirty="0" sz="1400" spc="90">
                <a:latin typeface="Trebuchet MS"/>
                <a:cs typeface="Trebuchet MS"/>
              </a:rPr>
              <a:t> </a:t>
            </a:r>
            <a:r>
              <a:rPr dirty="0" sz="1400" spc="65">
                <a:latin typeface="Trebuchet MS"/>
                <a:cs typeface="Trebuchet MS"/>
              </a:rPr>
              <a:t>badges</a:t>
            </a:r>
            <a:r>
              <a:rPr dirty="0" sz="1400" spc="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and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impact</a:t>
            </a:r>
            <a:r>
              <a:rPr dirty="0" sz="1400" spc="9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numbers</a:t>
            </a:r>
            <a:r>
              <a:rPr dirty="0" sz="1400" spc="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make</a:t>
            </a:r>
            <a:r>
              <a:rPr dirty="0" sz="1400" spc="8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users</a:t>
            </a:r>
            <a:r>
              <a:rPr dirty="0" sz="1400" spc="5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feel </a:t>
            </a:r>
            <a:r>
              <a:rPr dirty="0" sz="1400">
                <a:latin typeface="Trebuchet MS"/>
                <a:cs typeface="Trebuchet MS"/>
              </a:rPr>
              <a:t>effective</a:t>
            </a:r>
            <a:r>
              <a:rPr dirty="0" sz="1400" spc="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and</a:t>
            </a:r>
            <a:r>
              <a:rPr dirty="0" sz="1400" spc="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encourage</a:t>
            </a:r>
            <a:r>
              <a:rPr dirty="0" sz="1400" spc="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future</a:t>
            </a:r>
            <a:r>
              <a:rPr dirty="0" sz="1400" spc="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reporting.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Intervention</a:t>
            </a:r>
            <a:r>
              <a:rPr dirty="0" spc="-100"/>
              <a:t> </a:t>
            </a:r>
            <a:r>
              <a:rPr dirty="0"/>
              <a:t>Strategy</a:t>
            </a:r>
            <a:r>
              <a:rPr dirty="0" spc="-80"/>
              <a:t> </a:t>
            </a:r>
            <a:r>
              <a:rPr dirty="0" spc="-1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5617" y="816927"/>
            <a:ext cx="3794125" cy="344995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1664"/>
              </a:lnSpc>
              <a:spcBef>
                <a:spcPts val="125"/>
              </a:spcBef>
            </a:pPr>
            <a:r>
              <a:rPr dirty="0" sz="1400">
                <a:latin typeface="Trebuchet MS"/>
                <a:cs typeface="Trebuchet MS"/>
              </a:rPr>
              <a:t>WhatsApp/Telegram</a:t>
            </a:r>
            <a:r>
              <a:rPr dirty="0" sz="1400" spc="140">
                <a:latin typeface="Trebuchet MS"/>
                <a:cs typeface="Trebuchet MS"/>
              </a:rPr>
              <a:t> </a:t>
            </a:r>
            <a:r>
              <a:rPr dirty="0" sz="1400" spc="85">
                <a:latin typeface="Trebuchet MS"/>
                <a:cs typeface="Trebuchet MS"/>
              </a:rPr>
              <a:t>(End-</a:t>
            </a:r>
            <a:r>
              <a:rPr dirty="0" sz="1400" spc="70">
                <a:latin typeface="Trebuchet MS"/>
                <a:cs typeface="Trebuchet MS"/>
              </a:rPr>
              <a:t>to-End</a:t>
            </a:r>
            <a:r>
              <a:rPr dirty="0" sz="1400" spc="9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Encrypted)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64"/>
              </a:lnSpc>
            </a:pPr>
            <a:r>
              <a:rPr dirty="0" sz="1400">
                <a:latin typeface="Trebuchet MS"/>
                <a:cs typeface="Trebuchet MS"/>
              </a:rPr>
              <a:t>What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They</a:t>
            </a:r>
            <a:r>
              <a:rPr dirty="0" sz="1400" spc="75">
                <a:latin typeface="Trebuchet MS"/>
                <a:cs typeface="Trebuchet MS"/>
              </a:rPr>
              <a:t> </a:t>
            </a:r>
            <a:r>
              <a:rPr dirty="0" sz="1400" spc="125">
                <a:latin typeface="Trebuchet MS"/>
                <a:cs typeface="Trebuchet MS"/>
              </a:rPr>
              <a:t>CAN</a:t>
            </a:r>
            <a:r>
              <a:rPr dirty="0" sz="1400" spc="12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Do: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64"/>
              </a:lnSpc>
              <a:spcBef>
                <a:spcPts val="5"/>
              </a:spcBef>
            </a:pPr>
            <a:r>
              <a:rPr dirty="0" sz="1400" b="1">
                <a:latin typeface="Trebuchet MS"/>
                <a:cs typeface="Trebuchet MS"/>
              </a:rPr>
              <a:t>Metadata</a:t>
            </a:r>
            <a:r>
              <a:rPr dirty="0" sz="1400" spc="45" b="1">
                <a:latin typeface="Trebuchet MS"/>
                <a:cs typeface="Trebuchet MS"/>
              </a:rPr>
              <a:t> </a:t>
            </a:r>
            <a:r>
              <a:rPr dirty="0" sz="1400" spc="-10" b="1">
                <a:latin typeface="Trebuchet MS"/>
                <a:cs typeface="Trebuchet MS"/>
              </a:rPr>
              <a:t>analysis:</a:t>
            </a:r>
            <a:endParaRPr sz="1400">
              <a:latin typeface="Trebuchet MS"/>
              <a:cs typeface="Trebuchet MS"/>
            </a:endParaRPr>
          </a:p>
          <a:p>
            <a:pPr marL="298450" indent="-285750">
              <a:lnSpc>
                <a:spcPts val="1664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400" spc="90">
                <a:latin typeface="Trebuchet MS"/>
                <a:cs typeface="Trebuchet MS"/>
              </a:rPr>
              <a:t>Message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frequency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patterns</a:t>
            </a:r>
            <a:endParaRPr sz="1400">
              <a:latin typeface="Trebuchet MS"/>
              <a:cs typeface="Trebuchet MS"/>
            </a:endParaRPr>
          </a:p>
          <a:p>
            <a:pPr marL="298450" indent="-285750">
              <a:lnSpc>
                <a:spcPts val="1670"/>
              </a:lnSpc>
              <a:spcBef>
                <a:spcPts val="45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400">
                <a:latin typeface="Trebuchet MS"/>
                <a:cs typeface="Trebuchet MS"/>
              </a:rPr>
              <a:t>Number</a:t>
            </a:r>
            <a:r>
              <a:rPr dirty="0" sz="1400" spc="1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of</a:t>
            </a:r>
            <a:r>
              <a:rPr dirty="0" sz="1400" spc="9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simultaneous</a:t>
            </a:r>
            <a:r>
              <a:rPr dirty="0" sz="1400" spc="10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conversations</a:t>
            </a:r>
            <a:endParaRPr sz="1400">
              <a:latin typeface="Trebuchet MS"/>
              <a:cs typeface="Trebuchet MS"/>
            </a:endParaRPr>
          </a:p>
          <a:p>
            <a:pPr marL="298450" indent="-285750">
              <a:lnSpc>
                <a:spcPts val="1670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400">
                <a:latin typeface="Trebuchet MS"/>
                <a:cs typeface="Trebuchet MS"/>
              </a:rPr>
              <a:t>User</a:t>
            </a:r>
            <a:r>
              <a:rPr dirty="0" sz="1400" spc="8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reports</a:t>
            </a:r>
            <a:r>
              <a:rPr dirty="0" sz="1400" spc="7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against</a:t>
            </a:r>
            <a:r>
              <a:rPr dirty="0" sz="1400" spc="10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account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Arial"/>
              <a:buChar char="•"/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64"/>
              </a:lnSpc>
            </a:pPr>
            <a:r>
              <a:rPr dirty="0" sz="1400" spc="70" b="1">
                <a:latin typeface="Trebuchet MS"/>
                <a:cs typeface="Trebuchet MS"/>
              </a:rPr>
              <a:t>Opt-</a:t>
            </a:r>
            <a:r>
              <a:rPr dirty="0" sz="1400" b="1">
                <a:latin typeface="Trebuchet MS"/>
                <a:cs typeface="Trebuchet MS"/>
              </a:rPr>
              <a:t>in</a:t>
            </a:r>
            <a:r>
              <a:rPr dirty="0" sz="1400" spc="-75" b="1">
                <a:latin typeface="Trebuchet MS"/>
                <a:cs typeface="Trebuchet MS"/>
              </a:rPr>
              <a:t> </a:t>
            </a:r>
            <a:r>
              <a:rPr dirty="0" sz="1400" spc="-10" b="1">
                <a:latin typeface="Trebuchet MS"/>
                <a:cs typeface="Trebuchet MS"/>
              </a:rPr>
              <a:t>scanning:</a:t>
            </a:r>
            <a:endParaRPr sz="1400">
              <a:latin typeface="Trebuchet MS"/>
              <a:cs typeface="Trebuchet MS"/>
            </a:endParaRPr>
          </a:p>
          <a:p>
            <a:pPr marL="298450" indent="-285750">
              <a:lnSpc>
                <a:spcPts val="1664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400">
                <a:latin typeface="Trebuchet MS"/>
                <a:cs typeface="Trebuchet MS"/>
              </a:rPr>
              <a:t>User</a:t>
            </a:r>
            <a:r>
              <a:rPr dirty="0" sz="1400" spc="95">
                <a:latin typeface="Trebuchet MS"/>
                <a:cs typeface="Trebuchet MS"/>
              </a:rPr>
              <a:t> </a:t>
            </a:r>
            <a:r>
              <a:rPr dirty="0" sz="1400" spc="75">
                <a:latin typeface="Trebuchet MS"/>
                <a:cs typeface="Trebuchet MS"/>
              </a:rPr>
              <a:t>chooses</a:t>
            </a:r>
            <a:r>
              <a:rPr dirty="0" sz="1400" spc="8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"Enhanced</a:t>
            </a:r>
            <a:r>
              <a:rPr dirty="0" sz="1400" spc="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Protection</a:t>
            </a:r>
            <a:r>
              <a:rPr dirty="0" sz="1400" spc="110">
                <a:latin typeface="Trebuchet MS"/>
                <a:cs typeface="Trebuchet MS"/>
              </a:rPr>
              <a:t> </a:t>
            </a:r>
            <a:r>
              <a:rPr dirty="0" sz="1400" spc="50">
                <a:latin typeface="Trebuchet MS"/>
                <a:cs typeface="Trebuchet MS"/>
              </a:rPr>
              <a:t>Mode"</a:t>
            </a:r>
            <a:endParaRPr sz="1400">
              <a:latin typeface="Trebuchet MS"/>
              <a:cs typeface="Trebuchet MS"/>
            </a:endParaRPr>
          </a:p>
          <a:p>
            <a:pPr marL="298450" indent="-285750">
              <a:lnSpc>
                <a:spcPts val="1664"/>
              </a:lnSpc>
              <a:spcBef>
                <a:spcPts val="50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400">
                <a:latin typeface="Trebuchet MS"/>
                <a:cs typeface="Trebuchet MS"/>
              </a:rPr>
              <a:t>Allows</a:t>
            </a:r>
            <a:r>
              <a:rPr dirty="0" sz="1400" spc="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keyword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detection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for</a:t>
            </a:r>
            <a:r>
              <a:rPr dirty="0" sz="1400" spc="7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warnings</a:t>
            </a:r>
            <a:endParaRPr sz="1400">
              <a:latin typeface="Trebuchet MS"/>
              <a:cs typeface="Trebuchet MS"/>
            </a:endParaRPr>
          </a:p>
          <a:p>
            <a:pPr marL="298450" indent="-285750">
              <a:lnSpc>
                <a:spcPts val="1664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400">
                <a:latin typeface="Trebuchet MS"/>
                <a:cs typeface="Trebuchet MS"/>
              </a:rPr>
              <a:t>Privacy-preserving</a:t>
            </a:r>
            <a:r>
              <a:rPr dirty="0" sz="1400" spc="75">
                <a:latin typeface="Trebuchet MS"/>
                <a:cs typeface="Trebuchet MS"/>
              </a:rPr>
              <a:t>  </a:t>
            </a:r>
            <a:r>
              <a:rPr dirty="0" sz="1400" spc="90">
                <a:latin typeface="Trebuchet MS"/>
                <a:cs typeface="Trebuchet MS"/>
              </a:rPr>
              <a:t>(on-</a:t>
            </a:r>
            <a:r>
              <a:rPr dirty="0" sz="1400" spc="-10">
                <a:latin typeface="Trebuchet MS"/>
                <a:cs typeface="Trebuchet MS"/>
              </a:rPr>
              <a:t>device)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Arial"/>
              <a:buChar char="•"/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70"/>
              </a:lnSpc>
            </a:pPr>
            <a:r>
              <a:rPr dirty="0" sz="1400" b="1">
                <a:latin typeface="Trebuchet MS"/>
                <a:cs typeface="Trebuchet MS"/>
              </a:rPr>
              <a:t>Payment</a:t>
            </a:r>
            <a:r>
              <a:rPr dirty="0" sz="1400" spc="-55" b="1">
                <a:latin typeface="Trebuchet MS"/>
                <a:cs typeface="Trebuchet MS"/>
              </a:rPr>
              <a:t> </a:t>
            </a:r>
            <a:r>
              <a:rPr dirty="0" sz="1400" spc="-20" b="1">
                <a:latin typeface="Trebuchet MS"/>
                <a:cs typeface="Trebuchet MS"/>
              </a:rPr>
              <a:t>link</a:t>
            </a:r>
            <a:r>
              <a:rPr dirty="0" sz="1400" spc="-40" b="1">
                <a:latin typeface="Trebuchet MS"/>
                <a:cs typeface="Trebuchet MS"/>
              </a:rPr>
              <a:t> </a:t>
            </a:r>
            <a:r>
              <a:rPr dirty="0" sz="1400" spc="-10" b="1">
                <a:latin typeface="Trebuchet MS"/>
                <a:cs typeface="Trebuchet MS"/>
              </a:rPr>
              <a:t>interception:</a:t>
            </a:r>
            <a:endParaRPr sz="1400">
              <a:latin typeface="Trebuchet MS"/>
              <a:cs typeface="Trebuchet MS"/>
            </a:endParaRPr>
          </a:p>
          <a:p>
            <a:pPr marL="298450" indent="-285750">
              <a:lnSpc>
                <a:spcPts val="1670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400">
                <a:latin typeface="Trebuchet MS"/>
                <a:cs typeface="Trebuchet MS"/>
              </a:rPr>
              <a:t>Detect UPI</a:t>
            </a:r>
            <a:r>
              <a:rPr dirty="0" sz="1400" spc="9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links,</a:t>
            </a:r>
            <a:r>
              <a:rPr dirty="0" sz="1400" spc="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payment</a:t>
            </a:r>
            <a:r>
              <a:rPr dirty="0" sz="1400" spc="10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requests</a:t>
            </a:r>
            <a:endParaRPr sz="14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50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400" spc="55">
                <a:latin typeface="Trebuchet MS"/>
                <a:cs typeface="Trebuchet MS"/>
              </a:rPr>
              <a:t>Show</a:t>
            </a:r>
            <a:r>
              <a:rPr dirty="0" sz="1400" spc="9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warning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before</a:t>
            </a:r>
            <a:r>
              <a:rPr dirty="0" sz="1400" spc="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opening</a:t>
            </a:r>
            <a:r>
              <a:rPr dirty="0" sz="1400" spc="7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external</a:t>
            </a:r>
            <a:r>
              <a:rPr dirty="0" sz="1400" spc="9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link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Intervention</a:t>
            </a:r>
            <a:r>
              <a:rPr dirty="0" spc="-100"/>
              <a:t> </a:t>
            </a:r>
            <a:r>
              <a:rPr dirty="0"/>
              <a:t>Strategy</a:t>
            </a:r>
            <a:r>
              <a:rPr dirty="0" spc="-80"/>
              <a:t> </a:t>
            </a:r>
            <a:r>
              <a:rPr dirty="0" spc="-1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5617" y="816927"/>
            <a:ext cx="4845685" cy="32302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1664"/>
              </a:lnSpc>
              <a:spcBef>
                <a:spcPts val="125"/>
              </a:spcBef>
            </a:pPr>
            <a:r>
              <a:rPr dirty="0" sz="1400">
                <a:latin typeface="Trebuchet MS"/>
                <a:cs typeface="Trebuchet MS"/>
              </a:rPr>
              <a:t>LinkedIn</a:t>
            </a:r>
            <a:r>
              <a:rPr dirty="0" sz="1400" spc="114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(Professional</a:t>
            </a:r>
            <a:r>
              <a:rPr dirty="0" sz="1400" spc="15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Network)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64"/>
              </a:lnSpc>
            </a:pPr>
            <a:r>
              <a:rPr dirty="0" sz="1400">
                <a:latin typeface="Trebuchet MS"/>
                <a:cs typeface="Trebuchet MS"/>
              </a:rPr>
              <a:t>What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They</a:t>
            </a:r>
            <a:r>
              <a:rPr dirty="0" sz="1400" spc="75">
                <a:latin typeface="Trebuchet MS"/>
                <a:cs typeface="Trebuchet MS"/>
              </a:rPr>
              <a:t> </a:t>
            </a:r>
            <a:r>
              <a:rPr dirty="0" sz="1400" spc="125">
                <a:latin typeface="Trebuchet MS"/>
                <a:cs typeface="Trebuchet MS"/>
              </a:rPr>
              <a:t>CAN</a:t>
            </a:r>
            <a:r>
              <a:rPr dirty="0" sz="1400" spc="12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Do: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64"/>
              </a:lnSpc>
              <a:spcBef>
                <a:spcPts val="5"/>
              </a:spcBef>
            </a:pPr>
            <a:r>
              <a:rPr dirty="0" sz="1400" spc="-20" b="1">
                <a:latin typeface="Trebuchet MS"/>
                <a:cs typeface="Trebuchet MS"/>
              </a:rPr>
              <a:t>Profile</a:t>
            </a:r>
            <a:r>
              <a:rPr dirty="0" sz="1400" spc="-40" b="1">
                <a:latin typeface="Trebuchet MS"/>
                <a:cs typeface="Trebuchet MS"/>
              </a:rPr>
              <a:t> </a:t>
            </a:r>
            <a:r>
              <a:rPr dirty="0" sz="1400" spc="-10" b="1">
                <a:latin typeface="Trebuchet MS"/>
                <a:cs typeface="Trebuchet MS"/>
              </a:rPr>
              <a:t>verification:</a:t>
            </a:r>
            <a:endParaRPr sz="1400">
              <a:latin typeface="Trebuchet MS"/>
              <a:cs typeface="Trebuchet MS"/>
            </a:endParaRPr>
          </a:p>
          <a:p>
            <a:pPr marL="298450" indent="-285750">
              <a:lnSpc>
                <a:spcPts val="1664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400">
                <a:latin typeface="Trebuchet MS"/>
                <a:cs typeface="Trebuchet MS"/>
              </a:rPr>
              <a:t>Flag</a:t>
            </a:r>
            <a:r>
              <a:rPr dirty="0" sz="1400" spc="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unverified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companies</a:t>
            </a:r>
            <a:endParaRPr sz="1400">
              <a:latin typeface="Trebuchet MS"/>
              <a:cs typeface="Trebuchet MS"/>
            </a:endParaRPr>
          </a:p>
          <a:p>
            <a:pPr marL="298450" indent="-285750">
              <a:lnSpc>
                <a:spcPts val="1670"/>
              </a:lnSpc>
              <a:spcBef>
                <a:spcPts val="45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400" spc="55">
                <a:latin typeface="Trebuchet MS"/>
                <a:cs typeface="Trebuchet MS"/>
              </a:rPr>
              <a:t>Show</a:t>
            </a:r>
            <a:r>
              <a:rPr dirty="0" sz="1400" spc="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account</a:t>
            </a:r>
            <a:r>
              <a:rPr dirty="0" sz="1400" spc="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creation</a:t>
            </a:r>
            <a:r>
              <a:rPr dirty="0" sz="1400" spc="2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date</a:t>
            </a:r>
            <a:endParaRPr sz="1400">
              <a:latin typeface="Trebuchet MS"/>
              <a:cs typeface="Trebuchet MS"/>
            </a:endParaRPr>
          </a:p>
          <a:p>
            <a:pPr marL="298450" indent="-285750">
              <a:lnSpc>
                <a:spcPts val="1670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400">
                <a:latin typeface="Trebuchet MS"/>
                <a:cs typeface="Trebuchet MS"/>
              </a:rPr>
              <a:t>Display</a:t>
            </a:r>
            <a:r>
              <a:rPr dirty="0" sz="1400" spc="2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endorsement/connection</a:t>
            </a:r>
            <a:r>
              <a:rPr dirty="0" sz="1400" spc="13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authenticity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Arial"/>
              <a:buChar char="•"/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64"/>
              </a:lnSpc>
            </a:pPr>
            <a:r>
              <a:rPr dirty="0" sz="1400" b="1">
                <a:latin typeface="Trebuchet MS"/>
                <a:cs typeface="Trebuchet MS"/>
              </a:rPr>
              <a:t>Job</a:t>
            </a:r>
            <a:r>
              <a:rPr dirty="0" sz="1400" spc="45" b="1">
                <a:latin typeface="Trebuchet MS"/>
                <a:cs typeface="Trebuchet MS"/>
              </a:rPr>
              <a:t> </a:t>
            </a:r>
            <a:r>
              <a:rPr dirty="0" sz="1400" b="1">
                <a:latin typeface="Trebuchet MS"/>
                <a:cs typeface="Trebuchet MS"/>
              </a:rPr>
              <a:t>posting</a:t>
            </a:r>
            <a:r>
              <a:rPr dirty="0" sz="1400" spc="45" b="1">
                <a:latin typeface="Trebuchet MS"/>
                <a:cs typeface="Trebuchet MS"/>
              </a:rPr>
              <a:t> </a:t>
            </a:r>
            <a:r>
              <a:rPr dirty="0" sz="1400" spc="-10" b="1">
                <a:latin typeface="Trebuchet MS"/>
                <a:cs typeface="Trebuchet MS"/>
              </a:rPr>
              <a:t>validation:</a:t>
            </a:r>
            <a:endParaRPr sz="1400">
              <a:latin typeface="Trebuchet MS"/>
              <a:cs typeface="Trebuchet MS"/>
            </a:endParaRPr>
          </a:p>
          <a:p>
            <a:pPr marL="298450" indent="-285750">
              <a:lnSpc>
                <a:spcPts val="1664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400">
                <a:latin typeface="Trebuchet MS"/>
                <a:cs typeface="Trebuchet MS"/>
              </a:rPr>
              <a:t>Require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 spc="55">
                <a:latin typeface="Trebuchet MS"/>
                <a:cs typeface="Trebuchet MS"/>
              </a:rPr>
              <a:t>company</a:t>
            </a:r>
            <a:r>
              <a:rPr dirty="0" sz="1400" spc="2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verification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for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 spc="50">
                <a:latin typeface="Trebuchet MS"/>
                <a:cs typeface="Trebuchet MS"/>
              </a:rPr>
              <a:t>payment-</a:t>
            </a:r>
            <a:r>
              <a:rPr dirty="0" sz="1400">
                <a:latin typeface="Trebuchet MS"/>
                <a:cs typeface="Trebuchet MS"/>
              </a:rPr>
              <a:t>request</a:t>
            </a:r>
            <a:r>
              <a:rPr dirty="0" sz="1400" spc="3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jobs</a:t>
            </a:r>
            <a:endParaRPr sz="14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50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400">
                <a:latin typeface="Trebuchet MS"/>
                <a:cs typeface="Trebuchet MS"/>
              </a:rPr>
              <a:t>Flag</a:t>
            </a:r>
            <a:r>
              <a:rPr dirty="0" sz="1400" spc="8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unusual</a:t>
            </a:r>
            <a:r>
              <a:rPr dirty="0" sz="1400" spc="10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requirements</a:t>
            </a:r>
            <a:r>
              <a:rPr dirty="0" sz="1400" spc="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(upfront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payment)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Arial"/>
              <a:buChar char="•"/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64"/>
              </a:lnSpc>
            </a:pPr>
            <a:r>
              <a:rPr dirty="0" sz="1400" spc="50" b="1">
                <a:latin typeface="Trebuchet MS"/>
                <a:cs typeface="Trebuchet MS"/>
              </a:rPr>
              <a:t>In-</a:t>
            </a:r>
            <a:r>
              <a:rPr dirty="0" sz="1400" b="1">
                <a:latin typeface="Trebuchet MS"/>
                <a:cs typeface="Trebuchet MS"/>
              </a:rPr>
              <a:t>app</a:t>
            </a:r>
            <a:r>
              <a:rPr dirty="0" sz="1400" spc="-40" b="1">
                <a:latin typeface="Trebuchet MS"/>
                <a:cs typeface="Trebuchet MS"/>
              </a:rPr>
              <a:t> </a:t>
            </a:r>
            <a:r>
              <a:rPr dirty="0" sz="1400" spc="45" b="1">
                <a:latin typeface="Trebuchet MS"/>
                <a:cs typeface="Trebuchet MS"/>
              </a:rPr>
              <a:t>messaging</a:t>
            </a:r>
            <a:r>
              <a:rPr dirty="0" sz="1400" spc="-35" b="1">
                <a:latin typeface="Trebuchet MS"/>
                <a:cs typeface="Trebuchet MS"/>
              </a:rPr>
              <a:t> </a:t>
            </a:r>
            <a:r>
              <a:rPr dirty="0" sz="1400" spc="-10" b="1">
                <a:latin typeface="Trebuchet MS"/>
                <a:cs typeface="Trebuchet MS"/>
              </a:rPr>
              <a:t>warnings:</a:t>
            </a:r>
            <a:endParaRPr sz="1400">
              <a:latin typeface="Trebuchet MS"/>
              <a:cs typeface="Trebuchet MS"/>
            </a:endParaRPr>
          </a:p>
          <a:p>
            <a:pPr marL="298450" indent="-285750">
              <a:lnSpc>
                <a:spcPts val="1655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400">
                <a:latin typeface="Trebuchet MS"/>
                <a:cs typeface="Trebuchet MS"/>
              </a:rPr>
              <a:t>Detect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 spc="65">
                <a:latin typeface="Trebuchet MS"/>
                <a:cs typeface="Trebuchet MS"/>
              </a:rPr>
              <a:t>scam</a:t>
            </a:r>
            <a:r>
              <a:rPr dirty="0" sz="1400" spc="8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language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</a:t>
            </a:r>
            <a:r>
              <a:rPr dirty="0" sz="1400" spc="11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InMail</a:t>
            </a:r>
            <a:endParaRPr sz="1400">
              <a:latin typeface="Trebuchet MS"/>
              <a:cs typeface="Trebuchet MS"/>
            </a:endParaRPr>
          </a:p>
          <a:p>
            <a:pPr marL="298450" indent="-285750">
              <a:lnSpc>
                <a:spcPts val="1670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400">
                <a:latin typeface="Trebuchet MS"/>
                <a:cs typeface="Trebuchet MS"/>
              </a:rPr>
              <a:t>Warning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labels</a:t>
            </a:r>
            <a:r>
              <a:rPr dirty="0" sz="1400" spc="20">
                <a:latin typeface="Trebuchet MS"/>
                <a:cs typeface="Trebuchet MS"/>
              </a:rPr>
              <a:t> </a:t>
            </a:r>
            <a:r>
              <a:rPr dirty="0" sz="1400" spc="50">
                <a:latin typeface="Trebuchet MS"/>
                <a:cs typeface="Trebuchet MS"/>
              </a:rPr>
              <a:t>on</a:t>
            </a:r>
            <a:r>
              <a:rPr dirty="0" sz="1400" spc="40">
                <a:latin typeface="Trebuchet MS"/>
                <a:cs typeface="Trebuchet MS"/>
              </a:rPr>
              <a:t> </a:t>
            </a:r>
            <a:r>
              <a:rPr dirty="0" sz="1400" spc="75">
                <a:latin typeface="Trebuchet MS"/>
                <a:cs typeface="Trebuchet MS"/>
              </a:rPr>
              <a:t>messages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from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new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accounts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Limitations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03948" y="668019"/>
          <a:ext cx="6947534" cy="3503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/>
                <a:gridCol w="2286000"/>
                <a:gridCol w="2286000"/>
              </a:tblGrid>
              <a:tr h="3048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400" spc="-10" b="1">
                          <a:latin typeface="Trebuchet MS"/>
                          <a:cs typeface="Trebuchet MS"/>
                        </a:rPr>
                        <a:t>Limitation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400" spc="-10" b="1">
                          <a:latin typeface="Trebuchet MS"/>
                          <a:cs typeface="Trebuchet MS"/>
                        </a:rPr>
                        <a:t>Impact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400" spc="-10" b="1">
                          <a:latin typeface="Trebuchet MS"/>
                          <a:cs typeface="Trebuchet MS"/>
                        </a:rPr>
                        <a:t>Consequence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r>
                        <a:rPr dirty="0" sz="1400" spc="-260" b="1">
                          <a:latin typeface="Trebuchet MS"/>
                          <a:cs typeface="Trebuchet MS"/>
                        </a:rPr>
                        <a:t>1.</a:t>
                      </a:r>
                      <a:r>
                        <a:rPr dirty="0" sz="1400" spc="-5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b="1">
                          <a:latin typeface="Trebuchet MS"/>
                          <a:cs typeface="Trebuchet MS"/>
                        </a:rPr>
                        <a:t>Small</a:t>
                      </a:r>
                      <a:r>
                        <a:rPr dirty="0" sz="1400" spc="-4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15" b="1">
                          <a:latin typeface="Trebuchet MS"/>
                          <a:cs typeface="Trebuchet MS"/>
                        </a:rPr>
                        <a:t>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14859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r>
                        <a:rPr dirty="0" sz="1400" spc="65">
                          <a:latin typeface="Trebuchet MS"/>
                          <a:cs typeface="Trebuchet MS"/>
                        </a:rPr>
                        <a:t>N=96,</a:t>
                      </a:r>
                      <a:r>
                        <a:rPr dirty="0" sz="1400" spc="-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latin typeface="Trebuchet MS"/>
                          <a:cs typeface="Trebuchet MS"/>
                        </a:rPr>
                        <a:t>only</a:t>
                      </a:r>
                      <a:r>
                        <a:rPr dirty="0" sz="140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>
                          <a:latin typeface="Trebuchet MS"/>
                          <a:cs typeface="Trebuchet MS"/>
                        </a:rPr>
                        <a:t>few</a:t>
                      </a:r>
                      <a:r>
                        <a:rPr dirty="0" sz="140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>
                          <a:latin typeface="Trebuchet MS"/>
                          <a:cs typeface="Trebuchet MS"/>
                        </a:rPr>
                        <a:t>payers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14859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 marR="419734">
                        <a:lnSpc>
                          <a:spcPts val="1650"/>
                        </a:lnSpc>
                        <a:spcBef>
                          <a:spcPts val="405"/>
                        </a:spcBef>
                      </a:pPr>
                      <a:r>
                        <a:rPr dirty="0" sz="1400">
                          <a:latin typeface="Trebuchet MS"/>
                          <a:cs typeface="Trebuchet MS"/>
                        </a:rPr>
                        <a:t>Low </a:t>
                      </a:r>
                      <a:r>
                        <a:rPr dirty="0" sz="1400" spc="-10">
                          <a:latin typeface="Trebuchet MS"/>
                          <a:cs typeface="Trebuchet MS"/>
                        </a:rPr>
                        <a:t>statistical</a:t>
                      </a:r>
                      <a:r>
                        <a:rPr dirty="0" sz="140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>
                          <a:latin typeface="Trebuchet MS"/>
                          <a:cs typeface="Trebuchet MS"/>
                        </a:rPr>
                        <a:t>power, </a:t>
                      </a:r>
                      <a:r>
                        <a:rPr dirty="0" sz="1400">
                          <a:latin typeface="Trebuchet MS"/>
                          <a:cs typeface="Trebuchet MS"/>
                        </a:rPr>
                        <a:t>wide</a:t>
                      </a:r>
                      <a:r>
                        <a:rPr dirty="0" sz="140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75">
                          <a:latin typeface="Trebuchet MS"/>
                          <a:cs typeface="Trebuchet MS"/>
                        </a:rPr>
                        <a:t>CIs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400" spc="-70" b="1">
                          <a:latin typeface="Trebuchet MS"/>
                          <a:cs typeface="Trebuchet MS"/>
                        </a:rPr>
                        <a:t>2.</a:t>
                      </a:r>
                      <a:r>
                        <a:rPr dirty="0" sz="1400" spc="1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b="1">
                          <a:latin typeface="Trebuchet MS"/>
                          <a:cs typeface="Trebuchet MS"/>
                        </a:rPr>
                        <a:t>Convenience</a:t>
                      </a:r>
                      <a:r>
                        <a:rPr dirty="0" sz="1400" spc="-3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 b="1">
                          <a:latin typeface="Trebuchet MS"/>
                          <a:cs typeface="Trebuchet MS"/>
                        </a:rPr>
                        <a:t>Sample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14922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 marR="247015">
                        <a:lnSpc>
                          <a:spcPts val="1650"/>
                        </a:lnSpc>
                        <a:spcBef>
                          <a:spcPts val="415"/>
                        </a:spcBef>
                      </a:pPr>
                      <a:r>
                        <a:rPr dirty="0" sz="1400">
                          <a:latin typeface="Trebuchet MS"/>
                          <a:cs typeface="Trebuchet MS"/>
                        </a:rPr>
                        <a:t>IIIT</a:t>
                      </a:r>
                      <a:r>
                        <a:rPr dirty="0" sz="1400" spc="10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latin typeface="Trebuchet MS"/>
                          <a:cs typeface="Trebuchet MS"/>
                        </a:rPr>
                        <a:t>Hyderabad</a:t>
                      </a:r>
                      <a:r>
                        <a:rPr dirty="0" sz="140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>
                          <a:latin typeface="Trebuchet MS"/>
                          <a:cs typeface="Trebuchet MS"/>
                        </a:rPr>
                        <a:t>students </a:t>
                      </a:r>
                      <a:r>
                        <a:rPr dirty="0" sz="1400" spc="-20">
                          <a:latin typeface="Trebuchet MS"/>
                          <a:cs typeface="Trebuchet MS"/>
                        </a:rPr>
                        <a:t>only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400">
                          <a:latin typeface="Trebuchet MS"/>
                          <a:cs typeface="Trebuchet MS"/>
                        </a:rPr>
                        <a:t>Limited</a:t>
                      </a:r>
                      <a:r>
                        <a:rPr dirty="0" sz="1400" spc="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>
                          <a:latin typeface="Trebuchet MS"/>
                          <a:cs typeface="Trebuchet MS"/>
                        </a:rPr>
                        <a:t>generalizability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14922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dirty="0" sz="1400" spc="-75" b="1">
                          <a:latin typeface="Trebuchet MS"/>
                          <a:cs typeface="Trebuchet MS"/>
                        </a:rPr>
                        <a:t>3.</a:t>
                      </a:r>
                      <a:r>
                        <a:rPr dirty="0" sz="1400" spc="3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b="1">
                          <a:latin typeface="Trebuchet MS"/>
                          <a:cs typeface="Trebuchet MS"/>
                        </a:rPr>
                        <a:t>Self-Selection</a:t>
                      </a:r>
                      <a:r>
                        <a:rPr dirty="0" sz="1400" spc="8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20" b="1">
                          <a:latin typeface="Trebuchet MS"/>
                          <a:cs typeface="Trebuchet MS"/>
                        </a:rPr>
                        <a:t>Bias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15049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dirty="0" sz="1400" spc="65">
                          <a:latin typeface="Trebuchet MS"/>
                          <a:cs typeface="Trebuchet MS"/>
                        </a:rPr>
                        <a:t>5.2% </a:t>
                      </a:r>
                      <a:r>
                        <a:rPr dirty="0" sz="1400">
                          <a:latin typeface="Trebuchet MS"/>
                          <a:cs typeface="Trebuchet MS"/>
                        </a:rPr>
                        <a:t>refused</a:t>
                      </a:r>
                      <a:r>
                        <a:rPr dirty="0" sz="140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>
                          <a:latin typeface="Trebuchet MS"/>
                          <a:cs typeface="Trebuchet MS"/>
                        </a:rPr>
                        <a:t>consent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15049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 marR="287655">
                        <a:lnSpc>
                          <a:spcPts val="1650"/>
                        </a:lnSpc>
                        <a:spcBef>
                          <a:spcPts val="420"/>
                        </a:spcBef>
                      </a:pPr>
                      <a:r>
                        <a:rPr dirty="0" sz="1400" spc="70">
                          <a:latin typeface="Trebuchet MS"/>
                          <a:cs typeface="Trebuchet MS"/>
                        </a:rPr>
                        <a:t>Missing</a:t>
                      </a:r>
                      <a:r>
                        <a:rPr dirty="0" sz="1400" spc="2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latin typeface="Trebuchet MS"/>
                          <a:cs typeface="Trebuchet MS"/>
                        </a:rPr>
                        <a:t>worst-</a:t>
                      </a:r>
                      <a:r>
                        <a:rPr dirty="0" sz="1400" spc="-10">
                          <a:latin typeface="Trebuchet MS"/>
                          <a:cs typeface="Trebuchet MS"/>
                        </a:rPr>
                        <a:t>affected </a:t>
                      </a:r>
                      <a:r>
                        <a:rPr dirty="0" sz="1400" spc="45">
                          <a:latin typeface="Trebuchet MS"/>
                          <a:cs typeface="Trebuchet MS"/>
                        </a:rPr>
                        <a:t>victims?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dirty="0" sz="1400" spc="-10" b="1">
                          <a:latin typeface="Trebuchet MS"/>
                          <a:cs typeface="Trebuchet MS"/>
                        </a:rPr>
                        <a:t>4.</a:t>
                      </a:r>
                      <a:r>
                        <a:rPr dirty="0" sz="1400" spc="11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b="1">
                          <a:latin typeface="Trebuchet MS"/>
                          <a:cs typeface="Trebuchet MS"/>
                        </a:rPr>
                        <a:t>Self-</a:t>
                      </a:r>
                      <a:r>
                        <a:rPr dirty="0" sz="1400" spc="-10" b="1">
                          <a:latin typeface="Trebuchet MS"/>
                          <a:cs typeface="Trebuchet MS"/>
                        </a:rPr>
                        <a:t>Report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15113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 marR="749300">
                        <a:lnSpc>
                          <a:spcPts val="1650"/>
                        </a:lnSpc>
                        <a:spcBef>
                          <a:spcPts val="430"/>
                        </a:spcBef>
                      </a:pPr>
                      <a:r>
                        <a:rPr dirty="0" sz="1400">
                          <a:latin typeface="Trebuchet MS"/>
                          <a:cs typeface="Trebuchet MS"/>
                        </a:rPr>
                        <a:t>Recall</a:t>
                      </a:r>
                      <a:r>
                        <a:rPr dirty="0" sz="1400" spc="-8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latin typeface="Trebuchet MS"/>
                          <a:cs typeface="Trebuchet MS"/>
                        </a:rPr>
                        <a:t>bias,</a:t>
                      </a:r>
                      <a:r>
                        <a:rPr dirty="0" sz="1400" spc="-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>
                          <a:latin typeface="Trebuchet MS"/>
                          <a:cs typeface="Trebuchet MS"/>
                        </a:rPr>
                        <a:t>social desirability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 marR="316865">
                        <a:lnSpc>
                          <a:spcPts val="1650"/>
                        </a:lnSpc>
                        <a:spcBef>
                          <a:spcPts val="430"/>
                        </a:spcBef>
                      </a:pPr>
                      <a:r>
                        <a:rPr dirty="0" sz="1400">
                          <a:latin typeface="Trebuchet MS"/>
                          <a:cs typeface="Trebuchet MS"/>
                        </a:rPr>
                        <a:t>Payment</a:t>
                      </a:r>
                      <a:r>
                        <a:rPr dirty="0" sz="1400" spc="9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latin typeface="Trebuchet MS"/>
                          <a:cs typeface="Trebuchet MS"/>
                        </a:rPr>
                        <a:t>amounts</a:t>
                      </a:r>
                      <a:r>
                        <a:rPr dirty="0" sz="1400" spc="18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25">
                          <a:latin typeface="Trebuchet MS"/>
                          <a:cs typeface="Trebuchet MS"/>
                        </a:rPr>
                        <a:t>may </a:t>
                      </a:r>
                      <a:r>
                        <a:rPr dirty="0" sz="1400">
                          <a:latin typeface="Trebuchet MS"/>
                          <a:cs typeface="Trebuchet MS"/>
                        </a:rPr>
                        <a:t>be</a:t>
                      </a:r>
                      <a:r>
                        <a:rPr dirty="0" sz="1400" spc="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>
                          <a:latin typeface="Trebuchet MS"/>
                          <a:cs typeface="Trebuchet MS"/>
                        </a:rPr>
                        <a:t>inaccurate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400" spc="-20" b="1">
                          <a:latin typeface="Trebuchet MS"/>
                          <a:cs typeface="Trebuchet MS"/>
                        </a:rPr>
                        <a:t>5.</a:t>
                      </a:r>
                      <a:r>
                        <a:rPr dirty="0" sz="1400" spc="-8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85" b="1">
                          <a:latin typeface="Trebuchet MS"/>
                          <a:cs typeface="Trebuchet MS"/>
                        </a:rPr>
                        <a:t>Cross-</a:t>
                      </a:r>
                      <a:r>
                        <a:rPr dirty="0" sz="1400" spc="-10" b="1">
                          <a:latin typeface="Trebuchet MS"/>
                          <a:cs typeface="Trebuchet MS"/>
                        </a:rPr>
                        <a:t>Sectional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400">
                          <a:latin typeface="Trebuchet MS"/>
                          <a:cs typeface="Trebuchet MS"/>
                        </a:rPr>
                        <a:t>Single</a:t>
                      </a:r>
                      <a:r>
                        <a:rPr dirty="0" sz="140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latin typeface="Trebuchet MS"/>
                          <a:cs typeface="Trebuchet MS"/>
                        </a:rPr>
                        <a:t>time</a:t>
                      </a:r>
                      <a:r>
                        <a:rPr dirty="0" sz="1400" spc="10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20">
                          <a:latin typeface="Trebuchet MS"/>
                          <a:cs typeface="Trebuchet MS"/>
                        </a:rPr>
                        <a:t>point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400">
                          <a:latin typeface="Trebuchet MS"/>
                          <a:cs typeface="Trebuchet MS"/>
                        </a:rPr>
                        <a:t>Cannot</a:t>
                      </a:r>
                      <a:r>
                        <a:rPr dirty="0" sz="1400" spc="8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>
                          <a:latin typeface="Trebuchet MS"/>
                          <a:cs typeface="Trebuchet MS"/>
                        </a:rPr>
                        <a:t>infer</a:t>
                      </a:r>
                      <a:r>
                        <a:rPr dirty="0" sz="1400" spc="7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>
                          <a:latin typeface="Trebuchet MS"/>
                          <a:cs typeface="Trebuchet MS"/>
                        </a:rPr>
                        <a:t>causality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dirty="0" sz="1400" spc="-30" b="1">
                          <a:latin typeface="Trebuchet MS"/>
                          <a:cs typeface="Trebuchet MS"/>
                        </a:rPr>
                        <a:t>6. </a:t>
                      </a:r>
                      <a:r>
                        <a:rPr dirty="0" sz="1400" spc="-20" b="1">
                          <a:latin typeface="Trebuchet MS"/>
                          <a:cs typeface="Trebuchet MS"/>
                        </a:rPr>
                        <a:t>Perfect</a:t>
                      </a:r>
                      <a:r>
                        <a:rPr dirty="0" sz="1400" spc="-8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 b="1">
                          <a:latin typeface="Trebuchet MS"/>
                          <a:cs typeface="Trebuchet MS"/>
                        </a:rPr>
                        <a:t>Separation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15303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dirty="0" sz="1400" spc="10">
                          <a:latin typeface="Trebuchet MS"/>
                          <a:cs typeface="Trebuchet MS"/>
                        </a:rPr>
                        <a:t>Logistic</a:t>
                      </a:r>
                      <a:r>
                        <a:rPr dirty="0" sz="1400" spc="2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10">
                          <a:latin typeface="Trebuchet MS"/>
                          <a:cs typeface="Trebuchet MS"/>
                        </a:rPr>
                        <a:t>regression</a:t>
                      </a:r>
                      <a:r>
                        <a:rPr dirty="0" sz="1400" spc="9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>
                          <a:latin typeface="Trebuchet MS"/>
                          <a:cs typeface="Trebuchet MS"/>
                        </a:rPr>
                        <a:t>failed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15303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 marR="848360">
                        <a:lnSpc>
                          <a:spcPts val="1650"/>
                        </a:lnSpc>
                        <a:spcBef>
                          <a:spcPts val="440"/>
                        </a:spcBef>
                      </a:pPr>
                      <a:r>
                        <a:rPr dirty="0" sz="1400" spc="50">
                          <a:latin typeface="Trebuchet MS"/>
                          <a:cs typeface="Trebuchet MS"/>
                        </a:rPr>
                        <a:t>Had</a:t>
                      </a:r>
                      <a:r>
                        <a:rPr dirty="0" sz="140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dirty="0" sz="1400" spc="-7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65">
                          <a:latin typeface="Trebuchet MS"/>
                          <a:cs typeface="Trebuchet MS"/>
                        </a:rPr>
                        <a:t>use</a:t>
                      </a:r>
                      <a:r>
                        <a:rPr dirty="0" sz="1400" spc="-1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70">
                          <a:latin typeface="Trebuchet MS"/>
                          <a:cs typeface="Trebuchet MS"/>
                        </a:rPr>
                        <a:t>non-</a:t>
                      </a:r>
                      <a:r>
                        <a:rPr dirty="0" sz="1400">
                          <a:latin typeface="Trebuchet MS"/>
                          <a:cs typeface="Trebuchet MS"/>
                        </a:rPr>
                        <a:t>parametric</a:t>
                      </a:r>
                      <a:r>
                        <a:rPr dirty="0" sz="1400" spc="-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20">
                          <a:latin typeface="Trebuchet MS"/>
                          <a:cs typeface="Trebuchet MS"/>
                        </a:rPr>
                        <a:t>tests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 spc="-95" b="1">
                          <a:latin typeface="Trebuchet MS"/>
                          <a:cs typeface="Trebuchet MS"/>
                        </a:rPr>
                        <a:t>7.</a:t>
                      </a:r>
                      <a:r>
                        <a:rPr dirty="0" sz="1400" spc="4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b="1">
                          <a:latin typeface="Trebuchet MS"/>
                          <a:cs typeface="Trebuchet MS"/>
                        </a:rPr>
                        <a:t>NLP</a:t>
                      </a:r>
                      <a:r>
                        <a:rPr dirty="0" sz="1400" spc="-4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10" b="1">
                          <a:latin typeface="Trebuchet MS"/>
                          <a:cs typeface="Trebuchet MS"/>
                        </a:rPr>
                        <a:t>Sample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699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>
                          <a:latin typeface="Trebuchet MS"/>
                          <a:cs typeface="Trebuchet MS"/>
                        </a:rPr>
                        <a:t>Only</a:t>
                      </a:r>
                      <a:r>
                        <a:rPr dirty="0" sz="140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300">
                          <a:latin typeface="Trebuchet MS"/>
                          <a:cs typeface="Trebuchet MS"/>
                        </a:rPr>
                        <a:t>11</a:t>
                      </a:r>
                      <a:r>
                        <a:rPr dirty="0" sz="140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35">
                          <a:latin typeface="Trebuchet MS"/>
                          <a:cs typeface="Trebuchet MS"/>
                        </a:rPr>
                        <a:t>text</a:t>
                      </a:r>
                      <a:r>
                        <a:rPr dirty="0" sz="1400" spc="-7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45">
                          <a:latin typeface="Trebuchet MS"/>
                          <a:cs typeface="Trebuchet MS"/>
                        </a:rPr>
                        <a:t>responses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699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400">
                          <a:latin typeface="Trebuchet MS"/>
                          <a:cs typeface="Trebuchet MS"/>
                        </a:rPr>
                        <a:t>Exploratory</a:t>
                      </a:r>
                      <a:r>
                        <a:rPr dirty="0" sz="1400" spc="9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latin typeface="Trebuchet MS"/>
                          <a:cs typeface="Trebuchet MS"/>
                        </a:rPr>
                        <a:t>findings</a:t>
                      </a:r>
                      <a:r>
                        <a:rPr dirty="0" sz="1400" spc="8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20">
                          <a:latin typeface="Trebuchet MS"/>
                          <a:cs typeface="Trebuchet MS"/>
                        </a:rPr>
                        <a:t>only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4699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Other</a:t>
            </a:r>
            <a:r>
              <a:rPr dirty="0" spc="-55"/>
              <a:t> </a:t>
            </a:r>
            <a:r>
              <a:rPr dirty="0" spc="-10"/>
              <a:t>Limitations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0" y="1220724"/>
          <a:ext cx="9220200" cy="2376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0"/>
                <a:gridCol w="3048000"/>
                <a:gridCol w="3048000"/>
              </a:tblGrid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Issue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Problem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Can</a:t>
                      </a:r>
                      <a:r>
                        <a:rPr dirty="0" sz="14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We</a:t>
                      </a:r>
                      <a:r>
                        <a:rPr dirty="0" sz="1400" spc="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Conclude?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Cross-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sectional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 design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4922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 marR="77470">
                        <a:lnSpc>
                          <a:spcPct val="102899"/>
                        </a:lnSpc>
                        <a:spcBef>
                          <a:spcPts val="285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All</a:t>
                      </a:r>
                      <a:r>
                        <a:rPr dirty="0" sz="14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variables</a:t>
                      </a:r>
                      <a:r>
                        <a:rPr dirty="0" sz="14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measured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at</a:t>
                      </a:r>
                      <a:r>
                        <a:rPr dirty="0" sz="14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same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time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(retrospectively)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Cannot</a:t>
                      </a:r>
                      <a:r>
                        <a:rPr dirty="0" sz="14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prove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X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caused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4922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Reverse</a:t>
                      </a:r>
                      <a:r>
                        <a:rPr dirty="0" sz="14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causality</a:t>
                      </a:r>
                      <a:r>
                        <a:rPr dirty="0" sz="1400" spc="-9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possible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5049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Did</a:t>
                      </a:r>
                      <a:r>
                        <a:rPr dirty="0" sz="14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fear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→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payment,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1400" spc="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payment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39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→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remembered</a:t>
                      </a:r>
                      <a:r>
                        <a:rPr dirty="0" sz="1400" spc="-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fear?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Direction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unclear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5049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No</a:t>
                      </a:r>
                      <a:r>
                        <a:rPr dirty="0" sz="14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experimental</a:t>
                      </a:r>
                      <a:r>
                        <a:rPr dirty="0" sz="14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manipulation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5113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 marR="230504">
                        <a:lnSpc>
                          <a:spcPct val="102899"/>
                        </a:lnSpc>
                        <a:spcBef>
                          <a:spcPts val="30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Cannot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isolate</a:t>
                      </a:r>
                      <a:r>
                        <a:rPr dirty="0" sz="14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causal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effect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400" spc="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any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single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variable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Correlational</a:t>
                      </a:r>
                      <a:r>
                        <a:rPr dirty="0" sz="14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only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5113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Recall</a:t>
                      </a:r>
                      <a:r>
                        <a:rPr dirty="0" sz="14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 b="1">
                          <a:latin typeface="Arial"/>
                          <a:cs typeface="Arial"/>
                        </a:rPr>
                        <a:t>bias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5240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 marR="297180">
                        <a:lnSpc>
                          <a:spcPct val="103000"/>
                        </a:lnSpc>
                        <a:spcBef>
                          <a:spcPts val="305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Victims</a:t>
                      </a:r>
                      <a:r>
                        <a:rPr dirty="0" sz="14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report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emotions/decisions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after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4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fact</a:t>
                      </a:r>
                      <a:r>
                        <a:rPr dirty="0" sz="1400" spc="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(may</a:t>
                      </a:r>
                      <a:r>
                        <a:rPr dirty="0" sz="14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reconstruct)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685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Memory</a:t>
                      </a:r>
                      <a:r>
                        <a:rPr dirty="0" sz="14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distortion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52400">
                    <a:lnL w="12700">
                      <a:solidFill>
                        <a:srgbClr val="F3F3F3"/>
                      </a:solidFill>
                      <a:prstDash val="solid"/>
                    </a:lnL>
                    <a:lnR w="12700">
                      <a:solidFill>
                        <a:srgbClr val="F3F3F3"/>
                      </a:solidFill>
                      <a:prstDash val="solid"/>
                    </a:lnR>
                    <a:lnT w="12700">
                      <a:solidFill>
                        <a:srgbClr val="F3F3F3"/>
                      </a:solidFill>
                      <a:prstDash val="solid"/>
                    </a:lnT>
                    <a:lnB w="12700">
                      <a:solidFill>
                        <a:srgbClr val="F3F3F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4145" y="727011"/>
            <a:ext cx="7757795" cy="387921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11454" indent="-198755">
              <a:lnSpc>
                <a:spcPct val="100000"/>
              </a:lnSpc>
              <a:spcBef>
                <a:spcPts val="125"/>
              </a:spcBef>
              <a:buFont typeface="Arial"/>
              <a:buAutoNum type="arabicPeriod"/>
              <a:tabLst>
                <a:tab pos="211454" algn="l"/>
              </a:tabLst>
            </a:pPr>
            <a:r>
              <a:rPr dirty="0" sz="1400">
                <a:latin typeface="Arial"/>
                <a:cs typeface="Arial"/>
              </a:rPr>
              <a:t>Prospect</a:t>
            </a:r>
            <a:r>
              <a:rPr dirty="0" sz="1400" spc="-9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Theory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64"/>
              </a:lnSpc>
              <a:spcBef>
                <a:spcPts val="50"/>
              </a:spcBef>
            </a:pPr>
            <a:r>
              <a:rPr dirty="0" sz="1400">
                <a:latin typeface="Arial"/>
                <a:cs typeface="Arial"/>
              </a:rPr>
              <a:t>Validates in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real-</a:t>
            </a:r>
            <a:r>
              <a:rPr dirty="0" sz="1400">
                <a:latin typeface="Arial"/>
                <a:cs typeface="Arial"/>
              </a:rPr>
              <a:t>world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fraud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with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extreme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amplification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(OR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=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273-∞);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loss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aversion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stronger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in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55"/>
              </a:lnSpc>
            </a:pPr>
            <a:r>
              <a:rPr dirty="0" sz="1400">
                <a:latin typeface="Arial"/>
                <a:cs typeface="Arial"/>
              </a:rPr>
              <a:t>social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contexts.</a:t>
            </a:r>
            <a:endParaRPr sz="1400">
              <a:latin typeface="Arial"/>
              <a:cs typeface="Arial"/>
            </a:endParaRPr>
          </a:p>
          <a:p>
            <a:pPr marL="211454" indent="-198755">
              <a:lnSpc>
                <a:spcPts val="1664"/>
              </a:lnSpc>
              <a:buAutoNum type="arabicPeriod" startAt="2"/>
              <a:tabLst>
                <a:tab pos="211454" algn="l"/>
              </a:tabLst>
            </a:pPr>
            <a:r>
              <a:rPr dirty="0" sz="1400">
                <a:latin typeface="Arial"/>
                <a:cs typeface="Arial"/>
              </a:rPr>
              <a:t>Sunk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Cost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Fallacy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64"/>
              </a:lnSpc>
              <a:spcBef>
                <a:spcPts val="45"/>
              </a:spcBef>
            </a:pPr>
            <a:r>
              <a:rPr dirty="0" sz="1400">
                <a:latin typeface="Arial"/>
                <a:cs typeface="Arial"/>
              </a:rPr>
              <a:t>Extends</a:t>
            </a:r>
            <a:r>
              <a:rPr dirty="0" sz="1400" spc="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online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scams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(OR=3.21);</a:t>
            </a:r>
            <a:r>
              <a:rPr dirty="0" sz="1400" spc="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discovers</a:t>
            </a:r>
            <a:r>
              <a:rPr dirty="0" sz="1400" spc="1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threshold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activation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at</a:t>
            </a:r>
            <a:r>
              <a:rPr dirty="0" sz="1400" spc="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score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≥3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(categorical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trigger,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64"/>
              </a:lnSpc>
            </a:pPr>
            <a:r>
              <a:rPr dirty="0" sz="1400">
                <a:latin typeface="Arial"/>
                <a:cs typeface="Arial"/>
              </a:rPr>
              <a:t>not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gradual).</a:t>
            </a:r>
            <a:endParaRPr sz="1400">
              <a:latin typeface="Arial"/>
              <a:cs typeface="Arial"/>
            </a:endParaRPr>
          </a:p>
          <a:p>
            <a:pPr marL="164465" indent="-160655">
              <a:lnSpc>
                <a:spcPts val="1670"/>
              </a:lnSpc>
              <a:spcBef>
                <a:spcPts val="50"/>
              </a:spcBef>
              <a:buAutoNum type="arabicPeriod" startAt="3"/>
              <a:tabLst>
                <a:tab pos="164465" algn="l"/>
              </a:tabLst>
            </a:pPr>
            <a:r>
              <a:rPr dirty="0" sz="1400">
                <a:latin typeface="Arial"/>
                <a:cs typeface="Arial"/>
              </a:rPr>
              <a:t>Social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Proof</a:t>
            </a:r>
            <a:endParaRPr sz="1400">
              <a:latin typeface="Arial"/>
              <a:cs typeface="Arial"/>
            </a:endParaRPr>
          </a:p>
          <a:p>
            <a:pPr marL="12700" marR="381000">
              <a:lnSpc>
                <a:spcPts val="1650"/>
              </a:lnSpc>
              <a:spcBef>
                <a:spcPts val="65"/>
              </a:spcBef>
            </a:pPr>
            <a:r>
              <a:rPr dirty="0" sz="1400">
                <a:latin typeface="Arial"/>
                <a:cs typeface="Arial"/>
              </a:rPr>
              <a:t>Identifies</a:t>
            </a:r>
            <a:r>
              <a:rPr dirty="0" sz="1400" spc="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boundary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condition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–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social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proof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fails</a:t>
            </a:r>
            <a:r>
              <a:rPr dirty="0" sz="1400" spc="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high-</a:t>
            </a:r>
            <a:r>
              <a:rPr dirty="0" sz="1400">
                <a:latin typeface="Arial"/>
                <a:cs typeface="Arial"/>
              </a:rPr>
              <a:t>stakes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interpersonal</a:t>
            </a:r>
            <a:r>
              <a:rPr dirty="0" sz="1400" spc="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fraud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(p=0.43,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no </a:t>
            </a:r>
            <a:r>
              <a:rPr dirty="0" sz="1400" spc="-10">
                <a:latin typeface="Arial"/>
                <a:cs typeface="Arial"/>
              </a:rPr>
              <a:t>effect).</a:t>
            </a:r>
            <a:endParaRPr sz="1400">
              <a:latin typeface="Arial"/>
              <a:cs typeface="Arial"/>
            </a:endParaRPr>
          </a:p>
          <a:p>
            <a:pPr marL="211454" indent="-198755">
              <a:lnSpc>
                <a:spcPts val="1664"/>
              </a:lnSpc>
              <a:spcBef>
                <a:spcPts val="5"/>
              </a:spcBef>
              <a:buAutoNum type="arabicPeriod" startAt="4"/>
              <a:tabLst>
                <a:tab pos="211454" algn="l"/>
              </a:tabLst>
            </a:pPr>
            <a:r>
              <a:rPr dirty="0" sz="1400">
                <a:latin typeface="Arial"/>
                <a:cs typeface="Arial"/>
              </a:rPr>
              <a:t>Ostrich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Effect</a:t>
            </a:r>
            <a:endParaRPr sz="1400">
              <a:latin typeface="Arial"/>
              <a:cs typeface="Arial"/>
            </a:endParaRPr>
          </a:p>
          <a:p>
            <a:pPr marL="12700" marR="208279">
              <a:lnSpc>
                <a:spcPts val="1730"/>
              </a:lnSpc>
            </a:pPr>
            <a:r>
              <a:rPr dirty="0" sz="1400">
                <a:latin typeface="Arial"/>
                <a:cs typeface="Arial"/>
              </a:rPr>
              <a:t>Applies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disclosure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behavior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–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73% of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victims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avoid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acknowledging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losses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even</a:t>
            </a:r>
            <a:r>
              <a:rPr dirty="0" sz="1400" spc="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2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anonymous surveys.</a:t>
            </a:r>
            <a:endParaRPr sz="1400">
              <a:latin typeface="Arial"/>
              <a:cs typeface="Arial"/>
            </a:endParaRPr>
          </a:p>
          <a:p>
            <a:pPr marL="211454" indent="-198755">
              <a:lnSpc>
                <a:spcPts val="1575"/>
              </a:lnSpc>
              <a:buAutoNum type="arabicPeriod" startAt="5"/>
              <a:tabLst>
                <a:tab pos="211454" algn="l"/>
              </a:tabLst>
            </a:pPr>
            <a:r>
              <a:rPr dirty="0" sz="1400">
                <a:latin typeface="Arial"/>
                <a:cs typeface="Arial"/>
              </a:rPr>
              <a:t>Transaction</a:t>
            </a:r>
            <a:r>
              <a:rPr dirty="0" sz="1400" spc="-10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Cost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Economics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(Williamson,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1985)</a:t>
            </a:r>
            <a:endParaRPr sz="1400">
              <a:latin typeface="Arial"/>
              <a:cs typeface="Arial"/>
            </a:endParaRPr>
          </a:p>
          <a:p>
            <a:pPr marL="12700" marR="477520">
              <a:lnSpc>
                <a:spcPts val="1730"/>
              </a:lnSpc>
            </a:pPr>
            <a:r>
              <a:rPr dirty="0" sz="1400">
                <a:latin typeface="Arial"/>
                <a:cs typeface="Arial"/>
              </a:rPr>
              <a:t>Explains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92%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non-</a:t>
            </a:r>
            <a:r>
              <a:rPr dirty="0" sz="1400">
                <a:latin typeface="Arial"/>
                <a:cs typeface="Arial"/>
              </a:rPr>
              <a:t>reporting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rate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–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transaction</a:t>
            </a:r>
            <a:r>
              <a:rPr dirty="0" sz="1400" spc="-8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costs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exceed</a:t>
            </a:r>
            <a:r>
              <a:rPr dirty="0" sz="1400" spc="-8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expected</a:t>
            </a:r>
            <a:r>
              <a:rPr dirty="0" sz="1400" spc="-10">
                <a:latin typeface="Arial"/>
                <a:cs typeface="Arial"/>
              </a:rPr>
              <a:t> recovery,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making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non-</a:t>
            </a:r>
            <a:r>
              <a:rPr dirty="0" sz="1400">
                <a:latin typeface="Arial"/>
                <a:cs typeface="Arial"/>
              </a:rPr>
              <a:t>reporting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rational.</a:t>
            </a:r>
            <a:endParaRPr sz="1400">
              <a:latin typeface="Arial"/>
              <a:cs typeface="Arial"/>
            </a:endParaRPr>
          </a:p>
          <a:p>
            <a:pPr marL="211454" indent="-198755">
              <a:lnSpc>
                <a:spcPts val="1585"/>
              </a:lnSpc>
              <a:buAutoNum type="arabicPeriod" startAt="6"/>
              <a:tabLst>
                <a:tab pos="211454" algn="l"/>
              </a:tabLst>
            </a:pPr>
            <a:r>
              <a:rPr dirty="0" sz="1400">
                <a:latin typeface="Arial"/>
                <a:cs typeface="Arial"/>
              </a:rPr>
              <a:t>Bounded</a:t>
            </a:r>
            <a:r>
              <a:rPr dirty="0" sz="1400" spc="-8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Rationality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64"/>
              </a:lnSpc>
              <a:spcBef>
                <a:spcPts val="50"/>
              </a:spcBef>
            </a:pPr>
            <a:r>
              <a:rPr dirty="0" sz="1400">
                <a:latin typeface="Arial"/>
                <a:cs typeface="Arial"/>
              </a:rPr>
              <a:t>Demonstrates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survey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fatigue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as</a:t>
            </a:r>
            <a:r>
              <a:rPr dirty="0" sz="1400" spc="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cognitive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depletion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(ρ=0.35,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p&lt;0.01);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respondents </a:t>
            </a:r>
            <a:r>
              <a:rPr dirty="0" sz="1400" spc="-10">
                <a:latin typeface="Arial"/>
                <a:cs typeface="Arial"/>
              </a:rPr>
              <a:t>strategically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64"/>
              </a:lnSpc>
            </a:pPr>
            <a:r>
              <a:rPr dirty="0" sz="1400">
                <a:latin typeface="Arial"/>
                <a:cs typeface="Arial"/>
              </a:rPr>
              <a:t>allocate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attention.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Theoretical</a:t>
            </a:r>
            <a:r>
              <a:rPr dirty="0" spc="-70"/>
              <a:t> </a:t>
            </a:r>
            <a:r>
              <a:rPr dirty="0" spc="-10"/>
              <a:t>Contribution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4145" y="727011"/>
            <a:ext cx="8679815" cy="344995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1664"/>
              </a:lnSpc>
              <a:spcBef>
                <a:spcPts val="125"/>
              </a:spcBef>
            </a:pPr>
            <a:r>
              <a:rPr dirty="0" sz="1400" b="1">
                <a:latin typeface="Trebuchet MS"/>
                <a:cs typeface="Trebuchet MS"/>
              </a:rPr>
              <a:t>For</a:t>
            </a:r>
            <a:r>
              <a:rPr dirty="0" sz="1400" spc="-40" b="1">
                <a:latin typeface="Trebuchet MS"/>
                <a:cs typeface="Trebuchet MS"/>
              </a:rPr>
              <a:t> </a:t>
            </a:r>
            <a:r>
              <a:rPr dirty="0" sz="1400" b="1">
                <a:latin typeface="Trebuchet MS"/>
                <a:cs typeface="Trebuchet MS"/>
              </a:rPr>
              <a:t>Students</a:t>
            </a:r>
            <a:r>
              <a:rPr dirty="0" sz="1400" spc="-35" b="1">
                <a:latin typeface="Trebuchet MS"/>
                <a:cs typeface="Trebuchet MS"/>
              </a:rPr>
              <a:t> </a:t>
            </a:r>
            <a:r>
              <a:rPr dirty="0" sz="1400" b="1">
                <a:latin typeface="Trebuchet MS"/>
                <a:cs typeface="Trebuchet MS"/>
              </a:rPr>
              <a:t>/</a:t>
            </a:r>
            <a:r>
              <a:rPr dirty="0" sz="1400" spc="-25" b="1">
                <a:latin typeface="Trebuchet MS"/>
                <a:cs typeface="Trebuchet MS"/>
              </a:rPr>
              <a:t> </a:t>
            </a:r>
            <a:r>
              <a:rPr dirty="0" sz="1400" b="1">
                <a:latin typeface="Trebuchet MS"/>
                <a:cs typeface="Trebuchet MS"/>
              </a:rPr>
              <a:t>Job</a:t>
            </a:r>
            <a:r>
              <a:rPr dirty="0" sz="1400" spc="-35" b="1">
                <a:latin typeface="Trebuchet MS"/>
                <a:cs typeface="Trebuchet MS"/>
              </a:rPr>
              <a:t> </a:t>
            </a:r>
            <a:r>
              <a:rPr dirty="0" sz="1400" spc="-10" b="1">
                <a:latin typeface="Trebuchet MS"/>
                <a:cs typeface="Trebuchet MS"/>
              </a:rPr>
              <a:t>Seekers</a:t>
            </a:r>
            <a:endParaRPr sz="1400">
              <a:latin typeface="Trebuchet MS"/>
              <a:cs typeface="Trebuchet MS"/>
            </a:endParaRPr>
          </a:p>
          <a:p>
            <a:pPr marL="298450" indent="-285750">
              <a:lnSpc>
                <a:spcPts val="1664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400">
                <a:latin typeface="Trebuchet MS"/>
                <a:cs typeface="Trebuchet MS"/>
              </a:rPr>
              <a:t>Watch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out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for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45">
                <a:latin typeface="Trebuchet MS"/>
                <a:cs typeface="Trebuchet MS"/>
              </a:rPr>
              <a:t>“act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50">
                <a:latin typeface="Trebuchet MS"/>
                <a:cs typeface="Trebuchet MS"/>
              </a:rPr>
              <a:t>now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or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45">
                <a:latin typeface="Trebuchet MS"/>
                <a:cs typeface="Trebuchet MS"/>
              </a:rPr>
              <a:t>you’ll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 spc="55">
                <a:latin typeface="Trebuchet MS"/>
                <a:cs typeface="Trebuchet MS"/>
              </a:rPr>
              <a:t>miss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out”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75">
                <a:latin typeface="Trebuchet MS"/>
                <a:cs typeface="Trebuchet MS"/>
              </a:rPr>
              <a:t>messages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160">
                <a:latin typeface="Trebuchet MS"/>
                <a:cs typeface="Trebuchet MS"/>
              </a:rPr>
              <a:t>—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30">
                <a:latin typeface="Trebuchet MS"/>
                <a:cs typeface="Trebuchet MS"/>
              </a:rPr>
              <a:t>they’re</a:t>
            </a:r>
            <a:r>
              <a:rPr dirty="0" sz="1400" spc="-8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a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major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red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flag.</a:t>
            </a:r>
            <a:endParaRPr sz="1400">
              <a:latin typeface="Trebuchet MS"/>
              <a:cs typeface="Trebuchet MS"/>
            </a:endParaRPr>
          </a:p>
          <a:p>
            <a:pPr marL="298450" indent="-285750">
              <a:lnSpc>
                <a:spcPts val="1664"/>
              </a:lnSpc>
              <a:spcBef>
                <a:spcPts val="50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400">
                <a:latin typeface="Trebuchet MS"/>
                <a:cs typeface="Trebuchet MS"/>
              </a:rPr>
              <a:t>Don’t</a:t>
            </a:r>
            <a:r>
              <a:rPr dirty="0" sz="1400" spc="-10">
                <a:latin typeface="Trebuchet MS"/>
                <a:cs typeface="Trebuchet MS"/>
              </a:rPr>
              <a:t> trust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online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testimonials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blindly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160">
                <a:latin typeface="Trebuchet MS"/>
                <a:cs typeface="Trebuchet MS"/>
              </a:rPr>
              <a:t>—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they</a:t>
            </a:r>
            <a:r>
              <a:rPr dirty="0" sz="1400" spc="-85">
                <a:latin typeface="Trebuchet MS"/>
                <a:cs typeface="Trebuchet MS"/>
              </a:rPr>
              <a:t> </a:t>
            </a:r>
            <a:r>
              <a:rPr dirty="0" sz="1400" spc="55">
                <a:latin typeface="Trebuchet MS"/>
                <a:cs typeface="Trebuchet MS"/>
              </a:rPr>
              <a:t>can</a:t>
            </a:r>
            <a:r>
              <a:rPr dirty="0" sz="1400" spc="-85">
                <a:latin typeface="Trebuchet MS"/>
                <a:cs typeface="Trebuchet MS"/>
              </a:rPr>
              <a:t> </a:t>
            </a:r>
            <a:r>
              <a:rPr dirty="0" sz="1400" spc="75">
                <a:latin typeface="Trebuchet MS"/>
                <a:cs typeface="Trebuchet MS"/>
              </a:rPr>
              <a:t>be</a:t>
            </a:r>
            <a:r>
              <a:rPr dirty="0" sz="1400" spc="-8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faked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very</a:t>
            </a:r>
            <a:r>
              <a:rPr dirty="0" sz="1400" spc="-8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easily.</a:t>
            </a:r>
            <a:endParaRPr sz="1400">
              <a:latin typeface="Trebuchet MS"/>
              <a:cs typeface="Trebuchet MS"/>
            </a:endParaRPr>
          </a:p>
          <a:p>
            <a:pPr marL="298450" indent="-285750">
              <a:lnSpc>
                <a:spcPts val="1655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400" spc="55">
                <a:latin typeface="Trebuchet MS"/>
                <a:cs typeface="Trebuchet MS"/>
              </a:rPr>
              <a:t>Decide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</a:t>
            </a:r>
            <a:r>
              <a:rPr dirty="0" sz="1400" spc="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advance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 spc="50">
                <a:latin typeface="Trebuchet MS"/>
                <a:cs typeface="Trebuchet MS"/>
              </a:rPr>
              <a:t>how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65">
                <a:latin typeface="Trebuchet MS"/>
                <a:cs typeface="Trebuchet MS"/>
              </a:rPr>
              <a:t>much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time</a:t>
            </a:r>
            <a:r>
              <a:rPr dirty="0" sz="1400" spc="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or</a:t>
            </a:r>
            <a:r>
              <a:rPr dirty="0" sz="1400" spc="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money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you’re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willing</a:t>
            </a:r>
            <a:r>
              <a:rPr dirty="0" sz="1400" spc="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to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spend,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 spc="95">
                <a:latin typeface="Trebuchet MS"/>
                <a:cs typeface="Trebuchet MS"/>
              </a:rPr>
              <a:t>so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you</a:t>
            </a:r>
            <a:r>
              <a:rPr dirty="0" sz="1400" spc="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don’t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get</a:t>
            </a:r>
            <a:r>
              <a:rPr dirty="0" sz="1400" spc="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pulled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</a:t>
            </a:r>
            <a:r>
              <a:rPr dirty="0" sz="1400" spc="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by</a:t>
            </a:r>
            <a:r>
              <a:rPr dirty="0" sz="1400" spc="2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sunk</a:t>
            </a:r>
            <a:endParaRPr sz="1400">
              <a:latin typeface="Trebuchet MS"/>
              <a:cs typeface="Trebuchet MS"/>
            </a:endParaRPr>
          </a:p>
          <a:p>
            <a:pPr marL="298450">
              <a:lnSpc>
                <a:spcPts val="1664"/>
              </a:lnSpc>
            </a:pPr>
            <a:r>
              <a:rPr dirty="0" sz="1400" spc="-10">
                <a:latin typeface="Trebuchet MS"/>
                <a:cs typeface="Trebuchet MS"/>
              </a:rPr>
              <a:t>costs.</a:t>
            </a:r>
            <a:endParaRPr sz="14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45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400">
                <a:latin typeface="Trebuchet MS"/>
                <a:cs typeface="Trebuchet MS"/>
              </a:rPr>
              <a:t>Learn</a:t>
            </a:r>
            <a:r>
              <a:rPr dirty="0" sz="1400" spc="-7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where</a:t>
            </a:r>
            <a:r>
              <a:rPr dirty="0" sz="1400" spc="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and</a:t>
            </a:r>
            <a:r>
              <a:rPr dirty="0" sz="1400" spc="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how</a:t>
            </a:r>
            <a:r>
              <a:rPr dirty="0" sz="1400" spc="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to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report</a:t>
            </a:r>
            <a:r>
              <a:rPr dirty="0" sz="1400" spc="25">
                <a:latin typeface="Trebuchet MS"/>
                <a:cs typeface="Trebuchet MS"/>
              </a:rPr>
              <a:t> </a:t>
            </a:r>
            <a:r>
              <a:rPr dirty="0" sz="1400" spc="75">
                <a:latin typeface="Trebuchet MS"/>
                <a:cs typeface="Trebuchet MS"/>
              </a:rPr>
              <a:t>scams</a:t>
            </a:r>
            <a:r>
              <a:rPr dirty="0" sz="1400">
                <a:latin typeface="Trebuchet MS"/>
                <a:cs typeface="Trebuchet MS"/>
              </a:rPr>
              <a:t> </a:t>
            </a:r>
            <a:r>
              <a:rPr dirty="0" sz="1400" spc="160">
                <a:latin typeface="Trebuchet MS"/>
                <a:cs typeface="Trebuchet MS"/>
              </a:rPr>
              <a:t>—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very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few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people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currently</a:t>
            </a:r>
            <a:r>
              <a:rPr dirty="0" sz="1400" spc="-6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know</a:t>
            </a:r>
            <a:r>
              <a:rPr dirty="0" sz="1400" spc="5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the</a:t>
            </a:r>
            <a:r>
              <a:rPr dirty="0" sz="1400" spc="-6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right</a:t>
            </a:r>
            <a:r>
              <a:rPr dirty="0" sz="1400" spc="2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channels.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Arial"/>
              <a:buChar char="•"/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64"/>
              </a:lnSpc>
              <a:spcBef>
                <a:spcPts val="5"/>
              </a:spcBef>
            </a:pPr>
            <a:r>
              <a:rPr dirty="0" sz="1400" b="1">
                <a:latin typeface="Trebuchet MS"/>
                <a:cs typeface="Trebuchet MS"/>
              </a:rPr>
              <a:t>For</a:t>
            </a:r>
            <a:r>
              <a:rPr dirty="0" sz="1400" spc="-85" b="1">
                <a:latin typeface="Trebuchet MS"/>
                <a:cs typeface="Trebuchet MS"/>
              </a:rPr>
              <a:t> </a:t>
            </a:r>
            <a:r>
              <a:rPr dirty="0" sz="1400" spc="-10" b="1">
                <a:latin typeface="Trebuchet MS"/>
                <a:cs typeface="Trebuchet MS"/>
              </a:rPr>
              <a:t>Institutions</a:t>
            </a:r>
            <a:endParaRPr sz="1400">
              <a:latin typeface="Trebuchet MS"/>
              <a:cs typeface="Trebuchet MS"/>
            </a:endParaRPr>
          </a:p>
          <a:p>
            <a:pPr marL="298450" indent="-285750">
              <a:lnSpc>
                <a:spcPts val="1655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400">
                <a:latin typeface="Trebuchet MS"/>
                <a:cs typeface="Trebuchet MS"/>
              </a:rPr>
              <a:t>Run</a:t>
            </a:r>
            <a:r>
              <a:rPr dirty="0" sz="1400" spc="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awareness</a:t>
            </a:r>
            <a:r>
              <a:rPr dirty="0" sz="1400" spc="35">
                <a:latin typeface="Trebuchet MS"/>
                <a:cs typeface="Trebuchet MS"/>
              </a:rPr>
              <a:t> </a:t>
            </a:r>
            <a:r>
              <a:rPr dirty="0" sz="1400" spc="50">
                <a:latin typeface="Trebuchet MS"/>
                <a:cs typeface="Trebuchet MS"/>
              </a:rPr>
              <a:t>sessions</a:t>
            </a:r>
            <a:r>
              <a:rPr dirty="0" sz="1400" spc="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that</a:t>
            </a:r>
            <a:r>
              <a:rPr dirty="0" sz="1400" spc="6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explain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why</a:t>
            </a:r>
            <a:r>
              <a:rPr dirty="0" sz="1400" spc="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people</a:t>
            </a:r>
            <a:r>
              <a:rPr dirty="0" sz="1400" spc="65">
                <a:latin typeface="Trebuchet MS"/>
                <a:cs typeface="Trebuchet MS"/>
              </a:rPr>
              <a:t> </a:t>
            </a:r>
            <a:r>
              <a:rPr dirty="0" sz="1400" spc="-75">
                <a:latin typeface="Trebuchet MS"/>
                <a:cs typeface="Trebuchet MS"/>
              </a:rPr>
              <a:t>fall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for</a:t>
            </a:r>
            <a:r>
              <a:rPr dirty="0" sz="1400" spc="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urgency</a:t>
            </a:r>
            <a:r>
              <a:rPr dirty="0" sz="1400" spc="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tricks</a:t>
            </a:r>
            <a:r>
              <a:rPr dirty="0" sz="1400" spc="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and</a:t>
            </a:r>
            <a:r>
              <a:rPr dirty="0" sz="1400" spc="8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loss</a:t>
            </a:r>
            <a:r>
              <a:rPr dirty="0" sz="1400" spc="3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aversion.</a:t>
            </a:r>
            <a:endParaRPr sz="1400">
              <a:latin typeface="Trebuchet MS"/>
              <a:cs typeface="Trebuchet MS"/>
            </a:endParaRPr>
          </a:p>
          <a:p>
            <a:pPr marL="298450" indent="-285750">
              <a:lnSpc>
                <a:spcPts val="1664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400" spc="70">
                <a:latin typeface="Trebuchet MS"/>
                <a:cs typeface="Trebuchet MS"/>
              </a:rPr>
              <a:t>Make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reporting</a:t>
            </a:r>
            <a:r>
              <a:rPr dirty="0" sz="1400" spc="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normal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and</a:t>
            </a:r>
            <a:r>
              <a:rPr dirty="0" sz="1400" spc="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easy</a:t>
            </a:r>
            <a:r>
              <a:rPr dirty="0" sz="1400" spc="40">
                <a:latin typeface="Trebuchet MS"/>
                <a:cs typeface="Trebuchet MS"/>
              </a:rPr>
              <a:t> </a:t>
            </a:r>
            <a:r>
              <a:rPr dirty="0" sz="1400" spc="160">
                <a:latin typeface="Trebuchet MS"/>
                <a:cs typeface="Trebuchet MS"/>
              </a:rPr>
              <a:t>—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 spc="55">
                <a:latin typeface="Trebuchet MS"/>
                <a:cs typeface="Trebuchet MS"/>
              </a:rPr>
              <a:t>most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people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don’t</a:t>
            </a:r>
            <a:r>
              <a:rPr dirty="0" sz="1400" spc="3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report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50">
                <a:latin typeface="Trebuchet MS"/>
                <a:cs typeface="Trebuchet MS"/>
              </a:rPr>
              <a:t>because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of</a:t>
            </a:r>
            <a:r>
              <a:rPr dirty="0" sz="1400" spc="8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stigma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or</a:t>
            </a:r>
            <a:r>
              <a:rPr dirty="0" sz="1400" spc="25">
                <a:latin typeface="Trebuchet MS"/>
                <a:cs typeface="Trebuchet MS"/>
              </a:rPr>
              <a:t> </a:t>
            </a:r>
            <a:r>
              <a:rPr dirty="0" sz="1400" spc="-35">
                <a:latin typeface="Trebuchet MS"/>
                <a:cs typeface="Trebuchet MS"/>
              </a:rPr>
              <a:t>effort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involved.</a:t>
            </a:r>
            <a:endParaRPr sz="14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45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400" spc="55">
                <a:latin typeface="Trebuchet MS"/>
                <a:cs typeface="Trebuchet MS"/>
              </a:rPr>
              <a:t>Work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with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platforms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like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LinkedIn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or</a:t>
            </a:r>
            <a:r>
              <a:rPr dirty="0" sz="1400" spc="-10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job portals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to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 spc="50">
                <a:latin typeface="Trebuchet MS"/>
                <a:cs typeface="Trebuchet MS"/>
              </a:rPr>
              <a:t>check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and</a:t>
            </a:r>
            <a:r>
              <a:rPr dirty="0" sz="1400" spc="-7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verify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opportunities.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Arial"/>
              <a:buChar char="•"/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64"/>
              </a:lnSpc>
              <a:spcBef>
                <a:spcPts val="5"/>
              </a:spcBef>
            </a:pPr>
            <a:r>
              <a:rPr dirty="0" sz="1400" b="1">
                <a:latin typeface="Trebuchet MS"/>
                <a:cs typeface="Trebuchet MS"/>
              </a:rPr>
              <a:t>For</a:t>
            </a:r>
            <a:r>
              <a:rPr dirty="0" sz="1400" spc="-85" b="1">
                <a:latin typeface="Trebuchet MS"/>
                <a:cs typeface="Trebuchet MS"/>
              </a:rPr>
              <a:t> </a:t>
            </a:r>
            <a:r>
              <a:rPr dirty="0" sz="1400" spc="-10" b="1">
                <a:latin typeface="Trebuchet MS"/>
                <a:cs typeface="Trebuchet MS"/>
              </a:rPr>
              <a:t>Policymakers</a:t>
            </a:r>
            <a:endParaRPr sz="1400">
              <a:latin typeface="Trebuchet MS"/>
              <a:cs typeface="Trebuchet MS"/>
            </a:endParaRPr>
          </a:p>
          <a:p>
            <a:pPr marL="298450" indent="-285750">
              <a:lnSpc>
                <a:spcPts val="1655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400" spc="70">
                <a:latin typeface="Trebuchet MS"/>
                <a:cs typeface="Trebuchet MS"/>
              </a:rPr>
              <a:t>Make</a:t>
            </a:r>
            <a:r>
              <a:rPr dirty="0" sz="1400" spc="-6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the</a:t>
            </a:r>
            <a:r>
              <a:rPr dirty="0" sz="1400" spc="-6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reporting</a:t>
            </a:r>
            <a:r>
              <a:rPr dirty="0" sz="1400" spc="40">
                <a:latin typeface="Trebuchet MS"/>
                <a:cs typeface="Trebuchet MS"/>
              </a:rPr>
              <a:t> </a:t>
            </a:r>
            <a:r>
              <a:rPr dirty="0" sz="1400" spc="45">
                <a:latin typeface="Trebuchet MS"/>
                <a:cs typeface="Trebuchet MS"/>
              </a:rPr>
              <a:t>process</a:t>
            </a:r>
            <a:r>
              <a:rPr dirty="0" sz="1400">
                <a:latin typeface="Trebuchet MS"/>
                <a:cs typeface="Trebuchet MS"/>
              </a:rPr>
              <a:t> simpler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and</a:t>
            </a:r>
            <a:r>
              <a:rPr dirty="0" sz="1400" spc="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quicker</a:t>
            </a:r>
            <a:r>
              <a:rPr dirty="0" sz="1400" spc="20">
                <a:latin typeface="Trebuchet MS"/>
                <a:cs typeface="Trebuchet MS"/>
              </a:rPr>
              <a:t> </a:t>
            </a:r>
            <a:r>
              <a:rPr dirty="0" sz="1400" spc="160">
                <a:latin typeface="Trebuchet MS"/>
                <a:cs typeface="Trebuchet MS"/>
              </a:rPr>
              <a:t>—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the</a:t>
            </a:r>
            <a:r>
              <a:rPr dirty="0" sz="1400" spc="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current</a:t>
            </a:r>
            <a:r>
              <a:rPr dirty="0" sz="1400" spc="30">
                <a:latin typeface="Trebuchet MS"/>
                <a:cs typeface="Trebuchet MS"/>
              </a:rPr>
              <a:t> </a:t>
            </a:r>
            <a:r>
              <a:rPr dirty="0" sz="1400" spc="45">
                <a:latin typeface="Trebuchet MS"/>
                <a:cs typeface="Trebuchet MS"/>
              </a:rPr>
              <a:t>process</a:t>
            </a:r>
            <a:r>
              <a:rPr dirty="0" sz="1400">
                <a:latin typeface="Trebuchet MS"/>
                <a:cs typeface="Trebuchet MS"/>
              </a:rPr>
              <a:t> feels too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difficult.</a:t>
            </a:r>
            <a:endParaRPr sz="1400">
              <a:latin typeface="Trebuchet MS"/>
              <a:cs typeface="Trebuchet MS"/>
            </a:endParaRPr>
          </a:p>
          <a:p>
            <a:pPr marL="298450" indent="-285750">
              <a:lnSpc>
                <a:spcPts val="1664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400" spc="75">
                <a:latin typeface="Trebuchet MS"/>
                <a:cs typeface="Trebuchet MS"/>
              </a:rPr>
              <a:t>Focus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50">
                <a:latin typeface="Trebuchet MS"/>
                <a:cs typeface="Trebuchet MS"/>
              </a:rPr>
              <a:t>on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 spc="50">
                <a:latin typeface="Trebuchet MS"/>
                <a:cs typeface="Trebuchet MS"/>
              </a:rPr>
              <a:t>groups</a:t>
            </a:r>
            <a:r>
              <a:rPr dirty="0" sz="1400" spc="-10">
                <a:latin typeface="Trebuchet MS"/>
                <a:cs typeface="Trebuchet MS"/>
              </a:rPr>
              <a:t> that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are</a:t>
            </a:r>
            <a:r>
              <a:rPr dirty="0" sz="1400" spc="-7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more</a:t>
            </a:r>
            <a:r>
              <a:rPr dirty="0" sz="1400" spc="-7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vulnerable,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especially</a:t>
            </a:r>
            <a:r>
              <a:rPr dirty="0" sz="1400" spc="-7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those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under </a:t>
            </a:r>
            <a:r>
              <a:rPr dirty="0" sz="1400" spc="-10">
                <a:latin typeface="Trebuchet MS"/>
                <a:cs typeface="Trebuchet MS"/>
              </a:rPr>
              <a:t>financial</a:t>
            </a:r>
            <a:r>
              <a:rPr dirty="0" sz="1400" spc="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pressure.</a:t>
            </a:r>
            <a:endParaRPr sz="14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50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400" spc="65">
                <a:latin typeface="Trebuchet MS"/>
                <a:cs typeface="Trebuchet MS"/>
              </a:rPr>
              <a:t>Use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AI</a:t>
            </a:r>
            <a:r>
              <a:rPr dirty="0" sz="1400" spc="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tools to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flag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 spc="75">
                <a:latin typeface="Trebuchet MS"/>
                <a:cs typeface="Trebuchet MS"/>
              </a:rPr>
              <a:t>messages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30">
                <a:latin typeface="Trebuchet MS"/>
                <a:cs typeface="Trebuchet MS"/>
              </a:rPr>
              <a:t>that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contain</a:t>
            </a:r>
            <a:r>
              <a:rPr dirty="0" sz="1400" spc="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typical</a:t>
            </a:r>
            <a:r>
              <a:rPr dirty="0" sz="1400" spc="50">
                <a:latin typeface="Trebuchet MS"/>
                <a:cs typeface="Trebuchet MS"/>
              </a:rPr>
              <a:t> </a:t>
            </a:r>
            <a:r>
              <a:rPr dirty="0" sz="1400" spc="65">
                <a:latin typeface="Trebuchet MS"/>
                <a:cs typeface="Trebuchet MS"/>
              </a:rPr>
              <a:t>scam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language, </a:t>
            </a:r>
            <a:r>
              <a:rPr dirty="0" sz="1400" spc="-25">
                <a:latin typeface="Trebuchet MS"/>
                <a:cs typeface="Trebuchet MS"/>
              </a:rPr>
              <a:t>like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urgency</a:t>
            </a:r>
            <a:r>
              <a:rPr dirty="0" sz="1400" spc="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or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fake</a:t>
            </a:r>
            <a:r>
              <a:rPr dirty="0" sz="1400" spc="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social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proof.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Practical</a:t>
            </a:r>
            <a:r>
              <a:rPr dirty="0" spc="-60"/>
              <a:t> </a:t>
            </a:r>
            <a:r>
              <a:rPr dirty="0" spc="-10"/>
              <a:t>Implications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4145" y="727011"/>
            <a:ext cx="8993505" cy="34436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5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550" b="1">
                <a:latin typeface="Trebuchet MS"/>
                <a:cs typeface="Trebuchet MS"/>
              </a:rPr>
              <a:t>Larger</a:t>
            </a:r>
            <a:r>
              <a:rPr dirty="0" sz="1550" spc="45" b="1">
                <a:latin typeface="Trebuchet MS"/>
                <a:cs typeface="Trebuchet MS"/>
              </a:rPr>
              <a:t> samples</a:t>
            </a:r>
            <a:r>
              <a:rPr dirty="0" sz="1550" spc="35" b="1">
                <a:latin typeface="Trebuchet MS"/>
                <a:cs typeface="Trebuchet MS"/>
              </a:rPr>
              <a:t> </a:t>
            </a:r>
            <a:r>
              <a:rPr dirty="0" sz="1550" spc="240">
                <a:latin typeface="Trebuchet MS"/>
                <a:cs typeface="Trebuchet MS"/>
              </a:rPr>
              <a:t>-</a:t>
            </a:r>
            <a:r>
              <a:rPr dirty="0" sz="1550" spc="7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to</a:t>
            </a:r>
            <a:r>
              <a:rPr dirty="0" sz="1550" spc="15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get</a:t>
            </a:r>
            <a:r>
              <a:rPr dirty="0" sz="1550" spc="9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a</a:t>
            </a:r>
            <a:r>
              <a:rPr dirty="0" sz="1550" spc="3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clearer</a:t>
            </a:r>
            <a:r>
              <a:rPr dirty="0" sz="1550" spc="-5">
                <a:latin typeface="Trebuchet MS"/>
                <a:cs typeface="Trebuchet MS"/>
              </a:rPr>
              <a:t> </a:t>
            </a:r>
            <a:r>
              <a:rPr dirty="0" sz="1550" spc="70">
                <a:latin typeface="Trebuchet MS"/>
                <a:cs typeface="Trebuchet MS"/>
              </a:rPr>
              <a:t>and</a:t>
            </a:r>
            <a:r>
              <a:rPr dirty="0" sz="1550" spc="65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more</a:t>
            </a:r>
            <a:r>
              <a:rPr dirty="0" sz="1550" spc="6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confident</a:t>
            </a:r>
            <a:r>
              <a:rPr dirty="0" sz="1550" spc="9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picture</a:t>
            </a:r>
            <a:r>
              <a:rPr dirty="0" sz="1550" spc="5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of</a:t>
            </a:r>
            <a:r>
              <a:rPr dirty="0" sz="1550" spc="6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patterns.</a:t>
            </a:r>
            <a:endParaRPr sz="155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550" b="1">
                <a:latin typeface="Trebuchet MS"/>
                <a:cs typeface="Trebuchet MS"/>
              </a:rPr>
              <a:t>Short</a:t>
            </a:r>
            <a:r>
              <a:rPr dirty="0" sz="1550" spc="5" b="1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experimental</a:t>
            </a:r>
            <a:r>
              <a:rPr dirty="0" sz="1550" spc="45" b="1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scenarios</a:t>
            </a:r>
            <a:r>
              <a:rPr dirty="0" sz="1550" spc="135" b="1">
                <a:latin typeface="Trebuchet MS"/>
                <a:cs typeface="Trebuchet MS"/>
              </a:rPr>
              <a:t> </a:t>
            </a:r>
            <a:r>
              <a:rPr dirty="0" sz="1550" spc="245">
                <a:latin typeface="Trebuchet MS"/>
                <a:cs typeface="Trebuchet MS"/>
              </a:rPr>
              <a:t>-</a:t>
            </a:r>
            <a:r>
              <a:rPr dirty="0" sz="1550" spc="9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to</a:t>
            </a:r>
            <a:r>
              <a:rPr dirty="0" sz="1550" spc="40">
                <a:latin typeface="Trebuchet MS"/>
                <a:cs typeface="Trebuchet MS"/>
              </a:rPr>
              <a:t> </a:t>
            </a:r>
            <a:r>
              <a:rPr dirty="0" sz="1550" spc="65">
                <a:latin typeface="Trebuchet MS"/>
                <a:cs typeface="Trebuchet MS"/>
              </a:rPr>
              <a:t>see</a:t>
            </a:r>
            <a:r>
              <a:rPr dirty="0" sz="1550" spc="85">
                <a:latin typeface="Trebuchet MS"/>
                <a:cs typeface="Trebuchet MS"/>
              </a:rPr>
              <a:t> </a:t>
            </a:r>
            <a:r>
              <a:rPr dirty="0" sz="1550" spc="65">
                <a:latin typeface="Trebuchet MS"/>
                <a:cs typeface="Trebuchet MS"/>
              </a:rPr>
              <a:t>how</a:t>
            </a:r>
            <a:r>
              <a:rPr dirty="0" sz="1550" spc="80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people</a:t>
            </a:r>
            <a:r>
              <a:rPr dirty="0" sz="1550" spc="8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react</a:t>
            </a:r>
            <a:r>
              <a:rPr dirty="0" sz="1550" spc="40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when</a:t>
            </a:r>
            <a:r>
              <a:rPr dirty="0" sz="1550" spc="90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urgency</a:t>
            </a:r>
            <a:r>
              <a:rPr dirty="0" sz="1550" spc="8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or</a:t>
            </a:r>
            <a:r>
              <a:rPr dirty="0" sz="1550" spc="2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social</a:t>
            </a:r>
            <a:r>
              <a:rPr dirty="0" sz="1550" spc="8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proof</a:t>
            </a:r>
            <a:r>
              <a:rPr dirty="0" sz="1550" spc="90">
                <a:latin typeface="Trebuchet MS"/>
                <a:cs typeface="Trebuchet MS"/>
              </a:rPr>
              <a:t> </a:t>
            </a:r>
            <a:r>
              <a:rPr dirty="0" sz="1550" spc="-25">
                <a:latin typeface="Trebuchet MS"/>
                <a:cs typeface="Trebuchet MS"/>
              </a:rPr>
              <a:t>is</a:t>
            </a:r>
            <a:endParaRPr sz="1550">
              <a:latin typeface="Trebuchet MS"/>
              <a:cs typeface="Trebuchet MS"/>
            </a:endParaRPr>
          </a:p>
          <a:p>
            <a:pPr marL="298450">
              <a:lnSpc>
                <a:spcPct val="100000"/>
              </a:lnSpc>
              <a:spcBef>
                <a:spcPts val="20"/>
              </a:spcBef>
            </a:pPr>
            <a:r>
              <a:rPr dirty="0" sz="1550" spc="-10">
                <a:latin typeface="Trebuchet MS"/>
                <a:cs typeface="Trebuchet MS"/>
              </a:rPr>
              <a:t>varied.</a:t>
            </a:r>
            <a:endParaRPr sz="155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90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550" b="1">
                <a:latin typeface="Trebuchet MS"/>
                <a:cs typeface="Trebuchet MS"/>
              </a:rPr>
              <a:t>Tracking</a:t>
            </a:r>
            <a:r>
              <a:rPr dirty="0" sz="1550" spc="55" b="1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people</a:t>
            </a:r>
            <a:r>
              <a:rPr dirty="0" sz="1550" spc="35" b="1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over</a:t>
            </a:r>
            <a:r>
              <a:rPr dirty="0" sz="1550" spc="25" b="1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time</a:t>
            </a:r>
            <a:r>
              <a:rPr dirty="0" sz="1550" spc="80" b="1">
                <a:latin typeface="Trebuchet MS"/>
                <a:cs typeface="Trebuchet MS"/>
              </a:rPr>
              <a:t> </a:t>
            </a:r>
            <a:r>
              <a:rPr dirty="0" sz="1550" spc="240">
                <a:latin typeface="Trebuchet MS"/>
                <a:cs typeface="Trebuchet MS"/>
              </a:rPr>
              <a:t>-</a:t>
            </a:r>
            <a:r>
              <a:rPr dirty="0" sz="1550" spc="4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to</a:t>
            </a:r>
            <a:r>
              <a:rPr dirty="0" sz="1550" spc="-10">
                <a:latin typeface="Trebuchet MS"/>
                <a:cs typeface="Trebuchet MS"/>
              </a:rPr>
              <a:t> </a:t>
            </a:r>
            <a:r>
              <a:rPr dirty="0" sz="1550" spc="45">
                <a:latin typeface="Trebuchet MS"/>
                <a:cs typeface="Trebuchet MS"/>
              </a:rPr>
              <a:t>understand</a:t>
            </a:r>
            <a:r>
              <a:rPr dirty="0" sz="1550" spc="40">
                <a:latin typeface="Trebuchet MS"/>
                <a:cs typeface="Trebuchet MS"/>
              </a:rPr>
              <a:t> </a:t>
            </a:r>
            <a:r>
              <a:rPr dirty="0" sz="1550" spc="65">
                <a:latin typeface="Trebuchet MS"/>
                <a:cs typeface="Trebuchet MS"/>
              </a:rPr>
              <a:t>how</a:t>
            </a:r>
            <a:r>
              <a:rPr dirty="0" sz="1550" spc="3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their</a:t>
            </a:r>
            <a:r>
              <a:rPr dirty="0" sz="1550" spc="55">
                <a:latin typeface="Trebuchet MS"/>
                <a:cs typeface="Trebuchet MS"/>
              </a:rPr>
              <a:t> </a:t>
            </a:r>
            <a:r>
              <a:rPr dirty="0" sz="1550" spc="45">
                <a:latin typeface="Trebuchet MS"/>
                <a:cs typeface="Trebuchet MS"/>
              </a:rPr>
              <a:t>awareness</a:t>
            </a:r>
            <a:r>
              <a:rPr dirty="0" sz="1550" spc="10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or</a:t>
            </a:r>
            <a:r>
              <a:rPr dirty="0" sz="1550" spc="5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vulnerability</a:t>
            </a:r>
            <a:r>
              <a:rPr dirty="0" sz="1550" spc="4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shifts.</a:t>
            </a:r>
            <a:endParaRPr sz="1550">
              <a:latin typeface="Trebuchet MS"/>
              <a:cs typeface="Trebuchet MS"/>
            </a:endParaRPr>
          </a:p>
          <a:p>
            <a:pPr marL="298450" marR="873760" indent="-286385">
              <a:lnSpc>
                <a:spcPct val="101000"/>
              </a:lnSpc>
              <a:spcBef>
                <a:spcPts val="75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550" spc="45" b="1">
                <a:latin typeface="Trebuchet MS"/>
                <a:cs typeface="Trebuchet MS"/>
              </a:rPr>
              <a:t>Looking</a:t>
            </a:r>
            <a:r>
              <a:rPr dirty="0" sz="1550" spc="10" b="1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at </a:t>
            </a:r>
            <a:r>
              <a:rPr dirty="0" sz="1550" spc="-10" b="1">
                <a:latin typeface="Trebuchet MS"/>
                <a:cs typeface="Trebuchet MS"/>
              </a:rPr>
              <a:t>different</a:t>
            </a:r>
            <a:r>
              <a:rPr dirty="0" sz="1550" spc="5" b="1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platforms</a:t>
            </a:r>
            <a:r>
              <a:rPr dirty="0" sz="1550" spc="35" b="1">
                <a:latin typeface="Trebuchet MS"/>
                <a:cs typeface="Trebuchet MS"/>
              </a:rPr>
              <a:t> </a:t>
            </a:r>
            <a:r>
              <a:rPr dirty="0" sz="1550" spc="240">
                <a:latin typeface="Trebuchet MS"/>
                <a:cs typeface="Trebuchet MS"/>
              </a:rPr>
              <a:t>-</a:t>
            </a:r>
            <a:r>
              <a:rPr dirty="0" sz="1550" spc="-5">
                <a:latin typeface="Trebuchet MS"/>
                <a:cs typeface="Trebuchet MS"/>
              </a:rPr>
              <a:t> </a:t>
            </a:r>
            <a:r>
              <a:rPr dirty="0" sz="1550" spc="65">
                <a:latin typeface="Trebuchet MS"/>
                <a:cs typeface="Trebuchet MS"/>
              </a:rPr>
              <a:t>because</a:t>
            </a:r>
            <a:r>
              <a:rPr dirty="0" sz="1550" spc="-5">
                <a:latin typeface="Trebuchet MS"/>
                <a:cs typeface="Trebuchet MS"/>
              </a:rPr>
              <a:t> </a:t>
            </a:r>
            <a:r>
              <a:rPr dirty="0" sz="1550" spc="110">
                <a:latin typeface="Trebuchet MS"/>
                <a:cs typeface="Trebuchet MS"/>
              </a:rPr>
              <a:t>scams</a:t>
            </a:r>
            <a:r>
              <a:rPr dirty="0" sz="1550" spc="-20">
                <a:latin typeface="Trebuchet MS"/>
                <a:cs typeface="Trebuchet MS"/>
              </a:rPr>
              <a:t> </a:t>
            </a:r>
            <a:r>
              <a:rPr dirty="0" sz="1550" spc="80">
                <a:latin typeface="Trebuchet MS"/>
                <a:cs typeface="Trebuchet MS"/>
              </a:rPr>
              <a:t>may</a:t>
            </a:r>
            <a:r>
              <a:rPr dirty="0" sz="1550" spc="-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work</a:t>
            </a:r>
            <a:r>
              <a:rPr dirty="0" sz="1550" spc="-1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differently</a:t>
            </a:r>
            <a:r>
              <a:rPr dirty="0" sz="1550" spc="-5">
                <a:latin typeface="Trebuchet MS"/>
                <a:cs typeface="Trebuchet MS"/>
              </a:rPr>
              <a:t> </a:t>
            </a:r>
            <a:r>
              <a:rPr dirty="0" sz="1550" spc="80">
                <a:latin typeface="Trebuchet MS"/>
                <a:cs typeface="Trebuchet MS"/>
              </a:rPr>
              <a:t>on</a:t>
            </a:r>
            <a:r>
              <a:rPr dirty="0" sz="1550" spc="-10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WhatsApp, </a:t>
            </a:r>
            <a:r>
              <a:rPr dirty="0" sz="1550">
                <a:latin typeface="Trebuchet MS"/>
                <a:cs typeface="Trebuchet MS"/>
              </a:rPr>
              <a:t>LinkedIn,</a:t>
            </a:r>
            <a:r>
              <a:rPr dirty="0" sz="1550" spc="6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or</a:t>
            </a:r>
            <a:r>
              <a:rPr dirty="0" sz="1550" spc="65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email.</a:t>
            </a:r>
            <a:endParaRPr sz="1550">
              <a:latin typeface="Trebuchet MS"/>
              <a:cs typeface="Trebuchet MS"/>
            </a:endParaRPr>
          </a:p>
          <a:p>
            <a:pPr marL="298450" marR="383540" indent="-286385">
              <a:lnSpc>
                <a:spcPct val="101000"/>
              </a:lnSpc>
              <a:spcBef>
                <a:spcPts val="80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550" b="1">
                <a:latin typeface="Trebuchet MS"/>
                <a:cs typeface="Trebuchet MS"/>
              </a:rPr>
              <a:t>Including</a:t>
            </a:r>
            <a:r>
              <a:rPr dirty="0" sz="1550" spc="75" b="1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people</a:t>
            </a:r>
            <a:r>
              <a:rPr dirty="0" sz="1550" spc="60" b="1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from</a:t>
            </a:r>
            <a:r>
              <a:rPr dirty="0" sz="1550" spc="80" b="1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other</a:t>
            </a:r>
            <a:r>
              <a:rPr dirty="0" sz="1550" spc="40" b="1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countries</a:t>
            </a:r>
            <a:r>
              <a:rPr dirty="0" sz="1550" spc="100" b="1">
                <a:latin typeface="Trebuchet MS"/>
                <a:cs typeface="Trebuchet MS"/>
              </a:rPr>
              <a:t> </a:t>
            </a:r>
            <a:r>
              <a:rPr dirty="0" sz="1550" spc="240">
                <a:latin typeface="Trebuchet MS"/>
                <a:cs typeface="Trebuchet MS"/>
              </a:rPr>
              <a:t>-</a:t>
            </a:r>
            <a:r>
              <a:rPr dirty="0" sz="1550" spc="7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to</a:t>
            </a:r>
            <a:r>
              <a:rPr dirty="0" sz="1550" spc="5">
                <a:latin typeface="Trebuchet MS"/>
                <a:cs typeface="Trebuchet MS"/>
              </a:rPr>
              <a:t> </a:t>
            </a:r>
            <a:r>
              <a:rPr dirty="0" sz="1550" spc="65">
                <a:latin typeface="Trebuchet MS"/>
                <a:cs typeface="Trebuchet MS"/>
              </a:rPr>
              <a:t>see</a:t>
            </a:r>
            <a:r>
              <a:rPr dirty="0" sz="1550" spc="55">
                <a:latin typeface="Trebuchet MS"/>
                <a:cs typeface="Trebuchet MS"/>
              </a:rPr>
              <a:t> </a:t>
            </a:r>
            <a:r>
              <a:rPr dirty="0" sz="1550" spc="70">
                <a:latin typeface="Trebuchet MS"/>
                <a:cs typeface="Trebuchet MS"/>
              </a:rPr>
              <a:t>how</a:t>
            </a:r>
            <a:r>
              <a:rPr dirty="0" sz="1550" spc="5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tactics</a:t>
            </a:r>
            <a:r>
              <a:rPr dirty="0" sz="1550" spc="4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and</a:t>
            </a:r>
            <a:r>
              <a:rPr dirty="0" sz="1550" spc="60">
                <a:latin typeface="Trebuchet MS"/>
                <a:cs typeface="Trebuchet MS"/>
              </a:rPr>
              <a:t> </a:t>
            </a:r>
            <a:r>
              <a:rPr dirty="0" sz="1550" spc="75">
                <a:latin typeface="Trebuchet MS"/>
                <a:cs typeface="Trebuchet MS"/>
              </a:rPr>
              <a:t>responses</a:t>
            </a:r>
            <a:r>
              <a:rPr dirty="0" sz="1550" spc="45">
                <a:latin typeface="Trebuchet MS"/>
                <a:cs typeface="Trebuchet MS"/>
              </a:rPr>
              <a:t> </a:t>
            </a:r>
            <a:r>
              <a:rPr dirty="0" sz="1550" spc="85">
                <a:latin typeface="Trebuchet MS"/>
                <a:cs typeface="Trebuchet MS"/>
              </a:rPr>
              <a:t>change</a:t>
            </a:r>
            <a:r>
              <a:rPr dirty="0" sz="1550" spc="55">
                <a:latin typeface="Trebuchet MS"/>
                <a:cs typeface="Trebuchet MS"/>
              </a:rPr>
              <a:t> </a:t>
            </a:r>
            <a:r>
              <a:rPr dirty="0" sz="1550" spc="60">
                <a:latin typeface="Trebuchet MS"/>
                <a:cs typeface="Trebuchet MS"/>
              </a:rPr>
              <a:t>across </a:t>
            </a:r>
            <a:r>
              <a:rPr dirty="0" sz="1550" spc="-10">
                <a:latin typeface="Trebuchet MS"/>
                <a:cs typeface="Trebuchet MS"/>
              </a:rPr>
              <a:t>cultures.</a:t>
            </a:r>
            <a:endParaRPr sz="155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90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550" spc="60" b="1">
                <a:latin typeface="Trebuchet MS"/>
                <a:cs typeface="Trebuchet MS"/>
              </a:rPr>
              <a:t>Comparing</a:t>
            </a:r>
            <a:r>
              <a:rPr dirty="0" sz="1550" spc="45" b="1">
                <a:latin typeface="Trebuchet MS"/>
                <a:cs typeface="Trebuchet MS"/>
              </a:rPr>
              <a:t> </a:t>
            </a:r>
            <a:r>
              <a:rPr dirty="0" sz="1550" spc="55" b="1">
                <a:latin typeface="Trebuchet MS"/>
                <a:cs typeface="Trebuchet MS"/>
              </a:rPr>
              <a:t>age</a:t>
            </a:r>
            <a:r>
              <a:rPr dirty="0" sz="1550" spc="25" b="1">
                <a:latin typeface="Trebuchet MS"/>
                <a:cs typeface="Trebuchet MS"/>
              </a:rPr>
              <a:t> </a:t>
            </a:r>
            <a:r>
              <a:rPr dirty="0" sz="1550" spc="50" b="1">
                <a:latin typeface="Trebuchet MS"/>
                <a:cs typeface="Trebuchet MS"/>
              </a:rPr>
              <a:t>groups</a:t>
            </a:r>
            <a:r>
              <a:rPr dirty="0" sz="1550" spc="35" b="1">
                <a:latin typeface="Trebuchet MS"/>
                <a:cs typeface="Trebuchet MS"/>
              </a:rPr>
              <a:t> </a:t>
            </a:r>
            <a:r>
              <a:rPr dirty="0" sz="1550" spc="250" b="1">
                <a:latin typeface="Trebuchet MS"/>
                <a:cs typeface="Trebuchet MS"/>
              </a:rPr>
              <a:t>-</a:t>
            </a:r>
            <a:r>
              <a:rPr dirty="0" sz="1550" spc="25" b="1">
                <a:latin typeface="Trebuchet MS"/>
                <a:cs typeface="Trebuchet MS"/>
              </a:rPr>
              <a:t> </a:t>
            </a:r>
            <a:r>
              <a:rPr dirty="0" sz="1550" spc="65">
                <a:latin typeface="Trebuchet MS"/>
                <a:cs typeface="Trebuchet MS"/>
              </a:rPr>
              <a:t>since</a:t>
            </a:r>
            <a:r>
              <a:rPr dirty="0" sz="1550" spc="20">
                <a:latin typeface="Trebuchet MS"/>
                <a:cs typeface="Trebuchet MS"/>
              </a:rPr>
              <a:t> </a:t>
            </a:r>
            <a:r>
              <a:rPr dirty="0" sz="1550" spc="45">
                <a:latin typeface="Trebuchet MS"/>
                <a:cs typeface="Trebuchet MS"/>
              </a:rPr>
              <a:t>students</a:t>
            </a:r>
            <a:r>
              <a:rPr dirty="0" sz="1550" spc="1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and</a:t>
            </a:r>
            <a:r>
              <a:rPr dirty="0" sz="1550" spc="30">
                <a:latin typeface="Trebuchet MS"/>
                <a:cs typeface="Trebuchet MS"/>
              </a:rPr>
              <a:t> </a:t>
            </a:r>
            <a:r>
              <a:rPr dirty="0" sz="1550" spc="45">
                <a:latin typeface="Trebuchet MS"/>
                <a:cs typeface="Trebuchet MS"/>
              </a:rPr>
              <a:t>working</a:t>
            </a:r>
            <a:r>
              <a:rPr dirty="0" sz="1550" spc="3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adults</a:t>
            </a:r>
            <a:r>
              <a:rPr dirty="0" sz="1550" spc="10">
                <a:latin typeface="Trebuchet MS"/>
                <a:cs typeface="Trebuchet MS"/>
              </a:rPr>
              <a:t> </a:t>
            </a:r>
            <a:r>
              <a:rPr dirty="0" sz="1550" spc="80">
                <a:latin typeface="Trebuchet MS"/>
                <a:cs typeface="Trebuchet MS"/>
              </a:rPr>
              <a:t>may</a:t>
            </a:r>
            <a:r>
              <a:rPr dirty="0" sz="1550" spc="2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face</a:t>
            </a:r>
            <a:r>
              <a:rPr dirty="0" sz="1550" spc="2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different</a:t>
            </a:r>
            <a:r>
              <a:rPr dirty="0" sz="1550" spc="55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risks.</a:t>
            </a:r>
            <a:endParaRPr sz="155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550" b="1">
                <a:latin typeface="Trebuchet MS"/>
                <a:cs typeface="Trebuchet MS"/>
              </a:rPr>
              <a:t>Studying</a:t>
            </a:r>
            <a:r>
              <a:rPr dirty="0" sz="1550" spc="125" b="1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how</a:t>
            </a:r>
            <a:r>
              <a:rPr dirty="0" sz="1550" spc="75" b="1">
                <a:latin typeface="Trebuchet MS"/>
                <a:cs typeface="Trebuchet MS"/>
              </a:rPr>
              <a:t> </a:t>
            </a:r>
            <a:r>
              <a:rPr dirty="0" sz="1550" spc="70" b="1">
                <a:latin typeface="Trebuchet MS"/>
                <a:cs typeface="Trebuchet MS"/>
              </a:rPr>
              <a:t>scams</a:t>
            </a:r>
            <a:r>
              <a:rPr dirty="0" sz="1550" spc="155" b="1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move</a:t>
            </a:r>
            <a:r>
              <a:rPr dirty="0" sz="1550" spc="110" b="1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through</a:t>
            </a:r>
            <a:r>
              <a:rPr dirty="0" sz="1550" spc="195" b="1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social</a:t>
            </a:r>
            <a:r>
              <a:rPr dirty="0" sz="1550" spc="155" b="1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circles</a:t>
            </a:r>
            <a:r>
              <a:rPr dirty="0" sz="1550" spc="100" b="1">
                <a:latin typeface="Trebuchet MS"/>
                <a:cs typeface="Trebuchet MS"/>
              </a:rPr>
              <a:t> </a:t>
            </a:r>
            <a:r>
              <a:rPr dirty="0" sz="1550" spc="240">
                <a:latin typeface="Trebuchet MS"/>
                <a:cs typeface="Trebuchet MS"/>
              </a:rPr>
              <a:t>-</a:t>
            </a:r>
            <a:r>
              <a:rPr dirty="0" sz="1550" spc="114">
                <a:latin typeface="Trebuchet MS"/>
                <a:cs typeface="Trebuchet MS"/>
              </a:rPr>
              <a:t> </a:t>
            </a:r>
            <a:r>
              <a:rPr dirty="0" sz="1550" spc="75">
                <a:latin typeface="Trebuchet MS"/>
                <a:cs typeface="Trebuchet MS"/>
              </a:rPr>
              <a:t>using</a:t>
            </a:r>
            <a:r>
              <a:rPr dirty="0" sz="1550" spc="11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simple</a:t>
            </a:r>
            <a:r>
              <a:rPr dirty="0" sz="1550" spc="10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network</a:t>
            </a:r>
            <a:r>
              <a:rPr dirty="0" sz="1550" spc="10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analysis.</a:t>
            </a:r>
            <a:endParaRPr sz="155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550" b="1">
                <a:latin typeface="Trebuchet MS"/>
                <a:cs typeface="Trebuchet MS"/>
              </a:rPr>
              <a:t>Examining</a:t>
            </a:r>
            <a:r>
              <a:rPr dirty="0" sz="1550" spc="85" b="1">
                <a:latin typeface="Trebuchet MS"/>
                <a:cs typeface="Trebuchet MS"/>
              </a:rPr>
              <a:t> </a:t>
            </a:r>
            <a:r>
              <a:rPr dirty="0" sz="1550" spc="55" b="1">
                <a:latin typeface="Trebuchet MS"/>
                <a:cs typeface="Trebuchet MS"/>
              </a:rPr>
              <a:t>scam</a:t>
            </a:r>
            <a:r>
              <a:rPr dirty="0" sz="1550" spc="85" b="1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visuals</a:t>
            </a:r>
            <a:r>
              <a:rPr dirty="0" sz="1550" spc="55" b="1">
                <a:latin typeface="Trebuchet MS"/>
                <a:cs typeface="Trebuchet MS"/>
              </a:rPr>
              <a:t> </a:t>
            </a:r>
            <a:r>
              <a:rPr dirty="0" sz="1550" spc="415">
                <a:latin typeface="Trebuchet MS"/>
                <a:cs typeface="Trebuchet MS"/>
              </a:rPr>
              <a:t>–</a:t>
            </a:r>
            <a:r>
              <a:rPr dirty="0" sz="1550" spc="6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to</a:t>
            </a:r>
            <a:r>
              <a:rPr dirty="0" sz="1550" spc="20">
                <a:latin typeface="Trebuchet MS"/>
                <a:cs typeface="Trebuchet MS"/>
              </a:rPr>
              <a:t> </a:t>
            </a:r>
            <a:r>
              <a:rPr dirty="0" sz="1550" spc="75">
                <a:latin typeface="Trebuchet MS"/>
                <a:cs typeface="Trebuchet MS"/>
              </a:rPr>
              <a:t>spot</a:t>
            </a:r>
            <a:r>
              <a:rPr dirty="0" sz="1550" spc="105">
                <a:latin typeface="Trebuchet MS"/>
                <a:cs typeface="Trebuchet MS"/>
              </a:rPr>
              <a:t> </a:t>
            </a:r>
            <a:r>
              <a:rPr dirty="0" sz="1550" spc="100">
                <a:latin typeface="Trebuchet MS"/>
                <a:cs typeface="Trebuchet MS"/>
              </a:rPr>
              <a:t>common</a:t>
            </a:r>
            <a:r>
              <a:rPr dirty="0" sz="1550" spc="6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tricks</a:t>
            </a:r>
            <a:r>
              <a:rPr dirty="0" sz="1550" spc="5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in</a:t>
            </a:r>
            <a:r>
              <a:rPr dirty="0" sz="1550" spc="6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fake</a:t>
            </a:r>
            <a:r>
              <a:rPr dirty="0" sz="1550" spc="65">
                <a:latin typeface="Trebuchet MS"/>
                <a:cs typeface="Trebuchet MS"/>
              </a:rPr>
              <a:t> </a:t>
            </a:r>
            <a:r>
              <a:rPr dirty="0" sz="1550" spc="95">
                <a:latin typeface="Trebuchet MS"/>
                <a:cs typeface="Trebuchet MS"/>
              </a:rPr>
              <a:t>logos</a:t>
            </a:r>
            <a:r>
              <a:rPr dirty="0" sz="1550" spc="5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or</a:t>
            </a:r>
            <a:r>
              <a:rPr dirty="0" sz="1550" spc="9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websites.</a:t>
            </a:r>
            <a:endParaRPr sz="1550">
              <a:latin typeface="Trebuchet MS"/>
              <a:cs typeface="Trebuchet MS"/>
            </a:endParaRPr>
          </a:p>
          <a:p>
            <a:pPr marL="298450" marR="5080" indent="-286385">
              <a:lnSpc>
                <a:spcPct val="101000"/>
              </a:lnSpc>
              <a:spcBef>
                <a:spcPts val="75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550" spc="50" b="1">
                <a:latin typeface="Trebuchet MS"/>
                <a:cs typeface="Trebuchet MS"/>
              </a:rPr>
              <a:t>Observing</a:t>
            </a:r>
            <a:r>
              <a:rPr dirty="0" sz="1550" spc="75" b="1">
                <a:latin typeface="Trebuchet MS"/>
                <a:cs typeface="Trebuchet MS"/>
              </a:rPr>
              <a:t> </a:t>
            </a:r>
            <a:r>
              <a:rPr dirty="0" sz="1550" spc="-20" b="1">
                <a:latin typeface="Trebuchet MS"/>
                <a:cs typeface="Trebuchet MS"/>
              </a:rPr>
              <a:t>real</a:t>
            </a:r>
            <a:r>
              <a:rPr dirty="0" sz="1550" spc="25" b="1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online</a:t>
            </a:r>
            <a:r>
              <a:rPr dirty="0" sz="1550" spc="95" b="1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behaviour</a:t>
            </a:r>
            <a:r>
              <a:rPr dirty="0" sz="1550" spc="35" b="1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(with</a:t>
            </a:r>
            <a:r>
              <a:rPr dirty="0" sz="1550" spc="50" b="1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consent)</a:t>
            </a:r>
            <a:r>
              <a:rPr dirty="0" sz="1550" spc="100" b="1">
                <a:latin typeface="Trebuchet MS"/>
                <a:cs typeface="Trebuchet MS"/>
              </a:rPr>
              <a:t> </a:t>
            </a:r>
            <a:r>
              <a:rPr dirty="0" sz="1550" spc="240">
                <a:latin typeface="Trebuchet MS"/>
                <a:cs typeface="Trebuchet MS"/>
              </a:rPr>
              <a:t>-</a:t>
            </a:r>
            <a:r>
              <a:rPr dirty="0" sz="1550" spc="6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to</a:t>
            </a:r>
            <a:r>
              <a:rPr dirty="0" sz="1550" spc="15">
                <a:latin typeface="Trebuchet MS"/>
                <a:cs typeface="Trebuchet MS"/>
              </a:rPr>
              <a:t> </a:t>
            </a:r>
            <a:r>
              <a:rPr dirty="0" sz="1550" spc="45">
                <a:latin typeface="Trebuchet MS"/>
                <a:cs typeface="Trebuchet MS"/>
              </a:rPr>
              <a:t>understand</a:t>
            </a:r>
            <a:r>
              <a:rPr dirty="0" sz="1550" spc="70">
                <a:latin typeface="Trebuchet MS"/>
                <a:cs typeface="Trebuchet MS"/>
              </a:rPr>
              <a:t> how</a:t>
            </a:r>
            <a:r>
              <a:rPr dirty="0" sz="1550" spc="6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people</a:t>
            </a:r>
            <a:r>
              <a:rPr dirty="0" sz="1550" spc="6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actually</a:t>
            </a:r>
            <a:r>
              <a:rPr dirty="0" sz="1550" spc="7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interact </a:t>
            </a:r>
            <a:r>
              <a:rPr dirty="0" sz="1550">
                <a:latin typeface="Trebuchet MS"/>
                <a:cs typeface="Trebuchet MS"/>
              </a:rPr>
              <a:t>with</a:t>
            </a:r>
            <a:r>
              <a:rPr dirty="0" sz="1550" spc="-10">
                <a:latin typeface="Trebuchet MS"/>
                <a:cs typeface="Trebuchet MS"/>
              </a:rPr>
              <a:t> </a:t>
            </a:r>
            <a:r>
              <a:rPr dirty="0" sz="1550" spc="110">
                <a:latin typeface="Trebuchet MS"/>
                <a:cs typeface="Trebuchet MS"/>
              </a:rPr>
              <a:t>scam</a:t>
            </a:r>
            <a:r>
              <a:rPr dirty="0" sz="1550" spc="-5">
                <a:latin typeface="Trebuchet MS"/>
                <a:cs typeface="Trebuchet MS"/>
              </a:rPr>
              <a:t> </a:t>
            </a:r>
            <a:r>
              <a:rPr dirty="0" sz="1550" spc="60">
                <a:latin typeface="Trebuchet MS"/>
                <a:cs typeface="Trebuchet MS"/>
              </a:rPr>
              <a:t>messages.</a:t>
            </a:r>
            <a:endParaRPr sz="155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90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550" b="1">
                <a:latin typeface="Trebuchet MS"/>
                <a:cs typeface="Trebuchet MS"/>
              </a:rPr>
              <a:t>Expand</a:t>
            </a:r>
            <a:r>
              <a:rPr dirty="0" sz="1550" spc="85" b="1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to</a:t>
            </a:r>
            <a:r>
              <a:rPr dirty="0" sz="1550" spc="30" b="1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other</a:t>
            </a:r>
            <a:r>
              <a:rPr dirty="0" sz="1550" spc="55" b="1">
                <a:latin typeface="Trebuchet MS"/>
                <a:cs typeface="Trebuchet MS"/>
              </a:rPr>
              <a:t> scam</a:t>
            </a:r>
            <a:r>
              <a:rPr dirty="0" sz="1550" spc="90" b="1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types</a:t>
            </a:r>
            <a:r>
              <a:rPr dirty="0" sz="1550" spc="105" b="1">
                <a:latin typeface="Trebuchet MS"/>
                <a:cs typeface="Trebuchet MS"/>
              </a:rPr>
              <a:t> </a:t>
            </a:r>
            <a:r>
              <a:rPr dirty="0" sz="1550" spc="245">
                <a:latin typeface="Trebuchet MS"/>
                <a:cs typeface="Trebuchet MS"/>
              </a:rPr>
              <a:t>-</a:t>
            </a:r>
            <a:r>
              <a:rPr dirty="0" sz="1550" spc="7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to</a:t>
            </a:r>
            <a:r>
              <a:rPr dirty="0" sz="1550" spc="20">
                <a:latin typeface="Trebuchet MS"/>
                <a:cs typeface="Trebuchet MS"/>
              </a:rPr>
              <a:t> </a:t>
            </a:r>
            <a:r>
              <a:rPr dirty="0" sz="1550" spc="45">
                <a:latin typeface="Trebuchet MS"/>
                <a:cs typeface="Trebuchet MS"/>
              </a:rPr>
              <a:t>understand</a:t>
            </a:r>
            <a:r>
              <a:rPr dirty="0" sz="1550" spc="7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patterns</a:t>
            </a:r>
            <a:r>
              <a:rPr dirty="0" sz="1550" spc="55">
                <a:latin typeface="Trebuchet MS"/>
                <a:cs typeface="Trebuchet MS"/>
              </a:rPr>
              <a:t> </a:t>
            </a:r>
            <a:r>
              <a:rPr dirty="0" sz="1550" spc="75">
                <a:latin typeface="Trebuchet MS"/>
                <a:cs typeface="Trebuchet MS"/>
              </a:rPr>
              <a:t>beyond</a:t>
            </a:r>
            <a:r>
              <a:rPr dirty="0" sz="1550" spc="7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the</a:t>
            </a:r>
            <a:r>
              <a:rPr dirty="0" sz="1550" spc="6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two</a:t>
            </a:r>
            <a:r>
              <a:rPr dirty="0" sz="1550" spc="10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explored</a:t>
            </a:r>
            <a:r>
              <a:rPr dirty="0" sz="1550" spc="75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here.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Future</a:t>
            </a:r>
            <a:r>
              <a:rPr dirty="0" spc="-80"/>
              <a:t> </a:t>
            </a:r>
            <a:r>
              <a:rPr dirty="0" spc="-10"/>
              <a:t>Research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0522" y="1356677"/>
            <a:ext cx="8416290" cy="21609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30200" indent="-317500">
              <a:lnSpc>
                <a:spcPts val="1664"/>
              </a:lnSpc>
              <a:spcBef>
                <a:spcPts val="125"/>
              </a:spcBef>
              <a:buClr>
                <a:srgbClr val="2F251C"/>
              </a:buClr>
              <a:buFont typeface="Times New Roman"/>
              <a:buChar char="●"/>
              <a:tabLst>
                <a:tab pos="330200" algn="l"/>
              </a:tabLst>
            </a:pP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Kahneman,</a:t>
            </a:r>
            <a:r>
              <a:rPr dirty="0" sz="1400" spc="3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-55">
                <a:solidFill>
                  <a:srgbClr val="2F251C"/>
                </a:solidFill>
                <a:latin typeface="Trebuchet MS"/>
                <a:cs typeface="Trebuchet MS"/>
              </a:rPr>
              <a:t>D.,</a:t>
            </a:r>
            <a:r>
              <a:rPr dirty="0" sz="1400" spc="3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&amp;</a:t>
            </a:r>
            <a:r>
              <a:rPr dirty="0" sz="1400" spc="8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Tversky,</a:t>
            </a:r>
            <a:r>
              <a:rPr dirty="0" sz="1400" spc="3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2F251C"/>
                </a:solidFill>
                <a:latin typeface="Trebuchet MS"/>
                <a:cs typeface="Trebuchet MS"/>
              </a:rPr>
              <a:t>A. </a:t>
            </a:r>
            <a:r>
              <a:rPr dirty="0" sz="1400" spc="-25">
                <a:solidFill>
                  <a:srgbClr val="2F251C"/>
                </a:solidFill>
                <a:latin typeface="Trebuchet MS"/>
                <a:cs typeface="Trebuchet MS"/>
              </a:rPr>
              <a:t>(1979).</a:t>
            </a:r>
            <a:r>
              <a:rPr dirty="0" sz="1400" spc="-1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Prospect</a:t>
            </a:r>
            <a:r>
              <a:rPr dirty="0" sz="1400" spc="6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Theory:</a:t>
            </a:r>
            <a:r>
              <a:rPr dirty="0" sz="1400" spc="-3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90">
                <a:solidFill>
                  <a:srgbClr val="2F251C"/>
                </a:solidFill>
                <a:latin typeface="Trebuchet MS"/>
                <a:cs typeface="Trebuchet MS"/>
              </a:rPr>
              <a:t>An</a:t>
            </a:r>
            <a:r>
              <a:rPr dirty="0" sz="1400" spc="6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analysis</a:t>
            </a:r>
            <a:r>
              <a:rPr dirty="0" sz="1400" spc="3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of</a:t>
            </a:r>
            <a:r>
              <a:rPr dirty="0" sz="1400" spc="2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decision</a:t>
            </a:r>
            <a:r>
              <a:rPr dirty="0" sz="1400" spc="5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under</a:t>
            </a:r>
            <a:r>
              <a:rPr dirty="0" sz="1400" spc="-4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2F251C"/>
                </a:solidFill>
                <a:latin typeface="Trebuchet MS"/>
                <a:cs typeface="Trebuchet MS"/>
              </a:rPr>
              <a:t>risk.</a:t>
            </a:r>
            <a:endParaRPr sz="1400">
              <a:latin typeface="Trebuchet MS"/>
              <a:cs typeface="Trebuchet MS"/>
            </a:endParaRPr>
          </a:p>
          <a:p>
            <a:pPr marL="330200">
              <a:lnSpc>
                <a:spcPts val="1664"/>
              </a:lnSpc>
            </a:pPr>
            <a:r>
              <a:rPr dirty="0" sz="1400" i="1">
                <a:solidFill>
                  <a:srgbClr val="2F251C"/>
                </a:solidFill>
                <a:latin typeface="Trebuchet MS"/>
                <a:cs typeface="Trebuchet MS"/>
              </a:rPr>
              <a:t>Econometrica,</a:t>
            </a:r>
            <a:r>
              <a:rPr dirty="0" sz="1400" spc="60" i="1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50" i="1">
                <a:solidFill>
                  <a:srgbClr val="2F251C"/>
                </a:solidFill>
                <a:latin typeface="Trebuchet MS"/>
                <a:cs typeface="Trebuchet MS"/>
              </a:rPr>
              <a:t>47</a:t>
            </a:r>
            <a:r>
              <a:rPr dirty="0" sz="1400" spc="50">
                <a:solidFill>
                  <a:srgbClr val="2F251C"/>
                </a:solidFill>
                <a:latin typeface="Trebuchet MS"/>
                <a:cs typeface="Trebuchet MS"/>
              </a:rPr>
              <a:t>(2),</a:t>
            </a:r>
            <a:r>
              <a:rPr dirty="0" sz="1400" spc="6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114">
                <a:solidFill>
                  <a:srgbClr val="2F251C"/>
                </a:solidFill>
                <a:latin typeface="Trebuchet MS"/>
                <a:cs typeface="Trebuchet MS"/>
              </a:rPr>
              <a:t>263-</a:t>
            </a:r>
            <a:r>
              <a:rPr dirty="0" sz="1400" spc="-20">
                <a:solidFill>
                  <a:srgbClr val="2F251C"/>
                </a:solidFill>
                <a:latin typeface="Trebuchet MS"/>
                <a:cs typeface="Trebuchet MS"/>
              </a:rPr>
              <a:t>291.</a:t>
            </a:r>
            <a:endParaRPr sz="1400">
              <a:latin typeface="Trebuchet MS"/>
              <a:cs typeface="Trebuchet MS"/>
            </a:endParaRPr>
          </a:p>
          <a:p>
            <a:pPr marL="330200" marR="5080" indent="-318135">
              <a:lnSpc>
                <a:spcPts val="1660"/>
              </a:lnSpc>
              <a:spcBef>
                <a:spcPts val="120"/>
              </a:spcBef>
              <a:buFont typeface="Times New Roman"/>
              <a:buChar char="●"/>
              <a:tabLst>
                <a:tab pos="330200" algn="l"/>
              </a:tabLst>
            </a:pP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Arkes,</a:t>
            </a:r>
            <a:r>
              <a:rPr dirty="0" sz="1400" spc="-1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-30">
                <a:solidFill>
                  <a:srgbClr val="2F251C"/>
                </a:solidFill>
                <a:latin typeface="Trebuchet MS"/>
                <a:cs typeface="Trebuchet MS"/>
              </a:rPr>
              <a:t>H.</a:t>
            </a:r>
            <a:r>
              <a:rPr dirty="0" sz="1400" spc="-5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-100">
                <a:solidFill>
                  <a:srgbClr val="2F251C"/>
                </a:solidFill>
                <a:latin typeface="Trebuchet MS"/>
                <a:cs typeface="Trebuchet MS"/>
              </a:rPr>
              <a:t>R.,</a:t>
            </a:r>
            <a:r>
              <a:rPr dirty="0" sz="1400" spc="-1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&amp;</a:t>
            </a:r>
            <a:r>
              <a:rPr dirty="0" sz="1400" spc="3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Blumer,</a:t>
            </a:r>
            <a:r>
              <a:rPr dirty="0" sz="1400" spc="-1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C.</a:t>
            </a:r>
            <a:r>
              <a:rPr dirty="0" sz="1400" spc="3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(1985).</a:t>
            </a:r>
            <a:r>
              <a:rPr dirty="0" sz="1400" spc="3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The</a:t>
            </a:r>
            <a:r>
              <a:rPr dirty="0" sz="1400" spc="-7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60">
                <a:solidFill>
                  <a:srgbClr val="2F251C"/>
                </a:solidFill>
                <a:latin typeface="Trebuchet MS"/>
                <a:cs typeface="Trebuchet MS"/>
              </a:rPr>
              <a:t>psychology</a:t>
            </a:r>
            <a:r>
              <a:rPr dirty="0" sz="1400" spc="-7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of</a:t>
            </a:r>
            <a:r>
              <a:rPr dirty="0" sz="1400" spc="5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sunk cost.</a:t>
            </a:r>
            <a:r>
              <a:rPr dirty="0" sz="1400" spc="-12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i="1">
                <a:solidFill>
                  <a:srgbClr val="2F251C"/>
                </a:solidFill>
                <a:latin typeface="Trebuchet MS"/>
                <a:cs typeface="Trebuchet MS"/>
              </a:rPr>
              <a:t>Organizational</a:t>
            </a:r>
            <a:r>
              <a:rPr dirty="0" sz="1400" spc="25" i="1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i="1">
                <a:solidFill>
                  <a:srgbClr val="2F251C"/>
                </a:solidFill>
                <a:latin typeface="Trebuchet MS"/>
                <a:cs typeface="Trebuchet MS"/>
              </a:rPr>
              <a:t>Behavior</a:t>
            </a:r>
            <a:r>
              <a:rPr dirty="0" sz="1400" spc="-5" i="1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i="1">
                <a:solidFill>
                  <a:srgbClr val="2F251C"/>
                </a:solidFill>
                <a:latin typeface="Trebuchet MS"/>
                <a:cs typeface="Trebuchet MS"/>
              </a:rPr>
              <a:t>and</a:t>
            </a:r>
            <a:r>
              <a:rPr dirty="0" sz="1400" spc="-65" i="1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-10" i="1">
                <a:solidFill>
                  <a:srgbClr val="2F251C"/>
                </a:solidFill>
                <a:latin typeface="Trebuchet MS"/>
                <a:cs typeface="Trebuchet MS"/>
              </a:rPr>
              <a:t>Human</a:t>
            </a:r>
            <a:r>
              <a:rPr dirty="0" sz="1400" spc="-10" i="1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45" i="1">
                <a:solidFill>
                  <a:srgbClr val="2F251C"/>
                </a:solidFill>
                <a:latin typeface="Trebuchet MS"/>
                <a:cs typeface="Trebuchet MS"/>
              </a:rPr>
              <a:t>Decision</a:t>
            </a:r>
            <a:r>
              <a:rPr dirty="0" sz="1400" spc="190" i="1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i="1">
                <a:solidFill>
                  <a:srgbClr val="2F251C"/>
                </a:solidFill>
                <a:latin typeface="Trebuchet MS"/>
                <a:cs typeface="Trebuchet MS"/>
              </a:rPr>
              <a:t>Processes,</a:t>
            </a:r>
            <a:r>
              <a:rPr dirty="0" sz="1400" spc="155" i="1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-25" i="1">
                <a:solidFill>
                  <a:srgbClr val="2F251C"/>
                </a:solidFill>
                <a:latin typeface="Trebuchet MS"/>
                <a:cs typeface="Trebuchet MS"/>
              </a:rPr>
              <a:t>35</a:t>
            </a:r>
            <a:r>
              <a:rPr dirty="0" sz="1400" spc="-25">
                <a:solidFill>
                  <a:srgbClr val="2F251C"/>
                </a:solidFill>
                <a:latin typeface="Trebuchet MS"/>
                <a:cs typeface="Trebuchet MS"/>
              </a:rPr>
              <a:t>(1),</a:t>
            </a:r>
            <a:r>
              <a:rPr dirty="0" sz="1400" spc="15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124-</a:t>
            </a:r>
            <a:r>
              <a:rPr dirty="0" sz="1400" spc="-20">
                <a:solidFill>
                  <a:srgbClr val="2F251C"/>
                </a:solidFill>
                <a:latin typeface="Trebuchet MS"/>
                <a:cs typeface="Trebuchet MS"/>
              </a:rPr>
              <a:t>140.</a:t>
            </a:r>
            <a:endParaRPr sz="1400">
              <a:latin typeface="Trebuchet MS"/>
              <a:cs typeface="Trebuchet MS"/>
            </a:endParaRPr>
          </a:p>
          <a:p>
            <a:pPr marL="330200" indent="-317500">
              <a:lnSpc>
                <a:spcPts val="1595"/>
              </a:lnSpc>
              <a:buFont typeface="Times New Roman"/>
              <a:buChar char="●"/>
              <a:tabLst>
                <a:tab pos="330200" algn="l"/>
              </a:tabLst>
            </a:pP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Cialdini,</a:t>
            </a:r>
            <a:r>
              <a:rPr dirty="0" sz="1400" spc="2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-60">
                <a:solidFill>
                  <a:srgbClr val="2F251C"/>
                </a:solidFill>
                <a:latin typeface="Trebuchet MS"/>
                <a:cs typeface="Trebuchet MS"/>
              </a:rPr>
              <a:t>R.</a:t>
            </a:r>
            <a:r>
              <a:rPr dirty="0" sz="1400" spc="-1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B.</a:t>
            </a:r>
            <a:r>
              <a:rPr dirty="0" sz="1400" spc="-1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55">
                <a:solidFill>
                  <a:srgbClr val="2F251C"/>
                </a:solidFill>
                <a:latin typeface="Trebuchet MS"/>
                <a:cs typeface="Trebuchet MS"/>
              </a:rPr>
              <a:t>(2006).</a:t>
            </a:r>
            <a:r>
              <a:rPr dirty="0" sz="1400" spc="-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-20" i="1">
                <a:solidFill>
                  <a:srgbClr val="2F251C"/>
                </a:solidFill>
                <a:latin typeface="Trebuchet MS"/>
                <a:cs typeface="Trebuchet MS"/>
              </a:rPr>
              <a:t>Influence:</a:t>
            </a:r>
            <a:r>
              <a:rPr dirty="0" sz="1400" spc="45" i="1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i="1">
                <a:solidFill>
                  <a:srgbClr val="2F251C"/>
                </a:solidFill>
                <a:latin typeface="Trebuchet MS"/>
                <a:cs typeface="Trebuchet MS"/>
              </a:rPr>
              <a:t>The</a:t>
            </a:r>
            <a:r>
              <a:rPr dirty="0" sz="1400" spc="-40" i="1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55" i="1">
                <a:solidFill>
                  <a:srgbClr val="2F251C"/>
                </a:solidFill>
                <a:latin typeface="Trebuchet MS"/>
                <a:cs typeface="Trebuchet MS"/>
              </a:rPr>
              <a:t>psychology</a:t>
            </a:r>
            <a:r>
              <a:rPr dirty="0" sz="1400" spc="-45" i="1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i="1">
                <a:solidFill>
                  <a:srgbClr val="2F251C"/>
                </a:solidFill>
                <a:latin typeface="Trebuchet MS"/>
                <a:cs typeface="Trebuchet MS"/>
              </a:rPr>
              <a:t>of</a:t>
            </a:r>
            <a:r>
              <a:rPr dirty="0" sz="1400" spc="5" i="1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i="1">
                <a:solidFill>
                  <a:srgbClr val="2F251C"/>
                </a:solidFill>
                <a:latin typeface="Trebuchet MS"/>
                <a:cs typeface="Trebuchet MS"/>
              </a:rPr>
              <a:t>persuasion</a:t>
            </a:r>
            <a:r>
              <a:rPr dirty="0" sz="1400" spc="-30" i="1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(Revised</a:t>
            </a:r>
            <a:r>
              <a:rPr dirty="0" sz="1400" spc="-2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-40">
                <a:solidFill>
                  <a:srgbClr val="2F251C"/>
                </a:solidFill>
                <a:latin typeface="Trebuchet MS"/>
                <a:cs typeface="Trebuchet MS"/>
              </a:rPr>
              <a:t>ed.).</a:t>
            </a:r>
            <a:r>
              <a:rPr dirty="0" sz="1400" spc="6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Harper</a:t>
            </a:r>
            <a:r>
              <a:rPr dirty="0" sz="1400" spc="3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2F251C"/>
                </a:solidFill>
                <a:latin typeface="Trebuchet MS"/>
                <a:cs typeface="Trebuchet MS"/>
              </a:rPr>
              <a:t>Business.</a:t>
            </a:r>
            <a:endParaRPr sz="1400">
              <a:latin typeface="Trebuchet MS"/>
              <a:cs typeface="Trebuchet MS"/>
            </a:endParaRPr>
          </a:p>
          <a:p>
            <a:pPr marL="330200" marR="54610" indent="-318135">
              <a:lnSpc>
                <a:spcPts val="1650"/>
              </a:lnSpc>
              <a:spcBef>
                <a:spcPts val="130"/>
              </a:spcBef>
              <a:buFont typeface="Times New Roman"/>
              <a:buChar char="●"/>
              <a:tabLst>
                <a:tab pos="330200" algn="l"/>
              </a:tabLst>
            </a:pPr>
            <a:r>
              <a:rPr dirty="0" sz="1400" spc="-25">
                <a:solidFill>
                  <a:srgbClr val="2F251C"/>
                </a:solidFill>
                <a:latin typeface="Trebuchet MS"/>
                <a:cs typeface="Trebuchet MS"/>
              </a:rPr>
              <a:t>Galai,</a:t>
            </a:r>
            <a:r>
              <a:rPr dirty="0" sz="1400" spc="-3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-20">
                <a:solidFill>
                  <a:srgbClr val="2F251C"/>
                </a:solidFill>
                <a:latin typeface="Trebuchet MS"/>
                <a:cs typeface="Trebuchet MS"/>
              </a:rPr>
              <a:t>D.,</a:t>
            </a:r>
            <a:r>
              <a:rPr dirty="0" sz="1400" spc="4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&amp;</a:t>
            </a:r>
            <a:r>
              <a:rPr dirty="0" sz="1400" spc="-6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Sade,</a:t>
            </a:r>
            <a:r>
              <a:rPr dirty="0" sz="1400" spc="-3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O.</a:t>
            </a:r>
            <a:r>
              <a:rPr dirty="0" sz="1400" spc="-6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55">
                <a:solidFill>
                  <a:srgbClr val="2F251C"/>
                </a:solidFill>
                <a:latin typeface="Trebuchet MS"/>
                <a:cs typeface="Trebuchet MS"/>
              </a:rPr>
              <a:t>(2006).</a:t>
            </a:r>
            <a:r>
              <a:rPr dirty="0" sz="1400" spc="1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The</a:t>
            </a:r>
            <a:r>
              <a:rPr dirty="0" sz="1400" spc="-1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"ostrich</a:t>
            </a:r>
            <a:r>
              <a:rPr dirty="0" sz="1400" spc="-1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effect"</a:t>
            </a:r>
            <a:r>
              <a:rPr dirty="0" sz="1400" spc="-1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and</a:t>
            </a:r>
            <a:r>
              <a:rPr dirty="0" sz="1400" spc="1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the</a:t>
            </a:r>
            <a:r>
              <a:rPr dirty="0" sz="1400" spc="-1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relationship</a:t>
            </a:r>
            <a:r>
              <a:rPr dirty="0" sz="1400" spc="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between</a:t>
            </a:r>
            <a:r>
              <a:rPr dirty="0" sz="1400" spc="-1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the</a:t>
            </a:r>
            <a:r>
              <a:rPr dirty="0" sz="1400" spc="-8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liquidity</a:t>
            </a:r>
            <a:r>
              <a:rPr dirty="0" sz="1400" spc="-1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and</a:t>
            </a:r>
            <a:r>
              <a:rPr dirty="0" sz="1400" spc="-7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-25">
                <a:solidFill>
                  <a:srgbClr val="2F251C"/>
                </a:solidFill>
                <a:latin typeface="Trebuchet MS"/>
                <a:cs typeface="Trebuchet MS"/>
              </a:rPr>
              <a:t>the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yields</a:t>
            </a:r>
            <a:r>
              <a:rPr dirty="0" sz="1400" spc="3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of</a:t>
            </a:r>
            <a:r>
              <a:rPr dirty="0" sz="1400" spc="3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2F251C"/>
                </a:solidFill>
                <a:latin typeface="Trebuchet MS"/>
                <a:cs typeface="Trebuchet MS"/>
              </a:rPr>
              <a:t>financial</a:t>
            </a:r>
            <a:r>
              <a:rPr dirty="0" sz="1400" spc="11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assets.</a:t>
            </a:r>
            <a:r>
              <a:rPr dirty="0" sz="1400" spc="15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i="1">
                <a:solidFill>
                  <a:srgbClr val="2F251C"/>
                </a:solidFill>
                <a:latin typeface="Trebuchet MS"/>
                <a:cs typeface="Trebuchet MS"/>
              </a:rPr>
              <a:t>Journal</a:t>
            </a:r>
            <a:r>
              <a:rPr dirty="0" sz="1400" spc="95" i="1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i="1">
                <a:solidFill>
                  <a:srgbClr val="2F251C"/>
                </a:solidFill>
                <a:latin typeface="Trebuchet MS"/>
                <a:cs typeface="Trebuchet MS"/>
              </a:rPr>
              <a:t>of</a:t>
            </a:r>
            <a:r>
              <a:rPr dirty="0" sz="1400" spc="25" i="1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i="1">
                <a:solidFill>
                  <a:srgbClr val="2F251C"/>
                </a:solidFill>
                <a:latin typeface="Trebuchet MS"/>
                <a:cs typeface="Trebuchet MS"/>
              </a:rPr>
              <a:t>Business,</a:t>
            </a:r>
            <a:r>
              <a:rPr dirty="0" sz="1400" spc="40" i="1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 i="1">
                <a:solidFill>
                  <a:srgbClr val="2F251C"/>
                </a:solidFill>
                <a:latin typeface="Trebuchet MS"/>
                <a:cs typeface="Trebuchet MS"/>
              </a:rPr>
              <a:t>79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(5),</a:t>
            </a:r>
            <a:r>
              <a:rPr dirty="0" sz="1400" spc="40">
                <a:solidFill>
                  <a:srgbClr val="2F251C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F251C"/>
                </a:solidFill>
                <a:latin typeface="Trebuchet MS"/>
                <a:cs typeface="Trebuchet MS"/>
              </a:rPr>
              <a:t>2741-</a:t>
            </a:r>
            <a:r>
              <a:rPr dirty="0" sz="1400" spc="-10">
                <a:solidFill>
                  <a:srgbClr val="2F251C"/>
                </a:solidFill>
                <a:latin typeface="Trebuchet MS"/>
                <a:cs typeface="Trebuchet MS"/>
              </a:rPr>
              <a:t>2759.</a:t>
            </a:r>
            <a:endParaRPr sz="1400">
              <a:latin typeface="Trebuchet MS"/>
              <a:cs typeface="Trebuchet MS"/>
            </a:endParaRPr>
          </a:p>
          <a:p>
            <a:pPr marL="330200" indent="-317500">
              <a:lnSpc>
                <a:spcPts val="1664"/>
              </a:lnSpc>
              <a:buClr>
                <a:srgbClr val="2F251C"/>
              </a:buClr>
              <a:buFont typeface="Times New Roman"/>
              <a:buChar char="●"/>
              <a:tabLst>
                <a:tab pos="330200" algn="l"/>
              </a:tabLst>
            </a:pPr>
            <a:r>
              <a:rPr dirty="0" sz="1400">
                <a:solidFill>
                  <a:srgbClr val="333333"/>
                </a:solidFill>
                <a:latin typeface="Trebuchet MS"/>
                <a:cs typeface="Trebuchet MS"/>
              </a:rPr>
              <a:t>Ciel</a:t>
            </a:r>
            <a:r>
              <a:rPr dirty="0" sz="1400" spc="-1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400" spc="65">
                <a:solidFill>
                  <a:srgbClr val="333333"/>
                </a:solidFill>
                <a:latin typeface="Trebuchet MS"/>
                <a:cs typeface="Trebuchet MS"/>
              </a:rPr>
              <a:t>HR</a:t>
            </a:r>
            <a:r>
              <a:rPr dirty="0" sz="1400" spc="35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400" spc="229">
                <a:solidFill>
                  <a:srgbClr val="333333"/>
                </a:solidFill>
                <a:latin typeface="Trebuchet MS"/>
                <a:cs typeface="Trebuchet MS"/>
              </a:rPr>
              <a:t>-</a:t>
            </a:r>
            <a:r>
              <a:rPr dirty="0" sz="1400" spc="1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333333"/>
                </a:solidFill>
                <a:latin typeface="Trebuchet MS"/>
                <a:cs typeface="Trebuchet MS"/>
              </a:rPr>
              <a:t>Spotting</a:t>
            </a:r>
            <a:r>
              <a:rPr dirty="0" sz="1400" spc="55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333333"/>
                </a:solidFill>
                <a:latin typeface="Trebuchet MS"/>
                <a:cs typeface="Trebuchet MS"/>
              </a:rPr>
              <a:t>the</a:t>
            </a:r>
            <a:r>
              <a:rPr dirty="0" sz="1400" spc="4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333333"/>
                </a:solidFill>
                <a:latin typeface="Trebuchet MS"/>
                <a:cs typeface="Trebuchet MS"/>
              </a:rPr>
              <a:t>Scam:</a:t>
            </a:r>
            <a:r>
              <a:rPr dirty="0" sz="1400" spc="45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333333"/>
                </a:solidFill>
                <a:latin typeface="Trebuchet MS"/>
                <a:cs typeface="Trebuchet MS"/>
              </a:rPr>
              <a:t>Fake</a:t>
            </a:r>
            <a:r>
              <a:rPr dirty="0" sz="1400" spc="4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333333"/>
                </a:solidFill>
                <a:latin typeface="Trebuchet MS"/>
                <a:cs typeface="Trebuchet MS"/>
              </a:rPr>
              <a:t>Hiring</a:t>
            </a:r>
            <a:r>
              <a:rPr dirty="0" sz="1400" spc="6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333333"/>
                </a:solidFill>
                <a:latin typeface="Trebuchet MS"/>
                <a:cs typeface="Trebuchet MS"/>
              </a:rPr>
              <a:t>Practices</a:t>
            </a:r>
            <a:r>
              <a:rPr dirty="0" sz="1400" spc="15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333333"/>
                </a:solidFill>
                <a:latin typeface="Trebuchet MS"/>
                <a:cs typeface="Trebuchet MS"/>
              </a:rPr>
              <a:t>in</a:t>
            </a:r>
            <a:r>
              <a:rPr dirty="0" sz="1400" spc="4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333333"/>
                </a:solidFill>
                <a:latin typeface="Trebuchet MS"/>
                <a:cs typeface="Trebuchet MS"/>
              </a:rPr>
              <a:t>India’s</a:t>
            </a:r>
            <a:r>
              <a:rPr dirty="0" sz="1400" spc="15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400" spc="75">
                <a:solidFill>
                  <a:srgbClr val="333333"/>
                </a:solidFill>
                <a:latin typeface="Trebuchet MS"/>
                <a:cs typeface="Trebuchet MS"/>
              </a:rPr>
              <a:t>Job</a:t>
            </a:r>
            <a:r>
              <a:rPr dirty="0" sz="1400" spc="-3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333333"/>
                </a:solidFill>
                <a:latin typeface="Trebuchet MS"/>
                <a:cs typeface="Trebuchet MS"/>
              </a:rPr>
              <a:t>Market</a:t>
            </a:r>
            <a:endParaRPr sz="1400">
              <a:latin typeface="Trebuchet MS"/>
              <a:cs typeface="Trebuchet MS"/>
            </a:endParaRPr>
          </a:p>
          <a:p>
            <a:pPr marL="330200" marR="66040" indent="-318135">
              <a:lnSpc>
                <a:spcPts val="1650"/>
              </a:lnSpc>
              <a:spcBef>
                <a:spcPts val="65"/>
              </a:spcBef>
              <a:buClr>
                <a:srgbClr val="2F251C"/>
              </a:buClr>
              <a:buFont typeface="Times New Roman"/>
              <a:buChar char="●"/>
              <a:tabLst>
                <a:tab pos="330200" algn="l"/>
              </a:tabLst>
            </a:pPr>
            <a:r>
              <a:rPr dirty="0" sz="1400">
                <a:solidFill>
                  <a:srgbClr val="333333"/>
                </a:solidFill>
                <a:latin typeface="Trebuchet MS"/>
                <a:cs typeface="Trebuchet MS"/>
              </a:rPr>
              <a:t>Button,</a:t>
            </a:r>
            <a:r>
              <a:rPr dirty="0" sz="1400" spc="45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400" spc="-45">
                <a:solidFill>
                  <a:srgbClr val="333333"/>
                </a:solidFill>
                <a:latin typeface="Trebuchet MS"/>
                <a:cs typeface="Trebuchet MS"/>
              </a:rPr>
              <a:t>M.,</a:t>
            </a:r>
            <a:r>
              <a:rPr dirty="0" sz="1400" spc="-25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333333"/>
                </a:solidFill>
                <a:latin typeface="Trebuchet MS"/>
                <a:cs typeface="Trebuchet MS"/>
              </a:rPr>
              <a:t>Lewis,</a:t>
            </a:r>
            <a:r>
              <a:rPr dirty="0" sz="1400" spc="-25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333333"/>
                </a:solidFill>
                <a:latin typeface="Trebuchet MS"/>
                <a:cs typeface="Trebuchet MS"/>
              </a:rPr>
              <a:t>C.,</a:t>
            </a:r>
            <a:r>
              <a:rPr dirty="0" sz="1400" spc="-2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333333"/>
                </a:solidFill>
                <a:latin typeface="Trebuchet MS"/>
                <a:cs typeface="Trebuchet MS"/>
              </a:rPr>
              <a:t>&amp;</a:t>
            </a:r>
            <a:r>
              <a:rPr dirty="0" sz="1400" spc="-6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333333"/>
                </a:solidFill>
                <a:latin typeface="Trebuchet MS"/>
                <a:cs typeface="Trebuchet MS"/>
              </a:rPr>
              <a:t>Tapley,</a:t>
            </a:r>
            <a:r>
              <a:rPr dirty="0" sz="1400" spc="-25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400" spc="-55">
                <a:solidFill>
                  <a:srgbClr val="333333"/>
                </a:solidFill>
                <a:latin typeface="Trebuchet MS"/>
                <a:cs typeface="Trebuchet MS"/>
              </a:rPr>
              <a:t>J.</a:t>
            </a:r>
            <a:r>
              <a:rPr dirty="0" sz="1400" spc="-6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333333"/>
                </a:solidFill>
                <a:latin typeface="Trebuchet MS"/>
                <a:cs typeface="Trebuchet MS"/>
              </a:rPr>
              <a:t>(2014).</a:t>
            </a:r>
            <a:r>
              <a:rPr dirty="0" sz="1400" spc="2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333333"/>
                </a:solidFill>
                <a:latin typeface="Trebuchet MS"/>
                <a:cs typeface="Trebuchet MS"/>
              </a:rPr>
              <a:t>Not</a:t>
            </a:r>
            <a:r>
              <a:rPr dirty="0" sz="1400" spc="-5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333333"/>
                </a:solidFill>
                <a:latin typeface="Trebuchet MS"/>
                <a:cs typeface="Trebuchet MS"/>
              </a:rPr>
              <a:t>a</a:t>
            </a:r>
            <a:r>
              <a:rPr dirty="0" sz="1400" spc="-25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333333"/>
                </a:solidFill>
                <a:latin typeface="Trebuchet MS"/>
                <a:cs typeface="Trebuchet MS"/>
              </a:rPr>
              <a:t>victimless</a:t>
            </a:r>
            <a:r>
              <a:rPr dirty="0" sz="1400" spc="-25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333333"/>
                </a:solidFill>
                <a:latin typeface="Trebuchet MS"/>
                <a:cs typeface="Trebuchet MS"/>
              </a:rPr>
              <a:t>crime: The impact</a:t>
            </a:r>
            <a:r>
              <a:rPr dirty="0" sz="1400" spc="-8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333333"/>
                </a:solidFill>
                <a:latin typeface="Trebuchet MS"/>
                <a:cs typeface="Trebuchet MS"/>
              </a:rPr>
              <a:t>of</a:t>
            </a:r>
            <a:r>
              <a:rPr dirty="0" sz="1400" spc="4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333333"/>
                </a:solidFill>
                <a:latin typeface="Trebuchet MS"/>
                <a:cs typeface="Trebuchet MS"/>
              </a:rPr>
              <a:t>fraud</a:t>
            </a:r>
            <a:r>
              <a:rPr dirty="0" sz="1400" spc="-65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400" spc="55">
                <a:solidFill>
                  <a:srgbClr val="333333"/>
                </a:solidFill>
                <a:latin typeface="Trebuchet MS"/>
                <a:cs typeface="Trebuchet MS"/>
              </a:rPr>
              <a:t>on</a:t>
            </a:r>
            <a:r>
              <a:rPr dirty="0" sz="1400" spc="-5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333333"/>
                </a:solidFill>
                <a:latin typeface="Trebuchet MS"/>
                <a:cs typeface="Trebuchet MS"/>
              </a:rPr>
              <a:t>individual </a:t>
            </a:r>
            <a:r>
              <a:rPr dirty="0" sz="1400">
                <a:solidFill>
                  <a:srgbClr val="333333"/>
                </a:solidFill>
                <a:latin typeface="Trebuchet MS"/>
                <a:cs typeface="Trebuchet MS"/>
              </a:rPr>
              <a:t>victims</a:t>
            </a:r>
            <a:r>
              <a:rPr dirty="0" sz="1400" spc="-5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333333"/>
                </a:solidFill>
                <a:latin typeface="Trebuchet MS"/>
                <a:cs typeface="Trebuchet MS"/>
              </a:rPr>
              <a:t>and</a:t>
            </a:r>
            <a:r>
              <a:rPr dirty="0" sz="1400" spc="45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400" spc="-20">
                <a:solidFill>
                  <a:srgbClr val="333333"/>
                </a:solidFill>
                <a:latin typeface="Trebuchet MS"/>
                <a:cs typeface="Trebuchet MS"/>
              </a:rPr>
              <a:t>their</a:t>
            </a:r>
            <a:r>
              <a:rPr dirty="0" sz="1400" spc="15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400" spc="-25">
                <a:solidFill>
                  <a:srgbClr val="333333"/>
                </a:solidFill>
                <a:latin typeface="Trebuchet MS"/>
                <a:cs typeface="Trebuchet MS"/>
              </a:rPr>
              <a:t>families.</a:t>
            </a:r>
            <a:r>
              <a:rPr dirty="0" sz="1400" spc="-4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400" i="1">
                <a:solidFill>
                  <a:srgbClr val="333333"/>
                </a:solidFill>
                <a:latin typeface="Trebuchet MS"/>
                <a:cs typeface="Trebuchet MS"/>
              </a:rPr>
              <a:t>Security</a:t>
            </a:r>
            <a:r>
              <a:rPr dirty="0" sz="1400" spc="25" i="1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400" spc="-30" i="1">
                <a:solidFill>
                  <a:srgbClr val="333333"/>
                </a:solidFill>
                <a:latin typeface="Trebuchet MS"/>
                <a:cs typeface="Trebuchet MS"/>
              </a:rPr>
              <a:t>Journal,</a:t>
            </a:r>
            <a:r>
              <a:rPr dirty="0" sz="1400" spc="-5" i="1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400" spc="-35" i="1">
                <a:solidFill>
                  <a:srgbClr val="333333"/>
                </a:solidFill>
                <a:latin typeface="Trebuchet MS"/>
                <a:cs typeface="Trebuchet MS"/>
              </a:rPr>
              <a:t>27</a:t>
            </a:r>
            <a:r>
              <a:rPr dirty="0" sz="1400" spc="-35">
                <a:solidFill>
                  <a:srgbClr val="333333"/>
                </a:solidFill>
                <a:latin typeface="Trebuchet MS"/>
                <a:cs typeface="Trebuchet MS"/>
              </a:rPr>
              <a:t>(1),</a:t>
            </a:r>
            <a:r>
              <a:rPr dirty="0" sz="140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400" spc="135">
                <a:solidFill>
                  <a:srgbClr val="333333"/>
                </a:solidFill>
                <a:latin typeface="Trebuchet MS"/>
                <a:cs typeface="Trebuchet MS"/>
              </a:rPr>
              <a:t>36-</a:t>
            </a:r>
            <a:r>
              <a:rPr dirty="0" sz="1400" spc="-25">
                <a:solidFill>
                  <a:srgbClr val="333333"/>
                </a:solidFill>
                <a:latin typeface="Trebuchet MS"/>
                <a:cs typeface="Trebuchet MS"/>
              </a:rPr>
              <a:t>54.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30822" y="586486"/>
            <a:ext cx="1922780" cy="5295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300" spc="-10"/>
              <a:t>References</a:t>
            </a:r>
            <a:endParaRPr sz="33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95650" y="2066925"/>
            <a:ext cx="1807210" cy="5295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300"/>
              <a:t>Thank</a:t>
            </a:r>
            <a:r>
              <a:rPr dirty="0" sz="3300" spc="-45"/>
              <a:t> </a:t>
            </a:r>
            <a:r>
              <a:rPr dirty="0" sz="3300" spc="-25"/>
              <a:t>You</a:t>
            </a:r>
            <a:endParaRPr sz="3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2025-11-19T06:18:59Z</dcterms:created>
  <dcterms:modified xsi:type="dcterms:W3CDTF">2025-11-19T06:18:59Z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2025-11-18T00:00:00Z</vt:filetime>
  </property>
  <property fmtid="{D5CDD505-2E9C-101B-9397-08002B2CF9AE}" pid="3" name="LastSaved">
    <vt:filetime>2025-11-19T00:00:00Z</vt:filetime>
  </property>
</Properties>
</file>