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Istok Web"/>
      <p:regular r:id="rId59"/>
      <p:bold r:id="rId60"/>
      <p:italic r:id="rId61"/>
      <p:boldItalic r:id="rId62"/>
    </p:embeddedFont>
    <p:embeddedFont>
      <p:font typeface="Roboto Mono"/>
      <p:regular r:id="rId63"/>
      <p:bold r:id="rId64"/>
      <p:italic r:id="rId65"/>
      <p:boldItalic r:id="rId66"/>
    </p:embeddedFont>
    <p:embeddedFont>
      <p:font typeface="Archivo Black"/>
      <p:regular r:id="rId67"/>
    </p:embeddedFont>
    <p:embeddedFont>
      <p:font typeface="DM Sans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E51CED-D5D0-4D4D-9DF1-7ED67F94AD69}">
  <a:tblStyle styleId="{0FE51CED-D5D0-4D4D-9DF1-7ED67F94A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E4DC14A-C2FA-44AF-9474-26890CEFAF4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DMSans-boldItalic.fntdata"/><Relationship Id="rId70" Type="http://schemas.openxmlformats.org/officeDocument/2006/relationships/font" Target="fonts/DMSan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stokWeb-boldItalic.fntdata"/><Relationship Id="rId61" Type="http://schemas.openxmlformats.org/officeDocument/2006/relationships/font" Target="fonts/IstokWeb-italic.fntdata"/><Relationship Id="rId20" Type="http://schemas.openxmlformats.org/officeDocument/2006/relationships/slide" Target="slides/slide15.xml"/><Relationship Id="rId64" Type="http://schemas.openxmlformats.org/officeDocument/2006/relationships/font" Target="fonts/RobotoMono-bold.fntdata"/><Relationship Id="rId63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66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65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68" Type="http://schemas.openxmlformats.org/officeDocument/2006/relationships/font" Target="fonts/DMSans-regular.fntdata"/><Relationship Id="rId23" Type="http://schemas.openxmlformats.org/officeDocument/2006/relationships/slide" Target="slides/slide18.xml"/><Relationship Id="rId67" Type="http://schemas.openxmlformats.org/officeDocument/2006/relationships/font" Target="fonts/ArchivoBlack-regular.fntdata"/><Relationship Id="rId60" Type="http://schemas.openxmlformats.org/officeDocument/2006/relationships/font" Target="fonts/IstokWeb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DMSan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IstokWeb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b03914b2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b03914b2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b0448b83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b0448b83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49faeb2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549faeb2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49faeb2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49faeb2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49faeb2f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549faeb2f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49faeb2f8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49faeb2f8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49faeb2f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49faeb2f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49faeb2f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549faeb2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49faeb2f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49faeb2f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549faeb2f8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549faeb2f8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49faeb2f8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49faeb2f8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49faeb2f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49faeb2f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549faeb2f8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549faeb2f8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49faeb2f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49faeb2f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549faeb2f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549faeb2f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49faeb2f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549faeb2f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49faeb2f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549faeb2f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49faeb2f8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549faeb2f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49faeb2f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49faeb2f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49faeb2f8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49faeb2f8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0448b839b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b0448b839b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49faeb2f8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49faeb2f8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49faeb2f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49faeb2f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5507c8f851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5507c8f851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49faeb2f8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49faeb2f8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549faeb2f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549faeb2f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5507c8f851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5507c8f851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49faeb2f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549faeb2f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549faeb2f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549faeb2f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507c8f851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507c8f851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549faeb2f8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549faeb2f8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49faeb2f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549faeb2f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49faeb2f8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549faeb2f8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5507c8f851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5507c8f851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507c8f851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507c8f851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549faeb2f8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549faeb2f8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549faeb2f8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549faeb2f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549faeb2f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549faeb2f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549faeb2f8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549faeb2f8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549faeb2f8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549faeb2f8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5507c8f851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5507c8f851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549faeb2f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549faeb2f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5507c8f851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5507c8f851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5507c8f85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5507c8f85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49faeb2f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49faeb2f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5507c8f851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5507c8f851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549faeb2f8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549faeb2f8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b0448b839b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b0448b839b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49faeb2f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549faeb2f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549faeb2f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549faeb2f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549faeb2f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549faeb2f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549faeb2f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549faeb2f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549faeb2f8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549faeb2f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969134" y="-1114476"/>
            <a:ext cx="11465759" cy="7212776"/>
            <a:chOff x="-969134" y="-1114476"/>
            <a:chExt cx="11465759" cy="7212776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554988" y="2893138"/>
              <a:ext cx="2941638" cy="3205163"/>
              <a:chOff x="8837613" y="2687638"/>
              <a:chExt cx="2941638" cy="320516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 rot="5184626">
              <a:off x="-965017" y="-963915"/>
              <a:ext cx="2626126" cy="2474797"/>
              <a:chOff x="4702175" y="2438400"/>
              <a:chExt cx="4049713" cy="381635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713225" y="1104375"/>
            <a:ext cx="4528800" cy="23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713225" y="3563322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" name="Google Shape;24;p2"/>
          <p:cNvSpPr/>
          <p:nvPr>
            <p:ph idx="2" type="pic"/>
          </p:nvPr>
        </p:nvSpPr>
        <p:spPr>
          <a:xfrm>
            <a:off x="5454825" y="539500"/>
            <a:ext cx="2976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-1199486" y="-1463424"/>
            <a:ext cx="12332536" cy="7993223"/>
            <a:chOff x="-1199486" y="-1463424"/>
            <a:chExt cx="12332536" cy="7993223"/>
          </a:xfrm>
        </p:grpSpPr>
        <p:grpSp>
          <p:nvGrpSpPr>
            <p:cNvPr id="28" name="Google Shape;28;p3"/>
            <p:cNvGrpSpPr/>
            <p:nvPr/>
          </p:nvGrpSpPr>
          <p:grpSpPr>
            <a:xfrm flipH="1" rot="5615415">
              <a:off x="-1193595" y="2786452"/>
              <a:ext cx="3744424" cy="3528654"/>
              <a:chOff x="4702175" y="2438400"/>
              <a:chExt cx="4049713" cy="3816351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8867165">
              <a:off x="7752090" y="-1024363"/>
              <a:ext cx="2655070" cy="3490069"/>
              <a:chOff x="8296214" y="350854"/>
              <a:chExt cx="2279179" cy="2995962"/>
            </a:xfrm>
          </p:grpSpPr>
          <p:sp>
            <p:nvSpPr>
              <p:cNvPr id="35" name="Google Shape;35;p3"/>
              <p:cNvSpPr/>
              <p:nvPr/>
            </p:nvSpPr>
            <p:spPr>
              <a:xfrm rot="76037">
                <a:off x="8327308" y="375023"/>
                <a:ext cx="2216991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10627309">
                <a:off x="8850731" y="850047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 rot="10627311">
                <a:off x="8597111" y="811938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 rot="10627310">
                <a:off x="8847467" y="1125684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10627313">
                <a:off x="8835545" y="1209672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4314775" y="2228975"/>
            <a:ext cx="41160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3"/>
          <p:cNvSpPr txBox="1"/>
          <p:nvPr>
            <p:ph hasCustomPrompt="1" idx="2" type="title"/>
          </p:nvPr>
        </p:nvSpPr>
        <p:spPr>
          <a:xfrm>
            <a:off x="4314775" y="965300"/>
            <a:ext cx="1652100" cy="101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 txBox="1"/>
          <p:nvPr>
            <p:ph idx="1" type="subTitle"/>
          </p:nvPr>
        </p:nvSpPr>
        <p:spPr>
          <a:xfrm>
            <a:off x="4314775" y="3740375"/>
            <a:ext cx="41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/>
          <p:nvPr>
            <p:ph idx="3" type="pic"/>
          </p:nvPr>
        </p:nvSpPr>
        <p:spPr>
          <a:xfrm>
            <a:off x="713225" y="539500"/>
            <a:ext cx="2976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4"/>
          <p:cNvGrpSpPr/>
          <p:nvPr/>
        </p:nvGrpSpPr>
        <p:grpSpPr>
          <a:xfrm>
            <a:off x="-1420922" y="-1205627"/>
            <a:ext cx="11290171" cy="7188272"/>
            <a:chOff x="-1420922" y="-1205627"/>
            <a:chExt cx="11290171" cy="7188272"/>
          </a:xfrm>
        </p:grpSpPr>
        <p:grpSp>
          <p:nvGrpSpPr>
            <p:cNvPr id="47" name="Google Shape;47;p4"/>
            <p:cNvGrpSpPr/>
            <p:nvPr/>
          </p:nvGrpSpPr>
          <p:grpSpPr>
            <a:xfrm flipH="1" rot="10520619">
              <a:off x="-1322326" y="-1100475"/>
              <a:ext cx="2693851" cy="2538619"/>
              <a:chOff x="4702175" y="2438400"/>
              <a:chExt cx="4049713" cy="3816351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" name="Google Shape;53;p4"/>
            <p:cNvGrpSpPr/>
            <p:nvPr/>
          </p:nvGrpSpPr>
          <p:grpSpPr>
            <a:xfrm rot="132744">
              <a:off x="7372688" y="3271588"/>
              <a:ext cx="2446030" cy="2664836"/>
              <a:chOff x="8837613" y="2687638"/>
              <a:chExt cx="2941638" cy="3205163"/>
            </a:xfrm>
          </p:grpSpPr>
          <p:sp>
            <p:nvSpPr>
              <p:cNvPr id="54" name="Google Shape;54;p4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" name="Google Shape;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aheim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5"/>
          <p:cNvGrpSpPr/>
          <p:nvPr/>
        </p:nvGrpSpPr>
        <p:grpSpPr>
          <a:xfrm>
            <a:off x="-1423324" y="2578480"/>
            <a:ext cx="11705398" cy="3727745"/>
            <a:chOff x="-1423324" y="2578480"/>
            <a:chExt cx="11705398" cy="3727745"/>
          </a:xfrm>
        </p:grpSpPr>
        <p:grpSp>
          <p:nvGrpSpPr>
            <p:cNvPr id="63" name="Google Shape;63;p5"/>
            <p:cNvGrpSpPr/>
            <p:nvPr/>
          </p:nvGrpSpPr>
          <p:grpSpPr>
            <a:xfrm flipH="1" rot="6305352">
              <a:off x="-1161322" y="2991737"/>
              <a:ext cx="3078636" cy="2901231"/>
              <a:chOff x="4702175" y="2438400"/>
              <a:chExt cx="4049713" cy="3816351"/>
            </a:xfrm>
          </p:grpSpPr>
          <p:sp>
            <p:nvSpPr>
              <p:cNvPr id="64" name="Google Shape;64;p5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" name="Google Shape;69;p5"/>
            <p:cNvGrpSpPr/>
            <p:nvPr/>
          </p:nvGrpSpPr>
          <p:grpSpPr>
            <a:xfrm rot="132744">
              <a:off x="7785513" y="3434626"/>
              <a:ext cx="2446030" cy="2664836"/>
              <a:chOff x="8837613" y="2687638"/>
              <a:chExt cx="2941638" cy="3205163"/>
            </a:xfrm>
          </p:grpSpPr>
          <p:sp>
            <p:nvSpPr>
              <p:cNvPr id="70" name="Google Shape;70;p5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4820317" y="1718125"/>
            <a:ext cx="3558300" cy="14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2" type="subTitle"/>
          </p:nvPr>
        </p:nvSpPr>
        <p:spPr>
          <a:xfrm>
            <a:off x="769275" y="1718125"/>
            <a:ext cx="3558300" cy="14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3" type="subTitle"/>
          </p:nvPr>
        </p:nvSpPr>
        <p:spPr>
          <a:xfrm>
            <a:off x="769275" y="1221775"/>
            <a:ext cx="3558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4" type="subTitle"/>
          </p:nvPr>
        </p:nvSpPr>
        <p:spPr>
          <a:xfrm>
            <a:off x="4820318" y="1221775"/>
            <a:ext cx="3558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5"/>
          <p:cNvSpPr/>
          <p:nvPr>
            <p:ph idx="5" type="pic"/>
          </p:nvPr>
        </p:nvSpPr>
        <p:spPr>
          <a:xfrm>
            <a:off x="713225" y="3282375"/>
            <a:ext cx="7717500" cy="132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6"/>
          <p:cNvGrpSpPr/>
          <p:nvPr/>
        </p:nvGrpSpPr>
        <p:grpSpPr>
          <a:xfrm>
            <a:off x="-1780599" y="-1291715"/>
            <a:ext cx="12860168" cy="7484195"/>
            <a:chOff x="-1780599" y="-1291715"/>
            <a:chExt cx="12860168" cy="7484195"/>
          </a:xfrm>
        </p:grpSpPr>
        <p:grpSp>
          <p:nvGrpSpPr>
            <p:cNvPr id="83" name="Google Shape;83;p6"/>
            <p:cNvGrpSpPr/>
            <p:nvPr/>
          </p:nvGrpSpPr>
          <p:grpSpPr>
            <a:xfrm rot="-1935009">
              <a:off x="8117275" y="-889448"/>
              <a:ext cx="2358799" cy="2943857"/>
              <a:chOff x="8367800" y="690322"/>
              <a:chExt cx="2358873" cy="2943949"/>
            </a:xfrm>
          </p:grpSpPr>
          <p:sp>
            <p:nvSpPr>
              <p:cNvPr id="84" name="Google Shape;84;p6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 rot="10627309">
                <a:off x="8603034" y="824661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 rot="10627311">
                <a:off x="8429263" y="749272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 rot="10627310">
                <a:off x="8668373" y="1008073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 rot="10627313">
                <a:off x="8825380" y="1193875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6"/>
            <p:cNvGrpSpPr/>
            <p:nvPr/>
          </p:nvGrpSpPr>
          <p:grpSpPr>
            <a:xfrm rot="3152843">
              <a:off x="-1319633" y="3710915"/>
              <a:ext cx="1949465" cy="2123853"/>
              <a:chOff x="8837613" y="2687638"/>
              <a:chExt cx="2941638" cy="3205163"/>
            </a:xfrm>
          </p:grpSpPr>
          <p:sp>
            <p:nvSpPr>
              <p:cNvPr id="90" name="Google Shape;90;p6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" name="Google Shape;9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 flipH="1" rot="10800000">
            <a:off x="-1693320" y="-1628275"/>
            <a:ext cx="12204395" cy="8022343"/>
            <a:chOff x="-1693320" y="-1628275"/>
            <a:chExt cx="12204395" cy="8022343"/>
          </a:xfrm>
        </p:grpSpPr>
        <p:grpSp>
          <p:nvGrpSpPr>
            <p:cNvPr id="98" name="Google Shape;98;p7"/>
            <p:cNvGrpSpPr/>
            <p:nvPr/>
          </p:nvGrpSpPr>
          <p:grpSpPr>
            <a:xfrm rot="9937916">
              <a:off x="6700891" y="-1249995"/>
              <a:ext cx="3459758" cy="3260392"/>
              <a:chOff x="4702175" y="2438400"/>
              <a:chExt cx="4049713" cy="3816351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7"/>
            <p:cNvGrpSpPr/>
            <p:nvPr/>
          </p:nvGrpSpPr>
          <p:grpSpPr>
            <a:xfrm rot="8100000">
              <a:off x="-1201116" y="3748200"/>
              <a:ext cx="2061332" cy="2245995"/>
              <a:chOff x="8837613" y="2687638"/>
              <a:chExt cx="2941638" cy="3205163"/>
            </a:xfrm>
          </p:grpSpPr>
          <p:sp>
            <p:nvSpPr>
              <p:cNvPr id="105" name="Google Shape;105;p7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720000" y="697175"/>
            <a:ext cx="4160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subTitle"/>
          </p:nvPr>
        </p:nvSpPr>
        <p:spPr>
          <a:xfrm>
            <a:off x="720000" y="1481975"/>
            <a:ext cx="41607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11" name="Google Shape;111;p7"/>
          <p:cNvSpPr/>
          <p:nvPr>
            <p:ph idx="2" type="pic"/>
          </p:nvPr>
        </p:nvSpPr>
        <p:spPr>
          <a:xfrm>
            <a:off x="5228650" y="539500"/>
            <a:ext cx="32022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8"/>
          <p:cNvGrpSpPr/>
          <p:nvPr/>
        </p:nvGrpSpPr>
        <p:grpSpPr>
          <a:xfrm>
            <a:off x="-2064252" y="-1621074"/>
            <a:ext cx="12670176" cy="7900105"/>
            <a:chOff x="-2064252" y="-1621074"/>
            <a:chExt cx="12670176" cy="7900105"/>
          </a:xfrm>
        </p:grpSpPr>
        <p:grpSp>
          <p:nvGrpSpPr>
            <p:cNvPr id="115" name="Google Shape;115;p8"/>
            <p:cNvGrpSpPr/>
            <p:nvPr/>
          </p:nvGrpSpPr>
          <p:grpSpPr>
            <a:xfrm flipH="1" rot="8100000">
              <a:off x="-1365044" y="-813981"/>
              <a:ext cx="3744417" cy="3528647"/>
              <a:chOff x="4702175" y="2438400"/>
              <a:chExt cx="4049713" cy="3816351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 rot="132744">
              <a:off x="8109363" y="3567976"/>
              <a:ext cx="2446030" cy="2664836"/>
              <a:chOff x="8837613" y="2687638"/>
              <a:chExt cx="2941638" cy="3205163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6" name="Google Shape;126;p8"/>
          <p:cNvSpPr txBox="1"/>
          <p:nvPr>
            <p:ph type="title"/>
          </p:nvPr>
        </p:nvSpPr>
        <p:spPr>
          <a:xfrm>
            <a:off x="4060375" y="1130250"/>
            <a:ext cx="4370400" cy="28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7" name="Google Shape;127;p8"/>
          <p:cNvSpPr/>
          <p:nvPr>
            <p:ph idx="2" type="pic"/>
          </p:nvPr>
        </p:nvSpPr>
        <p:spPr>
          <a:xfrm>
            <a:off x="713225" y="539500"/>
            <a:ext cx="2976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9"/>
          <p:cNvGrpSpPr/>
          <p:nvPr/>
        </p:nvGrpSpPr>
        <p:grpSpPr>
          <a:xfrm>
            <a:off x="-2082401" y="-1143607"/>
            <a:ext cx="12281053" cy="7682762"/>
            <a:chOff x="-2082401" y="-1143607"/>
            <a:chExt cx="12281053" cy="7682762"/>
          </a:xfrm>
        </p:grpSpPr>
        <p:grpSp>
          <p:nvGrpSpPr>
            <p:cNvPr id="131" name="Google Shape;131;p9"/>
            <p:cNvGrpSpPr/>
            <p:nvPr/>
          </p:nvGrpSpPr>
          <p:grpSpPr>
            <a:xfrm rot="9550905">
              <a:off x="-1638575" y="3259584"/>
              <a:ext cx="2429692" cy="2943910"/>
              <a:chOff x="8296949" y="690322"/>
              <a:chExt cx="2429725" cy="2943949"/>
            </a:xfrm>
          </p:grpSpPr>
          <p:sp>
            <p:nvSpPr>
              <p:cNvPr id="132" name="Google Shape;132;p9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9"/>
            <p:cNvGrpSpPr/>
            <p:nvPr/>
          </p:nvGrpSpPr>
          <p:grpSpPr>
            <a:xfrm rot="-10627117">
              <a:off x="7511786" y="-1079161"/>
              <a:ext cx="2626320" cy="2474979"/>
              <a:chOff x="4702175" y="2438400"/>
              <a:chExt cx="4049713" cy="3816351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" name="Google Shape;143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1" type="subTitle"/>
          </p:nvPr>
        </p:nvSpPr>
        <p:spPr>
          <a:xfrm>
            <a:off x="5007356" y="1381650"/>
            <a:ext cx="3416700" cy="31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9"/>
          <p:cNvSpPr txBox="1"/>
          <p:nvPr>
            <p:ph idx="2" type="subTitle"/>
          </p:nvPr>
        </p:nvSpPr>
        <p:spPr>
          <a:xfrm>
            <a:off x="720000" y="1381650"/>
            <a:ext cx="3416700" cy="31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0"/>
          <p:cNvSpPr txBox="1"/>
          <p:nvPr>
            <p:ph type="title"/>
          </p:nvPr>
        </p:nvSpPr>
        <p:spPr>
          <a:xfrm>
            <a:off x="720000" y="3828075"/>
            <a:ext cx="7704000" cy="7590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1"/>
          <p:cNvGrpSpPr/>
          <p:nvPr/>
        </p:nvGrpSpPr>
        <p:grpSpPr>
          <a:xfrm>
            <a:off x="-1199486" y="1973047"/>
            <a:ext cx="12934263" cy="5261902"/>
            <a:chOff x="-1199486" y="1973047"/>
            <a:chExt cx="12934263" cy="5261902"/>
          </a:xfrm>
        </p:grpSpPr>
        <p:grpSp>
          <p:nvGrpSpPr>
            <p:cNvPr id="152" name="Google Shape;152;p11"/>
            <p:cNvGrpSpPr/>
            <p:nvPr/>
          </p:nvGrpSpPr>
          <p:grpSpPr>
            <a:xfrm flipH="1" rot="-8100000">
              <a:off x="7421487" y="2565610"/>
              <a:ext cx="3364678" cy="4076775"/>
              <a:chOff x="8296949" y="690322"/>
              <a:chExt cx="2429725" cy="2943949"/>
            </a:xfrm>
          </p:grpSpPr>
          <p:sp>
            <p:nvSpPr>
              <p:cNvPr id="153" name="Google Shape;153;p11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11"/>
            <p:cNvGrpSpPr/>
            <p:nvPr/>
          </p:nvGrpSpPr>
          <p:grpSpPr>
            <a:xfrm flipH="1" rot="5615415">
              <a:off x="-1193595" y="2786452"/>
              <a:ext cx="3744424" cy="3528654"/>
              <a:chOff x="4702175" y="2438400"/>
              <a:chExt cx="4049713" cy="3816351"/>
            </a:xfrm>
          </p:grpSpPr>
          <p:sp>
            <p:nvSpPr>
              <p:cNvPr id="159" name="Google Shape;159;p11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" name="Google Shape;164;p11"/>
          <p:cNvSpPr txBox="1"/>
          <p:nvPr>
            <p:ph hasCustomPrompt="1" type="title"/>
          </p:nvPr>
        </p:nvSpPr>
        <p:spPr>
          <a:xfrm>
            <a:off x="1860600" y="683525"/>
            <a:ext cx="5422800" cy="10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5" name="Google Shape;165;p11"/>
          <p:cNvSpPr txBox="1"/>
          <p:nvPr>
            <p:ph idx="1" type="subTitle"/>
          </p:nvPr>
        </p:nvSpPr>
        <p:spPr>
          <a:xfrm>
            <a:off x="1860600" y="1738625"/>
            <a:ext cx="5422800" cy="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6" name="Google Shape;166;p11"/>
          <p:cNvSpPr/>
          <p:nvPr>
            <p:ph idx="2" type="pic"/>
          </p:nvPr>
        </p:nvSpPr>
        <p:spPr>
          <a:xfrm>
            <a:off x="713225" y="2571750"/>
            <a:ext cx="7717500" cy="203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3"/>
          <p:cNvGrpSpPr/>
          <p:nvPr/>
        </p:nvGrpSpPr>
        <p:grpSpPr>
          <a:xfrm>
            <a:off x="7022078" y="-1143607"/>
            <a:ext cx="3605740" cy="8219833"/>
            <a:chOff x="7022078" y="-1143607"/>
            <a:chExt cx="3605740" cy="8219833"/>
          </a:xfrm>
        </p:grpSpPr>
        <p:grpSp>
          <p:nvGrpSpPr>
            <p:cNvPr id="171" name="Google Shape;171;p13"/>
            <p:cNvGrpSpPr/>
            <p:nvPr/>
          </p:nvGrpSpPr>
          <p:grpSpPr>
            <a:xfrm rot="4177782">
              <a:off x="7610037" y="3952865"/>
              <a:ext cx="2429822" cy="2944067"/>
              <a:chOff x="8296949" y="690322"/>
              <a:chExt cx="2429725" cy="2943949"/>
            </a:xfrm>
          </p:grpSpPr>
          <p:sp>
            <p:nvSpPr>
              <p:cNvPr id="172" name="Google Shape;172;p13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13"/>
            <p:cNvGrpSpPr/>
            <p:nvPr/>
          </p:nvGrpSpPr>
          <p:grpSpPr>
            <a:xfrm rot="-10627117">
              <a:off x="7511786" y="-1079161"/>
              <a:ext cx="2626320" cy="2474979"/>
              <a:chOff x="4702175" y="2438400"/>
              <a:chExt cx="4049713" cy="3816351"/>
            </a:xfrm>
          </p:grpSpPr>
          <p:sp>
            <p:nvSpPr>
              <p:cNvPr id="178" name="Google Shape;178;p13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" name="Google Shape;18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" type="subTitle"/>
          </p:nvPr>
        </p:nvSpPr>
        <p:spPr>
          <a:xfrm>
            <a:off x="720100" y="1581025"/>
            <a:ext cx="77040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3"/>
          <p:cNvSpPr txBox="1"/>
          <p:nvPr>
            <p:ph idx="2" type="subTitle"/>
          </p:nvPr>
        </p:nvSpPr>
        <p:spPr>
          <a:xfrm>
            <a:off x="720100" y="2750150"/>
            <a:ext cx="77040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3" type="subTitle"/>
          </p:nvPr>
        </p:nvSpPr>
        <p:spPr>
          <a:xfrm>
            <a:off x="720100" y="3931400"/>
            <a:ext cx="77040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3"/>
          <p:cNvSpPr txBox="1"/>
          <p:nvPr>
            <p:ph idx="4" type="subTitle"/>
          </p:nvPr>
        </p:nvSpPr>
        <p:spPr>
          <a:xfrm>
            <a:off x="720100" y="1238500"/>
            <a:ext cx="7704000" cy="4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5" type="subTitle"/>
          </p:nvPr>
        </p:nvSpPr>
        <p:spPr>
          <a:xfrm>
            <a:off x="720100" y="2407525"/>
            <a:ext cx="7704000" cy="4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6" type="subTitle"/>
          </p:nvPr>
        </p:nvSpPr>
        <p:spPr>
          <a:xfrm>
            <a:off x="720100" y="3588775"/>
            <a:ext cx="7704000" cy="4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4"/>
          <p:cNvGrpSpPr/>
          <p:nvPr/>
        </p:nvGrpSpPr>
        <p:grpSpPr>
          <a:xfrm>
            <a:off x="7228269" y="-1823407"/>
            <a:ext cx="3949070" cy="8453511"/>
            <a:chOff x="7228269" y="-1823407"/>
            <a:chExt cx="3949070" cy="8453511"/>
          </a:xfrm>
        </p:grpSpPr>
        <p:grpSp>
          <p:nvGrpSpPr>
            <p:cNvPr id="193" name="Google Shape;193;p14"/>
            <p:cNvGrpSpPr/>
            <p:nvPr/>
          </p:nvGrpSpPr>
          <p:grpSpPr>
            <a:xfrm rot="-4147704">
              <a:off x="7606334" y="-1300163"/>
              <a:ext cx="3192941" cy="3008949"/>
              <a:chOff x="4702175" y="2438400"/>
              <a:chExt cx="4049713" cy="3816351"/>
            </a:xfrm>
          </p:grpSpPr>
          <p:sp>
            <p:nvSpPr>
              <p:cNvPr id="194" name="Google Shape;194;p14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4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14"/>
            <p:cNvGrpSpPr/>
            <p:nvPr/>
          </p:nvGrpSpPr>
          <p:grpSpPr>
            <a:xfrm rot="3152843">
              <a:off x="8319667" y="4148540"/>
              <a:ext cx="1949465" cy="2123853"/>
              <a:chOff x="8837613" y="2687638"/>
              <a:chExt cx="2941638" cy="3205163"/>
            </a:xfrm>
          </p:grpSpPr>
          <p:sp>
            <p:nvSpPr>
              <p:cNvPr id="200" name="Google Shape;200;p14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4" name="Google Shape;20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" type="subTitle"/>
          </p:nvPr>
        </p:nvSpPr>
        <p:spPr>
          <a:xfrm>
            <a:off x="1374000" y="1504611"/>
            <a:ext cx="6962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4"/>
          <p:cNvSpPr txBox="1"/>
          <p:nvPr>
            <p:ph idx="2" type="subTitle"/>
          </p:nvPr>
        </p:nvSpPr>
        <p:spPr>
          <a:xfrm>
            <a:off x="1374000" y="2401899"/>
            <a:ext cx="6962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4"/>
          <p:cNvSpPr txBox="1"/>
          <p:nvPr>
            <p:ph idx="3" type="subTitle"/>
          </p:nvPr>
        </p:nvSpPr>
        <p:spPr>
          <a:xfrm>
            <a:off x="1381570" y="3295598"/>
            <a:ext cx="6962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4"/>
          <p:cNvSpPr txBox="1"/>
          <p:nvPr>
            <p:ph idx="4" type="subTitle"/>
          </p:nvPr>
        </p:nvSpPr>
        <p:spPr>
          <a:xfrm>
            <a:off x="1381570" y="4189300"/>
            <a:ext cx="6962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4"/>
          <p:cNvSpPr txBox="1"/>
          <p:nvPr>
            <p:ph hasCustomPrompt="1" idx="5" type="title"/>
          </p:nvPr>
        </p:nvSpPr>
        <p:spPr>
          <a:xfrm>
            <a:off x="720000" y="1136800"/>
            <a:ext cx="648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 txBox="1"/>
          <p:nvPr>
            <p:ph hasCustomPrompt="1" idx="6" type="title"/>
          </p:nvPr>
        </p:nvSpPr>
        <p:spPr>
          <a:xfrm>
            <a:off x="725084" y="2924197"/>
            <a:ext cx="648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1" name="Google Shape;211;p14"/>
          <p:cNvSpPr txBox="1"/>
          <p:nvPr>
            <p:ph hasCustomPrompt="1" idx="7" type="title"/>
          </p:nvPr>
        </p:nvSpPr>
        <p:spPr>
          <a:xfrm>
            <a:off x="720011" y="2030497"/>
            <a:ext cx="648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4"/>
          <p:cNvSpPr txBox="1"/>
          <p:nvPr>
            <p:ph hasCustomPrompt="1" idx="8" type="title"/>
          </p:nvPr>
        </p:nvSpPr>
        <p:spPr>
          <a:xfrm>
            <a:off x="725090" y="3817900"/>
            <a:ext cx="648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1374000" y="1136800"/>
            <a:ext cx="6962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subTitle"/>
          </p:nvPr>
        </p:nvSpPr>
        <p:spPr>
          <a:xfrm>
            <a:off x="1374000" y="2030499"/>
            <a:ext cx="6962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1381570" y="2924198"/>
            <a:ext cx="6962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1381570" y="3817897"/>
            <a:ext cx="6962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5"/>
          <p:cNvGrpSpPr/>
          <p:nvPr/>
        </p:nvGrpSpPr>
        <p:grpSpPr>
          <a:xfrm>
            <a:off x="-2158601" y="-1780378"/>
            <a:ext cx="13405344" cy="8433834"/>
            <a:chOff x="-2158601" y="-1780378"/>
            <a:chExt cx="13405344" cy="8433834"/>
          </a:xfrm>
        </p:grpSpPr>
        <p:grpSp>
          <p:nvGrpSpPr>
            <p:cNvPr id="220" name="Google Shape;220;p15"/>
            <p:cNvGrpSpPr/>
            <p:nvPr/>
          </p:nvGrpSpPr>
          <p:grpSpPr>
            <a:xfrm rot="9550905">
              <a:off x="-1714775" y="3373884"/>
              <a:ext cx="2429692" cy="2943910"/>
              <a:chOff x="8296949" y="690322"/>
              <a:chExt cx="2429725" cy="2943949"/>
            </a:xfrm>
          </p:grpSpPr>
          <p:sp>
            <p:nvSpPr>
              <p:cNvPr id="221" name="Google Shape;221;p15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5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15"/>
            <p:cNvGrpSpPr/>
            <p:nvPr/>
          </p:nvGrpSpPr>
          <p:grpSpPr>
            <a:xfrm rot="-1696283">
              <a:off x="7780263" y="-1315570"/>
              <a:ext cx="2824472" cy="3422500"/>
              <a:chOff x="8296949" y="690322"/>
              <a:chExt cx="2429725" cy="2943949"/>
            </a:xfrm>
          </p:grpSpPr>
          <p:sp>
            <p:nvSpPr>
              <p:cNvPr id="227" name="Google Shape;227;p15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5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5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5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5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" name="Google Shape;23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>
            <a:off x="713225" y="173515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5"/>
          <p:cNvSpPr txBox="1"/>
          <p:nvPr>
            <p:ph idx="2" type="subTitle"/>
          </p:nvPr>
        </p:nvSpPr>
        <p:spPr>
          <a:xfrm>
            <a:off x="3353126" y="173515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5"/>
          <p:cNvSpPr txBox="1"/>
          <p:nvPr>
            <p:ph idx="3" type="subTitle"/>
          </p:nvPr>
        </p:nvSpPr>
        <p:spPr>
          <a:xfrm>
            <a:off x="713125" y="354410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5"/>
          <p:cNvSpPr txBox="1"/>
          <p:nvPr>
            <p:ph idx="4" type="subTitle"/>
          </p:nvPr>
        </p:nvSpPr>
        <p:spPr>
          <a:xfrm>
            <a:off x="3353025" y="354410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5"/>
          <p:cNvSpPr txBox="1"/>
          <p:nvPr>
            <p:ph idx="5" type="subTitle"/>
          </p:nvPr>
        </p:nvSpPr>
        <p:spPr>
          <a:xfrm>
            <a:off x="5993027" y="173515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5992926" y="3544100"/>
            <a:ext cx="24378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5"/>
          <p:cNvSpPr txBox="1"/>
          <p:nvPr>
            <p:ph idx="7" type="subTitle"/>
          </p:nvPr>
        </p:nvSpPr>
        <p:spPr>
          <a:xfrm>
            <a:off x="714325" y="1326475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8" type="subTitle"/>
          </p:nvPr>
        </p:nvSpPr>
        <p:spPr>
          <a:xfrm>
            <a:off x="3354226" y="1326475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9" type="subTitle"/>
          </p:nvPr>
        </p:nvSpPr>
        <p:spPr>
          <a:xfrm>
            <a:off x="5994127" y="1326475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13" type="subTitle"/>
          </p:nvPr>
        </p:nvSpPr>
        <p:spPr>
          <a:xfrm>
            <a:off x="714225" y="3135551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14" type="subTitle"/>
          </p:nvPr>
        </p:nvSpPr>
        <p:spPr>
          <a:xfrm>
            <a:off x="3354126" y="3135551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15" type="subTitle"/>
          </p:nvPr>
        </p:nvSpPr>
        <p:spPr>
          <a:xfrm>
            <a:off x="5994027" y="3135551"/>
            <a:ext cx="24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6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8" name="Google Shape;248;p16"/>
          <p:cNvGrpSpPr/>
          <p:nvPr/>
        </p:nvGrpSpPr>
        <p:grpSpPr>
          <a:xfrm>
            <a:off x="-2560145" y="-1628275"/>
            <a:ext cx="13669171" cy="8682635"/>
            <a:chOff x="-2560145" y="-1628275"/>
            <a:chExt cx="13669171" cy="8682635"/>
          </a:xfrm>
        </p:grpSpPr>
        <p:grpSp>
          <p:nvGrpSpPr>
            <p:cNvPr id="249" name="Google Shape;249;p16"/>
            <p:cNvGrpSpPr/>
            <p:nvPr/>
          </p:nvGrpSpPr>
          <p:grpSpPr>
            <a:xfrm rot="-3807757">
              <a:off x="8102545" y="-1093279"/>
              <a:ext cx="2625895" cy="2474579"/>
              <a:chOff x="4702175" y="2438400"/>
              <a:chExt cx="4049713" cy="3816351"/>
            </a:xfrm>
          </p:grpSpPr>
          <p:sp>
            <p:nvSpPr>
              <p:cNvPr id="250" name="Google Shape;250;p16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6"/>
            <p:cNvGrpSpPr/>
            <p:nvPr/>
          </p:nvGrpSpPr>
          <p:grpSpPr>
            <a:xfrm rot="-1811159">
              <a:off x="-1851188" y="2953216"/>
              <a:ext cx="2928264" cy="3609708"/>
              <a:chOff x="8124483" y="247974"/>
              <a:chExt cx="2513840" cy="3098842"/>
            </a:xfrm>
          </p:grpSpPr>
          <p:sp>
            <p:nvSpPr>
              <p:cNvPr id="256" name="Google Shape;256;p16"/>
              <p:cNvSpPr/>
              <p:nvPr/>
            </p:nvSpPr>
            <p:spPr>
              <a:xfrm rot="376669">
                <a:off x="8272907" y="360683"/>
                <a:ext cx="2216991" cy="2836207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 rot="9923510">
                <a:off x="8850732" y="850047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 rot="10627311">
                <a:off x="8597111" y="811938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 rot="10627310">
                <a:off x="8847467" y="1125684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 rot="10627313">
                <a:off x="9053316" y="1351111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16"/>
            <p:cNvGrpSpPr/>
            <p:nvPr/>
          </p:nvGrpSpPr>
          <p:grpSpPr>
            <a:xfrm flipH="1" rot="2700000">
              <a:off x="-1201116" y="-1228403"/>
              <a:ext cx="2061332" cy="2245995"/>
              <a:chOff x="8837613" y="2687638"/>
              <a:chExt cx="2941638" cy="3205163"/>
            </a:xfrm>
          </p:grpSpPr>
          <p:sp>
            <p:nvSpPr>
              <p:cNvPr id="262" name="Google Shape;262;p16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" name="Google Shape;266;p16"/>
            <p:cNvGrpSpPr/>
            <p:nvPr/>
          </p:nvGrpSpPr>
          <p:grpSpPr>
            <a:xfrm flipH="1" rot="-6498960">
              <a:off x="8380870" y="3819468"/>
              <a:ext cx="2061203" cy="2245854"/>
              <a:chOff x="8837613" y="2687638"/>
              <a:chExt cx="2941638" cy="3205163"/>
            </a:xfrm>
          </p:grpSpPr>
          <p:sp>
            <p:nvSpPr>
              <p:cNvPr id="267" name="Google Shape;267;p16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6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6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6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17"/>
          <p:cNvGrpSpPr/>
          <p:nvPr/>
        </p:nvGrpSpPr>
        <p:grpSpPr>
          <a:xfrm>
            <a:off x="-2560145" y="-1853463"/>
            <a:ext cx="13702729" cy="7947803"/>
            <a:chOff x="-2560145" y="-1853463"/>
            <a:chExt cx="13702729" cy="7947803"/>
          </a:xfrm>
        </p:grpSpPr>
        <p:grpSp>
          <p:nvGrpSpPr>
            <p:cNvPr id="274" name="Google Shape;274;p17"/>
            <p:cNvGrpSpPr/>
            <p:nvPr/>
          </p:nvGrpSpPr>
          <p:grpSpPr>
            <a:xfrm rot="-8100000">
              <a:off x="8026338" y="3053753"/>
              <a:ext cx="2625903" cy="2474586"/>
              <a:chOff x="4702175" y="2438400"/>
              <a:chExt cx="4049713" cy="3816351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7"/>
            <p:cNvGrpSpPr/>
            <p:nvPr/>
          </p:nvGrpSpPr>
          <p:grpSpPr>
            <a:xfrm flipH="1" rot="-8988841">
              <a:off x="-1851188" y="-1362027"/>
              <a:ext cx="2928264" cy="3609708"/>
              <a:chOff x="8124483" y="247974"/>
              <a:chExt cx="2513840" cy="3098842"/>
            </a:xfrm>
          </p:grpSpPr>
          <p:sp>
            <p:nvSpPr>
              <p:cNvPr id="281" name="Google Shape;281;p17"/>
              <p:cNvSpPr/>
              <p:nvPr/>
            </p:nvSpPr>
            <p:spPr>
              <a:xfrm rot="376669">
                <a:off x="8272907" y="360683"/>
                <a:ext cx="2216991" cy="2836207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 rot="9923510">
                <a:off x="8850732" y="850047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 rot="10627311">
                <a:off x="8597111" y="811938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 rot="10627310">
                <a:off x="8847467" y="1125684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 rot="10627313">
                <a:off x="9053316" y="1351111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6" name="Google Shape;28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4349275" y="3436000"/>
            <a:ext cx="40815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rPr>
              <a:t>CREDITS:</a:t>
            </a:r>
            <a:r>
              <a:rPr lang="en" sz="1200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rPr>
              <a:t> This presentation template was created by </a:t>
            </a:r>
            <a:r>
              <a:rPr b="1" lang="en" sz="1200" u="sng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rPr>
              <a:t>, and includes icons by </a:t>
            </a:r>
            <a:r>
              <a:rPr b="1" lang="en" sz="1200" u="sng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rPr>
              <a:t>, and infographics &amp; images by </a:t>
            </a:r>
            <a:r>
              <a:rPr b="1" lang="en" sz="1200" u="sng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rPr>
              <a:t> </a:t>
            </a:r>
            <a:endParaRPr b="1" sz="1200" u="sng">
              <a:solidFill>
                <a:schemeClr val="dk2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  <p:sp>
        <p:nvSpPr>
          <p:cNvPr id="290" name="Google Shape;290;p18"/>
          <p:cNvSpPr txBox="1"/>
          <p:nvPr>
            <p:ph type="title"/>
          </p:nvPr>
        </p:nvSpPr>
        <p:spPr>
          <a:xfrm>
            <a:off x="4349275" y="501575"/>
            <a:ext cx="4081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91" name="Google Shape;291;p18"/>
          <p:cNvGrpSpPr/>
          <p:nvPr/>
        </p:nvGrpSpPr>
        <p:grpSpPr>
          <a:xfrm>
            <a:off x="-1146578" y="-1173782"/>
            <a:ext cx="4214902" cy="8628478"/>
            <a:chOff x="-1146578" y="-1173782"/>
            <a:chExt cx="4214902" cy="8628478"/>
          </a:xfrm>
        </p:grpSpPr>
        <p:grpSp>
          <p:nvGrpSpPr>
            <p:cNvPr id="292" name="Google Shape;292;p18"/>
            <p:cNvGrpSpPr/>
            <p:nvPr/>
          </p:nvGrpSpPr>
          <p:grpSpPr>
            <a:xfrm rot="3564683">
              <a:off x="-635550" y="3810436"/>
              <a:ext cx="3192847" cy="3008861"/>
              <a:chOff x="4702175" y="2438400"/>
              <a:chExt cx="4049713" cy="3816351"/>
            </a:xfrm>
          </p:grpSpPr>
          <p:sp>
            <p:nvSpPr>
              <p:cNvPr id="293" name="Google Shape;293;p18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" name="Google Shape;298;p18"/>
            <p:cNvGrpSpPr/>
            <p:nvPr/>
          </p:nvGrpSpPr>
          <p:grpSpPr>
            <a:xfrm rot="-7647157">
              <a:off x="-600761" y="-816070"/>
              <a:ext cx="1949465" cy="2123853"/>
              <a:chOff x="8837613" y="2687638"/>
              <a:chExt cx="2941638" cy="3205163"/>
            </a:xfrm>
          </p:grpSpPr>
          <p:sp>
            <p:nvSpPr>
              <p:cNvPr id="299" name="Google Shape;299;p18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18"/>
          <p:cNvSpPr txBox="1"/>
          <p:nvPr>
            <p:ph idx="1" type="subTitle"/>
          </p:nvPr>
        </p:nvSpPr>
        <p:spPr>
          <a:xfrm>
            <a:off x="4349275" y="1665500"/>
            <a:ext cx="40815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8"/>
          <p:cNvSpPr/>
          <p:nvPr>
            <p:ph idx="2" type="pic"/>
          </p:nvPr>
        </p:nvSpPr>
        <p:spPr>
          <a:xfrm>
            <a:off x="713225" y="539500"/>
            <a:ext cx="2976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19"/>
          <p:cNvGrpSpPr/>
          <p:nvPr/>
        </p:nvGrpSpPr>
        <p:grpSpPr>
          <a:xfrm>
            <a:off x="-2560145" y="-1628275"/>
            <a:ext cx="13669171" cy="8682635"/>
            <a:chOff x="-2560145" y="-1628275"/>
            <a:chExt cx="13669171" cy="8682635"/>
          </a:xfrm>
        </p:grpSpPr>
        <p:grpSp>
          <p:nvGrpSpPr>
            <p:cNvPr id="308" name="Google Shape;308;p19"/>
            <p:cNvGrpSpPr/>
            <p:nvPr/>
          </p:nvGrpSpPr>
          <p:grpSpPr>
            <a:xfrm rot="-3807757">
              <a:off x="8102545" y="-1093279"/>
              <a:ext cx="2625895" cy="2474579"/>
              <a:chOff x="4702175" y="2438400"/>
              <a:chExt cx="4049713" cy="3816351"/>
            </a:xfrm>
          </p:grpSpPr>
          <p:sp>
            <p:nvSpPr>
              <p:cNvPr id="309" name="Google Shape;309;p19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" name="Google Shape;314;p19"/>
            <p:cNvGrpSpPr/>
            <p:nvPr/>
          </p:nvGrpSpPr>
          <p:grpSpPr>
            <a:xfrm rot="-1811159">
              <a:off x="-1851188" y="2953216"/>
              <a:ext cx="2928264" cy="3609708"/>
              <a:chOff x="8124483" y="247974"/>
              <a:chExt cx="2513840" cy="3098842"/>
            </a:xfrm>
          </p:grpSpPr>
          <p:sp>
            <p:nvSpPr>
              <p:cNvPr id="315" name="Google Shape;315;p19"/>
              <p:cNvSpPr/>
              <p:nvPr/>
            </p:nvSpPr>
            <p:spPr>
              <a:xfrm rot="376669">
                <a:off x="8272907" y="360683"/>
                <a:ext cx="2216991" cy="2836207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 rot="9923510">
                <a:off x="8850732" y="850047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 rot="10627311">
                <a:off x="8597111" y="811938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 rot="10627310">
                <a:off x="8847467" y="1125684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 rot="10627313">
                <a:off x="9053316" y="1351111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19"/>
            <p:cNvGrpSpPr/>
            <p:nvPr/>
          </p:nvGrpSpPr>
          <p:grpSpPr>
            <a:xfrm flipH="1" rot="2700000">
              <a:off x="-1201116" y="-1228403"/>
              <a:ext cx="2061332" cy="2245995"/>
              <a:chOff x="8837613" y="2687638"/>
              <a:chExt cx="2941638" cy="3205163"/>
            </a:xfrm>
          </p:grpSpPr>
          <p:sp>
            <p:nvSpPr>
              <p:cNvPr id="321" name="Google Shape;321;p19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9"/>
            <p:cNvGrpSpPr/>
            <p:nvPr/>
          </p:nvGrpSpPr>
          <p:grpSpPr>
            <a:xfrm flipH="1" rot="-6498960">
              <a:off x="8380870" y="3819468"/>
              <a:ext cx="2061203" cy="2245854"/>
              <a:chOff x="8837613" y="2687638"/>
              <a:chExt cx="2941638" cy="3205163"/>
            </a:xfrm>
          </p:grpSpPr>
          <p:sp>
            <p:nvSpPr>
              <p:cNvPr id="326" name="Google Shape;326;p19"/>
              <p:cNvSpPr/>
              <p:nvPr/>
            </p:nvSpPr>
            <p:spPr>
              <a:xfrm>
                <a:off x="8837613" y="2687638"/>
                <a:ext cx="2760663" cy="3205163"/>
              </a:xfrm>
              <a:custGeom>
                <a:rect b="b" l="l" r="r" t="t"/>
                <a:pathLst>
                  <a:path extrusionOk="0" h="850" w="733">
                    <a:moveTo>
                      <a:pt x="581" y="646"/>
                    </a:moveTo>
                    <a:cubicBezTo>
                      <a:pt x="564" y="667"/>
                      <a:pt x="545" y="684"/>
                      <a:pt x="524" y="696"/>
                    </a:cubicBezTo>
                    <a:cubicBezTo>
                      <a:pt x="495" y="714"/>
                      <a:pt x="468" y="735"/>
                      <a:pt x="445" y="762"/>
                    </a:cubicBezTo>
                    <a:cubicBezTo>
                      <a:pt x="424" y="786"/>
                      <a:pt x="405" y="830"/>
                      <a:pt x="373" y="838"/>
                    </a:cubicBezTo>
                    <a:cubicBezTo>
                      <a:pt x="351" y="846"/>
                      <a:pt x="334" y="831"/>
                      <a:pt x="313" y="829"/>
                    </a:cubicBezTo>
                    <a:cubicBezTo>
                      <a:pt x="291" y="828"/>
                      <a:pt x="269" y="840"/>
                      <a:pt x="248" y="845"/>
                    </a:cubicBezTo>
                    <a:cubicBezTo>
                      <a:pt x="221" y="850"/>
                      <a:pt x="197" y="844"/>
                      <a:pt x="175" y="830"/>
                    </a:cubicBezTo>
                    <a:cubicBezTo>
                      <a:pt x="128" y="802"/>
                      <a:pt x="103" y="749"/>
                      <a:pt x="66" y="710"/>
                    </a:cubicBezTo>
                    <a:cubicBezTo>
                      <a:pt x="27" y="681"/>
                      <a:pt x="27" y="681"/>
                      <a:pt x="27" y="681"/>
                    </a:cubicBezTo>
                    <a:cubicBezTo>
                      <a:pt x="1" y="662"/>
                      <a:pt x="4" y="554"/>
                      <a:pt x="3" y="523"/>
                    </a:cubicBezTo>
                    <a:cubicBezTo>
                      <a:pt x="2" y="477"/>
                      <a:pt x="0" y="429"/>
                      <a:pt x="16" y="383"/>
                    </a:cubicBezTo>
                    <a:cubicBezTo>
                      <a:pt x="40" y="308"/>
                      <a:pt x="98" y="253"/>
                      <a:pt x="137" y="186"/>
                    </a:cubicBezTo>
                    <a:cubicBezTo>
                      <a:pt x="172" y="126"/>
                      <a:pt x="183" y="56"/>
                      <a:pt x="253" y="30"/>
                    </a:cubicBezTo>
                    <a:cubicBezTo>
                      <a:pt x="334" y="0"/>
                      <a:pt x="421" y="32"/>
                      <a:pt x="494" y="56"/>
                    </a:cubicBezTo>
                    <a:cubicBezTo>
                      <a:pt x="561" y="78"/>
                      <a:pt x="629" y="107"/>
                      <a:pt x="683" y="155"/>
                    </a:cubicBezTo>
                    <a:cubicBezTo>
                      <a:pt x="733" y="200"/>
                      <a:pt x="730" y="251"/>
                      <a:pt x="706" y="320"/>
                    </a:cubicBezTo>
                    <a:cubicBezTo>
                      <a:pt x="686" y="380"/>
                      <a:pt x="684" y="438"/>
                      <a:pt x="664" y="498"/>
                    </a:cubicBezTo>
                    <a:cubicBezTo>
                      <a:pt x="647" y="547"/>
                      <a:pt x="618" y="603"/>
                      <a:pt x="581" y="6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9056688" y="2997200"/>
                <a:ext cx="2417762" cy="2741613"/>
              </a:xfrm>
              <a:custGeom>
                <a:rect b="b" l="l" r="r" t="t"/>
                <a:pathLst>
                  <a:path extrusionOk="0" h="727" w="642">
                    <a:moveTo>
                      <a:pt x="284" y="0"/>
                    </a:moveTo>
                    <a:cubicBezTo>
                      <a:pt x="262" y="0"/>
                      <a:pt x="241" y="3"/>
                      <a:pt x="221" y="10"/>
                    </a:cubicBezTo>
                    <a:cubicBezTo>
                      <a:pt x="160" y="33"/>
                      <a:pt x="150" y="95"/>
                      <a:pt x="119" y="148"/>
                    </a:cubicBezTo>
                    <a:cubicBezTo>
                      <a:pt x="85" y="206"/>
                      <a:pt x="35" y="255"/>
                      <a:pt x="13" y="320"/>
                    </a:cubicBezTo>
                    <a:cubicBezTo>
                      <a:pt x="0" y="360"/>
                      <a:pt x="1" y="403"/>
                      <a:pt x="2" y="443"/>
                    </a:cubicBezTo>
                    <a:cubicBezTo>
                      <a:pt x="3" y="470"/>
                      <a:pt x="0" y="565"/>
                      <a:pt x="23" y="581"/>
                    </a:cubicBezTo>
                    <a:cubicBezTo>
                      <a:pt x="57" y="607"/>
                      <a:pt x="57" y="607"/>
                      <a:pt x="57" y="607"/>
                    </a:cubicBezTo>
                    <a:cubicBezTo>
                      <a:pt x="90" y="641"/>
                      <a:pt x="112" y="687"/>
                      <a:pt x="152" y="712"/>
                    </a:cubicBezTo>
                    <a:cubicBezTo>
                      <a:pt x="167" y="721"/>
                      <a:pt x="182" y="727"/>
                      <a:pt x="199" y="727"/>
                    </a:cubicBezTo>
                    <a:cubicBezTo>
                      <a:pt x="205" y="727"/>
                      <a:pt x="211" y="726"/>
                      <a:pt x="217" y="725"/>
                    </a:cubicBezTo>
                    <a:cubicBezTo>
                      <a:pt x="234" y="721"/>
                      <a:pt x="253" y="711"/>
                      <a:pt x="271" y="711"/>
                    </a:cubicBezTo>
                    <a:cubicBezTo>
                      <a:pt x="272" y="711"/>
                      <a:pt x="273" y="711"/>
                      <a:pt x="274" y="712"/>
                    </a:cubicBezTo>
                    <a:cubicBezTo>
                      <a:pt x="288" y="712"/>
                      <a:pt x="300" y="721"/>
                      <a:pt x="314" y="721"/>
                    </a:cubicBezTo>
                    <a:cubicBezTo>
                      <a:pt x="318" y="721"/>
                      <a:pt x="322" y="720"/>
                      <a:pt x="326" y="719"/>
                    </a:cubicBezTo>
                    <a:cubicBezTo>
                      <a:pt x="354" y="712"/>
                      <a:pt x="371" y="674"/>
                      <a:pt x="390" y="652"/>
                    </a:cubicBezTo>
                    <a:cubicBezTo>
                      <a:pt x="410" y="629"/>
                      <a:pt x="433" y="610"/>
                      <a:pt x="459" y="595"/>
                    </a:cubicBezTo>
                    <a:cubicBezTo>
                      <a:pt x="477" y="584"/>
                      <a:pt x="494" y="569"/>
                      <a:pt x="509" y="551"/>
                    </a:cubicBezTo>
                    <a:cubicBezTo>
                      <a:pt x="541" y="513"/>
                      <a:pt x="567" y="464"/>
                      <a:pt x="581" y="421"/>
                    </a:cubicBezTo>
                    <a:cubicBezTo>
                      <a:pt x="599" y="368"/>
                      <a:pt x="600" y="318"/>
                      <a:pt x="619" y="265"/>
                    </a:cubicBezTo>
                    <a:cubicBezTo>
                      <a:pt x="639" y="204"/>
                      <a:pt x="642" y="159"/>
                      <a:pt x="598" y="120"/>
                    </a:cubicBezTo>
                    <a:cubicBezTo>
                      <a:pt x="551" y="78"/>
                      <a:pt x="491" y="52"/>
                      <a:pt x="432" y="33"/>
                    </a:cubicBezTo>
                    <a:cubicBezTo>
                      <a:pt x="387" y="18"/>
                      <a:pt x="335" y="0"/>
                      <a:pt x="28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9432925" y="3276600"/>
                <a:ext cx="2346325" cy="2560638"/>
              </a:xfrm>
              <a:custGeom>
                <a:rect b="b" l="l" r="r" t="t"/>
                <a:pathLst>
                  <a:path extrusionOk="0" h="679" w="623">
                    <a:moveTo>
                      <a:pt x="513" y="530"/>
                    </a:moveTo>
                    <a:cubicBezTo>
                      <a:pt x="499" y="545"/>
                      <a:pt x="483" y="558"/>
                      <a:pt x="466" y="567"/>
                    </a:cubicBezTo>
                    <a:cubicBezTo>
                      <a:pt x="441" y="580"/>
                      <a:pt x="419" y="595"/>
                      <a:pt x="401" y="616"/>
                    </a:cubicBezTo>
                    <a:cubicBezTo>
                      <a:pt x="384" y="634"/>
                      <a:pt x="369" y="668"/>
                      <a:pt x="342" y="673"/>
                    </a:cubicBezTo>
                    <a:cubicBezTo>
                      <a:pt x="323" y="679"/>
                      <a:pt x="307" y="666"/>
                      <a:pt x="289" y="664"/>
                    </a:cubicBezTo>
                    <a:cubicBezTo>
                      <a:pt x="270" y="662"/>
                      <a:pt x="252" y="670"/>
                      <a:pt x="234" y="673"/>
                    </a:cubicBezTo>
                    <a:cubicBezTo>
                      <a:pt x="210" y="676"/>
                      <a:pt x="189" y="670"/>
                      <a:pt x="169" y="658"/>
                    </a:cubicBezTo>
                    <a:cubicBezTo>
                      <a:pt x="128" y="633"/>
                      <a:pt x="104" y="589"/>
                      <a:pt x="69" y="556"/>
                    </a:cubicBezTo>
                    <a:cubicBezTo>
                      <a:pt x="34" y="531"/>
                      <a:pt x="34" y="531"/>
                      <a:pt x="34" y="531"/>
                    </a:cubicBezTo>
                    <a:cubicBezTo>
                      <a:pt x="11" y="515"/>
                      <a:pt x="9" y="429"/>
                      <a:pt x="7" y="404"/>
                    </a:cubicBezTo>
                    <a:cubicBezTo>
                      <a:pt x="3" y="367"/>
                      <a:pt x="0" y="328"/>
                      <a:pt x="11" y="292"/>
                    </a:cubicBezTo>
                    <a:cubicBezTo>
                      <a:pt x="28" y="233"/>
                      <a:pt x="76" y="192"/>
                      <a:pt x="106" y="140"/>
                    </a:cubicBezTo>
                    <a:cubicBezTo>
                      <a:pt x="134" y="94"/>
                      <a:pt x="140" y="38"/>
                      <a:pt x="199" y="20"/>
                    </a:cubicBezTo>
                    <a:cubicBezTo>
                      <a:pt x="268" y="0"/>
                      <a:pt x="345" y="30"/>
                      <a:pt x="410" y="52"/>
                    </a:cubicBezTo>
                    <a:cubicBezTo>
                      <a:pt x="469" y="73"/>
                      <a:pt x="529" y="99"/>
                      <a:pt x="578" y="140"/>
                    </a:cubicBezTo>
                    <a:cubicBezTo>
                      <a:pt x="623" y="179"/>
                      <a:pt x="623" y="220"/>
                      <a:pt x="606" y="274"/>
                    </a:cubicBezTo>
                    <a:cubicBezTo>
                      <a:pt x="591" y="321"/>
                      <a:pt x="593" y="368"/>
                      <a:pt x="578" y="415"/>
                    </a:cubicBezTo>
                    <a:cubicBezTo>
                      <a:pt x="565" y="453"/>
                      <a:pt x="543" y="497"/>
                      <a:pt x="513" y="5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9832975" y="3597275"/>
                <a:ext cx="1795463" cy="2092325"/>
              </a:xfrm>
              <a:custGeom>
                <a:rect b="b" l="l" r="r" t="t"/>
                <a:pathLst>
                  <a:path extrusionOk="0" h="555" w="477">
                    <a:moveTo>
                      <a:pt x="20" y="236"/>
                    </a:moveTo>
                    <a:cubicBezTo>
                      <a:pt x="45" y="152"/>
                      <a:pt x="86" y="45"/>
                      <a:pt x="179" y="17"/>
                    </a:cubicBezTo>
                    <a:cubicBezTo>
                      <a:pt x="238" y="0"/>
                      <a:pt x="297" y="28"/>
                      <a:pt x="349" y="54"/>
                    </a:cubicBezTo>
                    <a:cubicBezTo>
                      <a:pt x="400" y="79"/>
                      <a:pt x="442" y="139"/>
                      <a:pt x="459" y="193"/>
                    </a:cubicBezTo>
                    <a:cubicBezTo>
                      <a:pt x="477" y="250"/>
                      <a:pt x="455" y="315"/>
                      <a:pt x="455" y="373"/>
                    </a:cubicBezTo>
                    <a:cubicBezTo>
                      <a:pt x="457" y="521"/>
                      <a:pt x="325" y="555"/>
                      <a:pt x="198" y="555"/>
                    </a:cubicBezTo>
                    <a:cubicBezTo>
                      <a:pt x="91" y="554"/>
                      <a:pt x="64" y="508"/>
                      <a:pt x="34" y="413"/>
                    </a:cubicBezTo>
                    <a:cubicBezTo>
                      <a:pt x="15" y="352"/>
                      <a:pt x="0" y="300"/>
                      <a:pt x="20" y="2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20"/>
          <p:cNvGrpSpPr/>
          <p:nvPr/>
        </p:nvGrpSpPr>
        <p:grpSpPr>
          <a:xfrm>
            <a:off x="-1199486" y="1973047"/>
            <a:ext cx="12934263" cy="5261902"/>
            <a:chOff x="-1199486" y="1973047"/>
            <a:chExt cx="12934263" cy="5261902"/>
          </a:xfrm>
        </p:grpSpPr>
        <p:grpSp>
          <p:nvGrpSpPr>
            <p:cNvPr id="333" name="Google Shape;333;p20"/>
            <p:cNvGrpSpPr/>
            <p:nvPr/>
          </p:nvGrpSpPr>
          <p:grpSpPr>
            <a:xfrm flipH="1" rot="-8100000">
              <a:off x="7421487" y="2565610"/>
              <a:ext cx="3364678" cy="4076775"/>
              <a:chOff x="8296949" y="690322"/>
              <a:chExt cx="2429725" cy="2943949"/>
            </a:xfrm>
          </p:grpSpPr>
          <p:sp>
            <p:nvSpPr>
              <p:cNvPr id="334" name="Google Shape;334;p20"/>
              <p:cNvSpPr/>
              <p:nvPr/>
            </p:nvSpPr>
            <p:spPr>
              <a:xfrm rot="10627313">
                <a:off x="8439875" y="744193"/>
                <a:ext cx="2216992" cy="2836208"/>
              </a:xfrm>
              <a:custGeom>
                <a:rect b="b" l="l" r="r" t="t"/>
                <a:pathLst>
                  <a:path extrusionOk="0" h="1236" w="967">
                    <a:moveTo>
                      <a:pt x="801" y="1103"/>
                    </a:moveTo>
                    <a:cubicBezTo>
                      <a:pt x="842" y="1016"/>
                      <a:pt x="894" y="1062"/>
                      <a:pt x="898" y="969"/>
                    </a:cubicBezTo>
                    <a:cubicBezTo>
                      <a:pt x="901" y="885"/>
                      <a:pt x="847" y="656"/>
                      <a:pt x="881" y="578"/>
                    </a:cubicBezTo>
                    <a:cubicBezTo>
                      <a:pt x="912" y="498"/>
                      <a:pt x="967" y="438"/>
                      <a:pt x="903" y="352"/>
                    </a:cubicBezTo>
                    <a:cubicBezTo>
                      <a:pt x="839" y="269"/>
                      <a:pt x="718" y="210"/>
                      <a:pt x="625" y="161"/>
                    </a:cubicBezTo>
                    <a:cubicBezTo>
                      <a:pt x="527" y="58"/>
                      <a:pt x="527" y="58"/>
                      <a:pt x="527" y="58"/>
                    </a:cubicBezTo>
                    <a:cubicBezTo>
                      <a:pt x="472" y="0"/>
                      <a:pt x="329" y="15"/>
                      <a:pt x="272" y="54"/>
                    </a:cubicBezTo>
                    <a:cubicBezTo>
                      <a:pt x="192" y="111"/>
                      <a:pt x="144" y="215"/>
                      <a:pt x="103" y="302"/>
                    </a:cubicBezTo>
                    <a:cubicBezTo>
                      <a:pt x="0" y="513"/>
                      <a:pt x="41" y="784"/>
                      <a:pt x="181" y="969"/>
                    </a:cubicBezTo>
                    <a:cubicBezTo>
                      <a:pt x="269" y="1087"/>
                      <a:pt x="456" y="1194"/>
                      <a:pt x="603" y="1218"/>
                    </a:cubicBezTo>
                    <a:cubicBezTo>
                      <a:pt x="708" y="1236"/>
                      <a:pt x="757" y="1193"/>
                      <a:pt x="801" y="1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20"/>
              <p:cNvSpPr/>
              <p:nvPr/>
            </p:nvSpPr>
            <p:spPr>
              <a:xfrm rot="10627309">
                <a:off x="8532183" y="1023663"/>
                <a:ext cx="1521463" cy="2218926"/>
              </a:xfrm>
              <a:custGeom>
                <a:rect b="b" l="l" r="r" t="t"/>
                <a:pathLst>
                  <a:path extrusionOk="0" h="967" w="664">
                    <a:moveTo>
                      <a:pt x="562" y="443"/>
                    </a:moveTo>
                    <a:cubicBezTo>
                      <a:pt x="594" y="380"/>
                      <a:pt x="664" y="331"/>
                      <a:pt x="652" y="256"/>
                    </a:cubicBezTo>
                    <a:cubicBezTo>
                      <a:pt x="631" y="130"/>
                      <a:pt x="498" y="81"/>
                      <a:pt x="390" y="53"/>
                    </a:cubicBezTo>
                    <a:cubicBezTo>
                      <a:pt x="332" y="37"/>
                      <a:pt x="268" y="0"/>
                      <a:pt x="207" y="8"/>
                    </a:cubicBezTo>
                    <a:cubicBezTo>
                      <a:pt x="124" y="19"/>
                      <a:pt x="145" y="100"/>
                      <a:pt x="157" y="157"/>
                    </a:cubicBezTo>
                    <a:cubicBezTo>
                      <a:pt x="182" y="294"/>
                      <a:pt x="103" y="366"/>
                      <a:pt x="45" y="477"/>
                    </a:cubicBezTo>
                    <a:cubicBezTo>
                      <a:pt x="14" y="537"/>
                      <a:pt x="0" y="577"/>
                      <a:pt x="33" y="639"/>
                    </a:cubicBezTo>
                    <a:cubicBezTo>
                      <a:pt x="69" y="703"/>
                      <a:pt x="118" y="773"/>
                      <a:pt x="179" y="815"/>
                    </a:cubicBezTo>
                    <a:cubicBezTo>
                      <a:pt x="241" y="854"/>
                      <a:pt x="399" y="967"/>
                      <a:pt x="468" y="913"/>
                    </a:cubicBezTo>
                    <a:cubicBezTo>
                      <a:pt x="584" y="823"/>
                      <a:pt x="532" y="679"/>
                      <a:pt x="536" y="555"/>
                    </a:cubicBezTo>
                    <a:cubicBezTo>
                      <a:pt x="537" y="516"/>
                      <a:pt x="543" y="477"/>
                      <a:pt x="562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 rot="10627311">
                <a:off x="8358411" y="948274"/>
                <a:ext cx="1758136" cy="2492310"/>
              </a:xfrm>
              <a:custGeom>
                <a:rect b="b" l="l" r="r" t="t"/>
                <a:pathLst>
                  <a:path extrusionOk="0" h="1086" w="767">
                    <a:moveTo>
                      <a:pt x="247" y="20"/>
                    </a:moveTo>
                    <a:cubicBezTo>
                      <a:pt x="394" y="0"/>
                      <a:pt x="614" y="123"/>
                      <a:pt x="705" y="249"/>
                    </a:cubicBezTo>
                    <a:cubicBezTo>
                      <a:pt x="767" y="336"/>
                      <a:pt x="744" y="403"/>
                      <a:pt x="690" y="457"/>
                    </a:cubicBezTo>
                    <a:cubicBezTo>
                      <a:pt x="592" y="554"/>
                      <a:pt x="418" y="638"/>
                      <a:pt x="415" y="797"/>
                    </a:cubicBezTo>
                    <a:cubicBezTo>
                      <a:pt x="414" y="876"/>
                      <a:pt x="530" y="975"/>
                      <a:pt x="490" y="1045"/>
                    </a:cubicBezTo>
                    <a:cubicBezTo>
                      <a:pt x="466" y="1086"/>
                      <a:pt x="399" y="1077"/>
                      <a:pt x="346" y="1064"/>
                    </a:cubicBezTo>
                    <a:cubicBezTo>
                      <a:pt x="249" y="1041"/>
                      <a:pt x="109" y="984"/>
                      <a:pt x="44" y="899"/>
                    </a:cubicBezTo>
                    <a:cubicBezTo>
                      <a:pt x="10" y="854"/>
                      <a:pt x="0" y="786"/>
                      <a:pt x="17" y="746"/>
                    </a:cubicBezTo>
                    <a:cubicBezTo>
                      <a:pt x="109" y="522"/>
                      <a:pt x="190" y="557"/>
                      <a:pt x="131" y="318"/>
                    </a:cubicBezTo>
                    <a:cubicBezTo>
                      <a:pt x="109" y="228"/>
                      <a:pt x="95" y="131"/>
                      <a:pt x="151" y="69"/>
                    </a:cubicBezTo>
                    <a:cubicBezTo>
                      <a:pt x="175" y="41"/>
                      <a:pt x="209" y="26"/>
                      <a:pt x="247" y="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 rot="10627310">
                <a:off x="8597521" y="1207075"/>
                <a:ext cx="1322467" cy="1993848"/>
              </a:xfrm>
              <a:custGeom>
                <a:rect b="b" l="l" r="r" t="t"/>
                <a:pathLst>
                  <a:path extrusionOk="0" h="869" w="577">
                    <a:moveTo>
                      <a:pt x="130" y="30"/>
                    </a:moveTo>
                    <a:cubicBezTo>
                      <a:pt x="246" y="0"/>
                      <a:pt x="435" y="79"/>
                      <a:pt x="520" y="173"/>
                    </a:cubicBezTo>
                    <a:cubicBezTo>
                      <a:pt x="577" y="237"/>
                      <a:pt x="565" y="293"/>
                      <a:pt x="526" y="341"/>
                    </a:cubicBezTo>
                    <a:cubicBezTo>
                      <a:pt x="456" y="429"/>
                      <a:pt x="324" y="512"/>
                      <a:pt x="336" y="641"/>
                    </a:cubicBezTo>
                    <a:cubicBezTo>
                      <a:pt x="342" y="704"/>
                      <a:pt x="444" y="774"/>
                      <a:pt x="418" y="834"/>
                    </a:cubicBezTo>
                    <a:cubicBezTo>
                      <a:pt x="403" y="869"/>
                      <a:pt x="348" y="867"/>
                      <a:pt x="304" y="862"/>
                    </a:cubicBezTo>
                    <a:cubicBezTo>
                      <a:pt x="223" y="852"/>
                      <a:pt x="105" y="819"/>
                      <a:pt x="46" y="756"/>
                    </a:cubicBezTo>
                    <a:cubicBezTo>
                      <a:pt x="14" y="723"/>
                      <a:pt x="0" y="669"/>
                      <a:pt x="10" y="635"/>
                    </a:cubicBezTo>
                    <a:cubicBezTo>
                      <a:pt x="64" y="447"/>
                      <a:pt x="132" y="467"/>
                      <a:pt x="63" y="280"/>
                    </a:cubicBezTo>
                    <a:cubicBezTo>
                      <a:pt x="37" y="209"/>
                      <a:pt x="17" y="133"/>
                      <a:pt x="57" y="77"/>
                    </a:cubicBezTo>
                    <a:cubicBezTo>
                      <a:pt x="74" y="53"/>
                      <a:pt x="99" y="37"/>
                      <a:pt x="130" y="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 rot="10627313">
                <a:off x="8754528" y="1392876"/>
                <a:ext cx="994989" cy="1604544"/>
              </a:xfrm>
              <a:custGeom>
                <a:rect b="b" l="l" r="r" t="t"/>
                <a:pathLst>
                  <a:path extrusionOk="0" h="699" w="434">
                    <a:moveTo>
                      <a:pt x="151" y="36"/>
                    </a:moveTo>
                    <a:cubicBezTo>
                      <a:pt x="233" y="0"/>
                      <a:pt x="354" y="46"/>
                      <a:pt x="401" y="114"/>
                    </a:cubicBezTo>
                    <a:cubicBezTo>
                      <a:pt x="434" y="161"/>
                      <a:pt x="420" y="208"/>
                      <a:pt x="389" y="251"/>
                    </a:cubicBezTo>
                    <a:cubicBezTo>
                      <a:pt x="333" y="330"/>
                      <a:pt x="235" y="410"/>
                      <a:pt x="230" y="515"/>
                    </a:cubicBezTo>
                    <a:cubicBezTo>
                      <a:pt x="228" y="566"/>
                      <a:pt x="291" y="613"/>
                      <a:pt x="267" y="664"/>
                    </a:cubicBezTo>
                    <a:cubicBezTo>
                      <a:pt x="253" y="694"/>
                      <a:pt x="216" y="699"/>
                      <a:pt x="187" y="699"/>
                    </a:cubicBezTo>
                    <a:cubicBezTo>
                      <a:pt x="133" y="699"/>
                      <a:pt x="56" y="683"/>
                      <a:pt x="22" y="638"/>
                    </a:cubicBezTo>
                    <a:cubicBezTo>
                      <a:pt x="4" y="614"/>
                      <a:pt x="0" y="571"/>
                      <a:pt x="10" y="543"/>
                    </a:cubicBezTo>
                    <a:cubicBezTo>
                      <a:pt x="65" y="383"/>
                      <a:pt x="110" y="393"/>
                      <a:pt x="81" y="247"/>
                    </a:cubicBezTo>
                    <a:cubicBezTo>
                      <a:pt x="71" y="192"/>
                      <a:pt x="65" y="131"/>
                      <a:pt x="97" y="82"/>
                    </a:cubicBezTo>
                    <a:cubicBezTo>
                      <a:pt x="111" y="60"/>
                      <a:pt x="130" y="45"/>
                      <a:pt x="151" y="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20"/>
            <p:cNvGrpSpPr/>
            <p:nvPr/>
          </p:nvGrpSpPr>
          <p:grpSpPr>
            <a:xfrm flipH="1" rot="5615415">
              <a:off x="-1193595" y="2786452"/>
              <a:ext cx="3744424" cy="3528654"/>
              <a:chOff x="4702175" y="2438400"/>
              <a:chExt cx="4049713" cy="3816351"/>
            </a:xfrm>
          </p:grpSpPr>
          <p:sp>
            <p:nvSpPr>
              <p:cNvPr id="340" name="Google Shape;340;p20"/>
              <p:cNvSpPr/>
              <p:nvPr/>
            </p:nvSpPr>
            <p:spPr>
              <a:xfrm>
                <a:off x="4702175" y="2438400"/>
                <a:ext cx="4049713" cy="3816351"/>
              </a:xfrm>
              <a:custGeom>
                <a:rect b="b" l="l" r="r" t="t"/>
                <a:pathLst>
                  <a:path extrusionOk="0" h="1012" w="1075">
                    <a:moveTo>
                      <a:pt x="917" y="870"/>
                    </a:moveTo>
                    <a:cubicBezTo>
                      <a:pt x="917" y="870"/>
                      <a:pt x="1075" y="615"/>
                      <a:pt x="812" y="398"/>
                    </a:cubicBezTo>
                    <a:cubicBezTo>
                      <a:pt x="723" y="325"/>
                      <a:pt x="651" y="243"/>
                      <a:pt x="593" y="145"/>
                    </a:cubicBezTo>
                    <a:cubicBezTo>
                      <a:pt x="568" y="103"/>
                      <a:pt x="568" y="23"/>
                      <a:pt x="506" y="12"/>
                    </a:cubicBezTo>
                    <a:cubicBezTo>
                      <a:pt x="432" y="0"/>
                      <a:pt x="361" y="94"/>
                      <a:pt x="314" y="138"/>
                    </a:cubicBezTo>
                    <a:cubicBezTo>
                      <a:pt x="259" y="189"/>
                      <a:pt x="203" y="239"/>
                      <a:pt x="141" y="282"/>
                    </a:cubicBezTo>
                    <a:cubicBezTo>
                      <a:pt x="96" y="314"/>
                      <a:pt x="40" y="345"/>
                      <a:pt x="21" y="396"/>
                    </a:cubicBezTo>
                    <a:cubicBezTo>
                      <a:pt x="0" y="451"/>
                      <a:pt x="34" y="509"/>
                      <a:pt x="67" y="545"/>
                    </a:cubicBezTo>
                    <a:cubicBezTo>
                      <a:pt x="222" y="715"/>
                      <a:pt x="497" y="742"/>
                      <a:pt x="663" y="901"/>
                    </a:cubicBezTo>
                    <a:cubicBezTo>
                      <a:pt x="700" y="936"/>
                      <a:pt x="752" y="1012"/>
                      <a:pt x="823" y="975"/>
                    </a:cubicBezTo>
                    <a:cubicBezTo>
                      <a:pt x="863" y="955"/>
                      <a:pt x="895" y="905"/>
                      <a:pt x="917" y="8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5181600" y="2951163"/>
                <a:ext cx="3222626" cy="2971800"/>
              </a:xfrm>
              <a:custGeom>
                <a:rect b="b" l="l" r="r" t="t"/>
                <a:pathLst>
                  <a:path extrusionOk="0" h="788" w="856">
                    <a:moveTo>
                      <a:pt x="159" y="156"/>
                    </a:moveTo>
                    <a:cubicBezTo>
                      <a:pt x="133" y="184"/>
                      <a:pt x="106" y="210"/>
                      <a:pt x="76" y="235"/>
                    </a:cubicBezTo>
                    <a:cubicBezTo>
                      <a:pt x="50" y="257"/>
                      <a:pt x="17" y="278"/>
                      <a:pt x="0" y="309"/>
                    </a:cubicBezTo>
                    <a:cubicBezTo>
                      <a:pt x="12" y="298"/>
                      <a:pt x="25" y="289"/>
                      <a:pt x="37" y="279"/>
                    </a:cubicBezTo>
                    <a:cubicBezTo>
                      <a:pt x="81" y="242"/>
                      <a:pt x="121" y="200"/>
                      <a:pt x="159" y="156"/>
                    </a:cubicBezTo>
                    <a:moveTo>
                      <a:pt x="332" y="0"/>
                    </a:moveTo>
                    <a:cubicBezTo>
                      <a:pt x="293" y="0"/>
                      <a:pt x="259" y="37"/>
                      <a:pt x="232" y="72"/>
                    </a:cubicBezTo>
                    <a:cubicBezTo>
                      <a:pt x="250" y="56"/>
                      <a:pt x="270" y="44"/>
                      <a:pt x="292" y="44"/>
                    </a:cubicBezTo>
                    <a:cubicBezTo>
                      <a:pt x="295" y="44"/>
                      <a:pt x="298" y="44"/>
                      <a:pt x="301" y="45"/>
                    </a:cubicBezTo>
                    <a:cubicBezTo>
                      <a:pt x="352" y="52"/>
                      <a:pt x="360" y="118"/>
                      <a:pt x="384" y="152"/>
                    </a:cubicBezTo>
                    <a:cubicBezTo>
                      <a:pt x="440" y="231"/>
                      <a:pt x="506" y="297"/>
                      <a:pt x="585" y="355"/>
                    </a:cubicBezTo>
                    <a:cubicBezTo>
                      <a:pt x="817" y="527"/>
                      <a:pt x="716" y="743"/>
                      <a:pt x="716" y="743"/>
                    </a:cubicBezTo>
                    <a:cubicBezTo>
                      <a:pt x="710" y="756"/>
                      <a:pt x="702" y="773"/>
                      <a:pt x="692" y="788"/>
                    </a:cubicBezTo>
                    <a:cubicBezTo>
                      <a:pt x="721" y="770"/>
                      <a:pt x="741" y="729"/>
                      <a:pt x="755" y="700"/>
                    </a:cubicBezTo>
                    <a:cubicBezTo>
                      <a:pt x="755" y="700"/>
                      <a:pt x="856" y="485"/>
                      <a:pt x="624" y="312"/>
                    </a:cubicBezTo>
                    <a:cubicBezTo>
                      <a:pt x="546" y="254"/>
                      <a:pt x="480" y="188"/>
                      <a:pt x="425" y="108"/>
                    </a:cubicBezTo>
                    <a:cubicBezTo>
                      <a:pt x="401" y="74"/>
                      <a:pt x="392" y="8"/>
                      <a:pt x="341" y="1"/>
                    </a:cubicBezTo>
                    <a:cubicBezTo>
                      <a:pt x="338" y="1"/>
                      <a:pt x="335" y="0"/>
                      <a:pt x="332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0"/>
              <p:cNvSpPr/>
              <p:nvPr/>
            </p:nvSpPr>
            <p:spPr>
              <a:xfrm>
                <a:off x="4959350" y="3087688"/>
                <a:ext cx="3298825" cy="3125788"/>
              </a:xfrm>
              <a:custGeom>
                <a:rect b="b" l="l" r="r" t="t"/>
                <a:pathLst>
                  <a:path extrusionOk="0" h="829" w="876">
                    <a:moveTo>
                      <a:pt x="775" y="707"/>
                    </a:moveTo>
                    <a:cubicBezTo>
                      <a:pt x="775" y="707"/>
                      <a:pt x="876" y="491"/>
                      <a:pt x="644" y="319"/>
                    </a:cubicBezTo>
                    <a:cubicBezTo>
                      <a:pt x="565" y="261"/>
                      <a:pt x="499" y="195"/>
                      <a:pt x="443" y="116"/>
                    </a:cubicBezTo>
                    <a:cubicBezTo>
                      <a:pt x="419" y="82"/>
                      <a:pt x="411" y="16"/>
                      <a:pt x="360" y="9"/>
                    </a:cubicBezTo>
                    <a:cubicBezTo>
                      <a:pt x="300" y="0"/>
                      <a:pt x="253" y="80"/>
                      <a:pt x="219" y="119"/>
                    </a:cubicBezTo>
                    <a:cubicBezTo>
                      <a:pt x="181" y="163"/>
                      <a:pt x="141" y="205"/>
                      <a:pt x="96" y="243"/>
                    </a:cubicBezTo>
                    <a:cubicBezTo>
                      <a:pt x="62" y="271"/>
                      <a:pt x="21" y="298"/>
                      <a:pt x="10" y="341"/>
                    </a:cubicBezTo>
                    <a:cubicBezTo>
                      <a:pt x="0" y="387"/>
                      <a:pt x="32" y="434"/>
                      <a:pt x="62" y="463"/>
                    </a:cubicBezTo>
                    <a:cubicBezTo>
                      <a:pt x="204" y="599"/>
                      <a:pt x="427" y="613"/>
                      <a:pt x="575" y="740"/>
                    </a:cubicBezTo>
                    <a:cubicBezTo>
                      <a:pt x="608" y="768"/>
                      <a:pt x="658" y="829"/>
                      <a:pt x="711" y="797"/>
                    </a:cubicBezTo>
                    <a:cubicBezTo>
                      <a:pt x="741" y="779"/>
                      <a:pt x="762" y="736"/>
                      <a:pt x="775" y="70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5162550" y="3600450"/>
                <a:ext cx="2887663" cy="2497137"/>
              </a:xfrm>
              <a:custGeom>
                <a:rect b="b" l="l" r="r" t="t"/>
                <a:pathLst>
                  <a:path extrusionOk="0" h="662" w="767">
                    <a:moveTo>
                      <a:pt x="294" y="0"/>
                    </a:moveTo>
                    <a:cubicBezTo>
                      <a:pt x="250" y="0"/>
                      <a:pt x="218" y="48"/>
                      <a:pt x="195" y="79"/>
                    </a:cubicBezTo>
                    <a:cubicBezTo>
                      <a:pt x="161" y="124"/>
                      <a:pt x="126" y="168"/>
                      <a:pt x="86" y="207"/>
                    </a:cubicBezTo>
                    <a:cubicBezTo>
                      <a:pt x="52" y="240"/>
                      <a:pt x="9" y="268"/>
                      <a:pt x="0" y="318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3" y="321"/>
                      <a:pt x="5" y="324"/>
                      <a:pt x="8" y="327"/>
                    </a:cubicBezTo>
                    <a:cubicBezTo>
                      <a:pt x="150" y="463"/>
                      <a:pt x="373" y="477"/>
                      <a:pt x="521" y="604"/>
                    </a:cubicBezTo>
                    <a:cubicBezTo>
                      <a:pt x="541" y="620"/>
                      <a:pt x="567" y="649"/>
                      <a:pt x="595" y="662"/>
                    </a:cubicBezTo>
                    <a:cubicBezTo>
                      <a:pt x="596" y="662"/>
                      <a:pt x="597" y="662"/>
                      <a:pt x="598" y="662"/>
                    </a:cubicBezTo>
                    <a:cubicBezTo>
                      <a:pt x="608" y="662"/>
                      <a:pt x="619" y="659"/>
                      <a:pt x="630" y="652"/>
                    </a:cubicBezTo>
                    <a:cubicBezTo>
                      <a:pt x="656" y="634"/>
                      <a:pt x="673" y="595"/>
                      <a:pt x="684" y="569"/>
                    </a:cubicBezTo>
                    <a:cubicBezTo>
                      <a:pt x="684" y="569"/>
                      <a:pt x="767" y="374"/>
                      <a:pt x="557" y="243"/>
                    </a:cubicBezTo>
                    <a:cubicBezTo>
                      <a:pt x="492" y="202"/>
                      <a:pt x="432" y="150"/>
                      <a:pt x="389" y="86"/>
                    </a:cubicBezTo>
                    <a:cubicBezTo>
                      <a:pt x="367" y="54"/>
                      <a:pt x="345" y="5"/>
                      <a:pt x="300" y="0"/>
                    </a:cubicBezTo>
                    <a:cubicBezTo>
                      <a:pt x="298" y="0"/>
                      <a:pt x="296" y="0"/>
                      <a:pt x="294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5327650" y="3973513"/>
                <a:ext cx="2162175" cy="2143125"/>
              </a:xfrm>
              <a:custGeom>
                <a:rect b="b" l="l" r="r" t="t"/>
                <a:pathLst>
                  <a:path extrusionOk="0" h="568" w="574">
                    <a:moveTo>
                      <a:pt x="483" y="502"/>
                    </a:moveTo>
                    <a:cubicBezTo>
                      <a:pt x="483" y="502"/>
                      <a:pt x="574" y="375"/>
                      <a:pt x="440" y="240"/>
                    </a:cubicBezTo>
                    <a:cubicBezTo>
                      <a:pt x="398" y="197"/>
                      <a:pt x="362" y="148"/>
                      <a:pt x="340" y="93"/>
                    </a:cubicBezTo>
                    <a:cubicBezTo>
                      <a:pt x="329" y="65"/>
                      <a:pt x="320" y="25"/>
                      <a:pt x="288" y="13"/>
                    </a:cubicBezTo>
                    <a:cubicBezTo>
                      <a:pt x="254" y="0"/>
                      <a:pt x="221" y="31"/>
                      <a:pt x="198" y="51"/>
                    </a:cubicBezTo>
                    <a:cubicBezTo>
                      <a:pt x="166" y="77"/>
                      <a:pt x="133" y="102"/>
                      <a:pt x="97" y="123"/>
                    </a:cubicBezTo>
                    <a:cubicBezTo>
                      <a:pt x="68" y="141"/>
                      <a:pt x="31" y="153"/>
                      <a:pt x="17" y="188"/>
                    </a:cubicBezTo>
                    <a:cubicBezTo>
                      <a:pt x="2" y="224"/>
                      <a:pt x="9" y="270"/>
                      <a:pt x="12" y="308"/>
                    </a:cubicBezTo>
                    <a:cubicBezTo>
                      <a:pt x="25" y="496"/>
                      <a:pt x="0" y="473"/>
                      <a:pt x="126" y="528"/>
                    </a:cubicBezTo>
                    <a:cubicBezTo>
                      <a:pt x="158" y="542"/>
                      <a:pt x="389" y="568"/>
                      <a:pt x="430" y="552"/>
                    </a:cubicBezTo>
                    <a:cubicBezTo>
                      <a:pt x="452" y="544"/>
                      <a:pt x="471" y="519"/>
                      <a:pt x="483" y="5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chivo Black"/>
              <a:buNone/>
              <a:defRPr sz="28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●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○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■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●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○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■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●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○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stok Web"/>
              <a:buChar char="■"/>
              <a:defRPr>
                <a:solidFill>
                  <a:schemeClr val="dk2"/>
                </a:solidFill>
                <a:latin typeface="Istok Web"/>
                <a:ea typeface="Istok Web"/>
                <a:cs typeface="Istok Web"/>
                <a:sym typeface="Istok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/>
          <p:nvPr>
            <p:ph type="ctrTitle"/>
          </p:nvPr>
        </p:nvSpPr>
        <p:spPr>
          <a:xfrm>
            <a:off x="812625" y="278300"/>
            <a:ext cx="5799300" cy="23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rgbClr val="000000"/>
                </a:solidFill>
              </a:rPr>
              <a:t>Land Cover Change and Land Surface Temperature Study for Jaipur: A Decadal Analysis 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350" name="Google Shape;350;p21"/>
          <p:cNvSpPr txBox="1"/>
          <p:nvPr>
            <p:ph idx="1" type="subTitle"/>
          </p:nvPr>
        </p:nvSpPr>
        <p:spPr>
          <a:xfrm>
            <a:off x="812625" y="3227906"/>
            <a:ext cx="4528800" cy="14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Kashik P S - 2023101082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Korlapati Keerthana - 2023101121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Sambhavi Singh - 2024117010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Vishakha Agrawal - 2023101040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/>
          <p:nvPr>
            <p:ph type="title"/>
          </p:nvPr>
        </p:nvSpPr>
        <p:spPr>
          <a:xfrm>
            <a:off x="720000" y="697175"/>
            <a:ext cx="4160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356" name="Google Shape;356;p22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Objective</a:t>
            </a:r>
            <a:r>
              <a:rPr lang="en" sz="1300">
                <a:solidFill>
                  <a:srgbClr val="000000"/>
                </a:solidFill>
              </a:rPr>
              <a:t>: Analyze how urbanization in Jaipur between 2014–2024 has impacted land cover and land surface temperature.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Approach</a:t>
            </a:r>
            <a:r>
              <a:rPr lang="en" sz="1300">
                <a:solidFill>
                  <a:srgbClr val="000000"/>
                </a:solidFill>
              </a:rPr>
              <a:t>: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stok Web"/>
              <a:buChar char="●"/>
            </a:pPr>
            <a:r>
              <a:rPr lang="en" sz="1300">
                <a:solidFill>
                  <a:srgbClr val="000000"/>
                </a:solidFill>
              </a:rPr>
              <a:t>Compare two land cover classification methods: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</a:rPr>
              <a:t>Index-Based</a:t>
            </a:r>
            <a:r>
              <a:rPr lang="en" sz="1300">
                <a:solidFill>
                  <a:srgbClr val="000000"/>
                </a:solidFill>
              </a:rPr>
              <a:t> (NDVI, NDBI, etc.)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</a:rPr>
              <a:t>Quadratic Discriminant Analysis (QDA - MLC)</a:t>
            </a:r>
            <a:r>
              <a:rPr lang="en" sz="1300">
                <a:solidFill>
                  <a:srgbClr val="000000"/>
                </a:solidFill>
              </a:rPr>
              <a:t> – Supervised ML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Estimate </a:t>
            </a:r>
            <a:r>
              <a:rPr b="1" lang="en" sz="1300">
                <a:solidFill>
                  <a:srgbClr val="000000"/>
                </a:solidFill>
              </a:rPr>
              <a:t>Land Surface Temperature (LST)</a:t>
            </a:r>
            <a:r>
              <a:rPr lang="en" sz="1300">
                <a:solidFill>
                  <a:srgbClr val="000000"/>
                </a:solidFill>
              </a:rPr>
              <a:t> from Landsat 8 imagery.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Conduct </a:t>
            </a:r>
            <a:r>
              <a:rPr b="1" lang="en" sz="1300">
                <a:solidFill>
                  <a:srgbClr val="000000"/>
                </a:solidFill>
              </a:rPr>
              <a:t>sector-wise analysis</a:t>
            </a:r>
            <a:r>
              <a:rPr lang="en" sz="1300">
                <a:solidFill>
                  <a:srgbClr val="000000"/>
                </a:solidFill>
              </a:rPr>
              <a:t> using 8 directional sectors (each 45 degrees) around city center.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Why it matters</a:t>
            </a:r>
            <a:r>
              <a:rPr lang="en" sz="1300">
                <a:solidFill>
                  <a:srgbClr val="000000"/>
                </a:solidFill>
              </a:rPr>
              <a:t>: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Understand patterns of </a:t>
            </a:r>
            <a:r>
              <a:rPr b="1" lang="en" sz="1300">
                <a:solidFill>
                  <a:srgbClr val="000000"/>
                </a:solidFill>
              </a:rPr>
              <a:t>urban expansion &amp; </a:t>
            </a:r>
            <a:r>
              <a:rPr lang="en" sz="1300">
                <a:solidFill>
                  <a:srgbClr val="000000"/>
                </a:solidFill>
              </a:rPr>
              <a:t>other classes.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Inform </a:t>
            </a:r>
            <a:r>
              <a:rPr b="1" lang="en" sz="1300">
                <a:solidFill>
                  <a:srgbClr val="000000"/>
                </a:solidFill>
              </a:rPr>
              <a:t>climate-sensitive urban planning</a:t>
            </a:r>
            <a:r>
              <a:rPr lang="en" sz="1300">
                <a:solidFill>
                  <a:srgbClr val="000000"/>
                </a:solidFill>
              </a:rPr>
              <a:t> strategies.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720000" y="697175"/>
            <a:ext cx="4160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Area</a:t>
            </a:r>
            <a:endParaRPr/>
          </a:p>
        </p:txBody>
      </p:sp>
      <p:sp>
        <p:nvSpPr>
          <p:cNvPr id="362" name="Google Shape;362;p23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City</a:t>
            </a:r>
            <a:r>
              <a:rPr lang="en">
                <a:solidFill>
                  <a:srgbClr val="000000"/>
                </a:solidFill>
              </a:rPr>
              <a:t>: Jaipur, India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Coordinates</a:t>
            </a:r>
            <a:r>
              <a:rPr lang="en">
                <a:solidFill>
                  <a:srgbClr val="000000"/>
                </a:solidFill>
              </a:rPr>
              <a:t>: 26.9124°N, 75.7873°E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Climate</a:t>
            </a:r>
            <a:r>
              <a:rPr lang="en">
                <a:solidFill>
                  <a:srgbClr val="000000"/>
                </a:solidFill>
              </a:rPr>
              <a:t>: Semi-arid, prone to high temperatures and rapid urban expansion.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Region of Interest (ROI)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Defined as a </a:t>
            </a:r>
            <a:r>
              <a:rPr b="1" lang="en">
                <a:solidFill>
                  <a:srgbClr val="000000"/>
                </a:solidFill>
              </a:rPr>
              <a:t>30 km buffer</a:t>
            </a:r>
            <a:r>
              <a:rPr lang="en">
                <a:solidFill>
                  <a:srgbClr val="000000"/>
                </a:solidFill>
              </a:rPr>
              <a:t> around the city center.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Divided into </a:t>
            </a:r>
            <a:r>
              <a:rPr b="1" lang="en">
                <a:solidFill>
                  <a:srgbClr val="000000"/>
                </a:solidFill>
              </a:rPr>
              <a:t>8 equal radial sectors (45° each)</a:t>
            </a:r>
            <a:r>
              <a:rPr lang="en">
                <a:solidFill>
                  <a:srgbClr val="000000"/>
                </a:solidFill>
              </a:rPr>
              <a:t> to analyze spatial variation.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Motivation for Choosing Jaipur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stok Web"/>
              <a:buChar char="●"/>
            </a:pPr>
            <a:r>
              <a:rPr lang="en">
                <a:solidFill>
                  <a:srgbClr val="000000"/>
                </a:solidFill>
              </a:rPr>
              <a:t>Urban growth in recent decades.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Could represent typical challenges of </a:t>
            </a:r>
            <a:r>
              <a:rPr b="1" lang="en">
                <a:solidFill>
                  <a:srgbClr val="000000"/>
                </a:solidFill>
              </a:rPr>
              <a:t>urbanization in semi arid regions</a:t>
            </a:r>
            <a:r>
              <a:rPr lang="en">
                <a:solidFill>
                  <a:srgbClr val="000000"/>
                </a:solidFill>
              </a:rPr>
              <a:t>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Collection</a:t>
            </a:r>
            <a:endParaRPr/>
          </a:p>
        </p:txBody>
      </p:sp>
      <p:sp>
        <p:nvSpPr>
          <p:cNvPr id="368" name="Google Shape;368;p24"/>
          <p:cNvSpPr txBox="1"/>
          <p:nvPr>
            <p:ph idx="1" type="subTitle"/>
          </p:nvPr>
        </p:nvSpPr>
        <p:spPr>
          <a:xfrm>
            <a:off x="720000" y="1481975"/>
            <a:ext cx="8066100" cy="3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Landsat 8 Collection 2 Level-2 Surface Reflectance (SR) Products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</a:rPr>
              <a:t>Years Used: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</a:t>
            </a:r>
            <a:r>
              <a:rPr b="1" lang="en" sz="1200">
                <a:solidFill>
                  <a:srgbClr val="000000"/>
                </a:solidFill>
              </a:rPr>
              <a:t>2014</a:t>
            </a:r>
            <a:r>
              <a:rPr lang="en" sz="1200">
                <a:solidFill>
                  <a:srgbClr val="000000"/>
                </a:solidFill>
              </a:rPr>
              <a:t>, </a:t>
            </a:r>
            <a:r>
              <a:rPr b="1" lang="en" sz="1200">
                <a:solidFill>
                  <a:srgbClr val="000000"/>
                </a:solidFill>
              </a:rPr>
              <a:t>2019</a:t>
            </a:r>
            <a:r>
              <a:rPr lang="en" sz="1200">
                <a:solidFill>
                  <a:srgbClr val="000000"/>
                </a:solidFill>
              </a:rPr>
              <a:t>, </a:t>
            </a:r>
            <a:r>
              <a:rPr b="1" lang="en" sz="1200">
                <a:solidFill>
                  <a:srgbClr val="000000"/>
                </a:solidFill>
              </a:rPr>
              <a:t>2024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</a:rPr>
              <a:t>Temporal Window: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</a:t>
            </a:r>
            <a:r>
              <a:rPr b="1" lang="en" sz="1200">
                <a:solidFill>
                  <a:srgbClr val="000000"/>
                </a:solidFill>
              </a:rPr>
              <a:t>October – December</a:t>
            </a:r>
            <a:r>
              <a:rPr lang="en" sz="1200">
                <a:solidFill>
                  <a:srgbClr val="000000"/>
                </a:solidFill>
              </a:rPr>
              <a:t> (Post-monsoon period)</a:t>
            </a:r>
            <a:br>
              <a:rPr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→ Reduces seasonal variability</a:t>
            </a:r>
            <a:br>
              <a:rPr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→ Ensures vegetation presence and clearer skies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</a:rPr>
              <a:t>Cloud Filtering: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Applied cloud masking and filter.</a:t>
            </a:r>
            <a:br>
              <a:rPr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→ Ensures high-quality, cloud-free imagery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</a:rPr>
              <a:t>Reason for Multi-Month Aggregation: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Single-month imagery was not sufficient</a:t>
            </a:r>
            <a:br>
              <a:rPr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Data combined from </a:t>
            </a:r>
            <a:r>
              <a:rPr b="1" lang="en" sz="1200">
                <a:solidFill>
                  <a:srgbClr val="000000"/>
                </a:solidFill>
              </a:rPr>
              <a:t>Oct, Nov, Dec</a:t>
            </a:r>
            <a:r>
              <a:rPr lang="en" sz="1200">
                <a:solidFill>
                  <a:srgbClr val="000000"/>
                </a:solidFill>
              </a:rPr>
              <a:t> due to:</a:t>
            </a:r>
            <a:br>
              <a:rPr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    • Occasional </a:t>
            </a:r>
            <a:r>
              <a:rPr b="1" lang="en" sz="1200">
                <a:solidFill>
                  <a:srgbClr val="000000"/>
                </a:solidFill>
              </a:rPr>
              <a:t>missing bands</a:t>
            </a:r>
            <a:br>
              <a:rPr b="1" lang="en" sz="1200">
                <a:solidFill>
                  <a:srgbClr val="000000"/>
                </a:solidFill>
              </a:rPr>
            </a:br>
            <a:r>
              <a:rPr lang="en" sz="1200">
                <a:solidFill>
                  <a:srgbClr val="000000"/>
                </a:solidFill>
              </a:rPr>
              <a:t>     • </a:t>
            </a:r>
            <a:r>
              <a:rPr b="1" lang="en" sz="1200">
                <a:solidFill>
                  <a:srgbClr val="000000"/>
                </a:solidFill>
              </a:rPr>
              <a:t>Cloud/shadow cover</a:t>
            </a:r>
            <a:br>
              <a:rPr b="1" lang="en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Collection</a:t>
            </a:r>
            <a:endParaRPr/>
          </a:p>
        </p:txBody>
      </p:sp>
      <p:sp>
        <p:nvSpPr>
          <p:cNvPr id="374" name="Google Shape;374;p25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Bands Used: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SR_B1 to SR_B7</a:t>
            </a:r>
            <a:r>
              <a:rPr lang="en">
                <a:solidFill>
                  <a:srgbClr val="000000"/>
                </a:solidFill>
              </a:rPr>
              <a:t> → Optical reflectance bands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→ Used for computing indices (NDVI, NDBI, etc.)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ST_B10</a:t>
            </a:r>
            <a:r>
              <a:rPr lang="en">
                <a:solidFill>
                  <a:srgbClr val="000000"/>
                </a:solidFill>
              </a:rPr>
              <a:t> → Thermal infrared band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  → Used for LST calculation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Indices Computed: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NDVI</a:t>
            </a:r>
            <a:r>
              <a:rPr lang="en">
                <a:solidFill>
                  <a:srgbClr val="000000"/>
                </a:solidFill>
              </a:rPr>
              <a:t> – Vegetation cover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NDBI</a:t>
            </a:r>
            <a:r>
              <a:rPr lang="en">
                <a:solidFill>
                  <a:srgbClr val="000000"/>
                </a:solidFill>
              </a:rPr>
              <a:t> – Built-up/Urban index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MNDWI</a:t>
            </a:r>
            <a:r>
              <a:rPr lang="en">
                <a:solidFill>
                  <a:srgbClr val="000000"/>
                </a:solidFill>
              </a:rPr>
              <a:t> – Water body detection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BSI</a:t>
            </a:r>
            <a:r>
              <a:rPr lang="en">
                <a:solidFill>
                  <a:srgbClr val="000000"/>
                </a:solidFill>
              </a:rPr>
              <a:t> – Bare soil/others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Data Collection</a:t>
            </a:r>
            <a:endParaRPr/>
          </a:p>
        </p:txBody>
      </p:sp>
      <p:sp>
        <p:nvSpPr>
          <p:cNvPr id="380" name="Google Shape;380;p26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Data (Raster)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About 30 manually digitized </a:t>
            </a:r>
            <a:r>
              <a:rPr b="1" lang="en" sz="1700">
                <a:solidFill>
                  <a:srgbClr val="000000"/>
                </a:solidFill>
              </a:rPr>
              <a:t>training points</a:t>
            </a:r>
            <a:r>
              <a:rPr lang="en" sz="1700">
                <a:solidFill>
                  <a:srgbClr val="000000"/>
                </a:solidFill>
              </a:rPr>
              <a:t> (Urban, Vegetation, Water, Others)</a:t>
            </a:r>
            <a:br>
              <a:rPr lang="en" sz="1700">
                <a:solidFill>
                  <a:srgbClr val="000000"/>
                </a:solidFill>
              </a:rPr>
            </a:br>
            <a:r>
              <a:rPr lang="en" sz="1700">
                <a:solidFill>
                  <a:srgbClr val="000000"/>
                </a:solidFill>
              </a:rPr>
              <a:t>per class per year. Balanced samples across classes improved </a:t>
            </a:r>
            <a:r>
              <a:rPr b="1" lang="en" sz="1700">
                <a:solidFill>
                  <a:srgbClr val="000000"/>
                </a:solidFill>
              </a:rPr>
              <a:t>classifier performance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Exported as </a:t>
            </a:r>
            <a:r>
              <a:rPr b="1" lang="en" sz="1700">
                <a:solidFill>
                  <a:srgbClr val="000000"/>
                </a:solidFill>
              </a:rPr>
              <a:t>GeoJSON</a:t>
            </a:r>
            <a:r>
              <a:rPr lang="en" sz="1700">
                <a:solidFill>
                  <a:srgbClr val="000000"/>
                </a:solidFill>
              </a:rPr>
              <a:t> for supervised classification</a:t>
            </a:r>
            <a:endParaRPr sz="17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Landsat data (even for index based classification)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Pre - Processing</a:t>
            </a:r>
            <a:endParaRPr/>
          </a:p>
        </p:txBody>
      </p:sp>
      <p:sp>
        <p:nvSpPr>
          <p:cNvPr id="386" name="Google Shape;386;p27"/>
          <p:cNvSpPr txBox="1"/>
          <p:nvPr>
            <p:ph idx="1" type="subTitle"/>
          </p:nvPr>
        </p:nvSpPr>
        <p:spPr>
          <a:xfrm>
            <a:off x="720000" y="1356525"/>
            <a:ext cx="79989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Scale Factor Application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Optical bands (SR_B1 to SR_B7):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Reflectance = DN × 0.0000275 − 0.2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Thermal band (ST_B10):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Brightness Temperature (K) = DN × 0.00341802 + 149.0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to ensure radiometric consistency across all years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 (Digital Number)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Cloud Masking (QA_PIXEL)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QA_PIXEL band to remove: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Clouds (bit 3)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Shadows (bit 4)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Masking improves spatial accuracy of land cover and LST analysis</a:t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 txBox="1"/>
          <p:nvPr>
            <p:ph type="title"/>
          </p:nvPr>
        </p:nvSpPr>
        <p:spPr>
          <a:xfrm>
            <a:off x="720000" y="697175"/>
            <a:ext cx="79917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Index Based Classification</a:t>
            </a:r>
            <a:endParaRPr/>
          </a:p>
        </p:txBody>
      </p:sp>
      <p:sp>
        <p:nvSpPr>
          <p:cNvPr id="392" name="Google Shape;392;p28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1. Index-Based Classification (GEE)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stok Web"/>
              <a:buChar char="●"/>
            </a:pPr>
            <a:r>
              <a:rPr lang="en">
                <a:solidFill>
                  <a:srgbClr val="000000"/>
                </a:solidFill>
              </a:rPr>
              <a:t>Rule-based classification using thresholds on spectral indices: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>
                <a:solidFill>
                  <a:srgbClr val="000000"/>
                </a:solidFill>
              </a:rPr>
              <a:t>Urban</a:t>
            </a:r>
            <a:r>
              <a:rPr lang="en">
                <a:solidFill>
                  <a:srgbClr val="000000"/>
                </a:solidFill>
              </a:rPr>
              <a:t>: NDBI &gt; 0.15 &amp; NDVI &lt; 0.5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>
                <a:solidFill>
                  <a:srgbClr val="000000"/>
                </a:solidFill>
              </a:rPr>
              <a:t>Vegetation</a:t>
            </a:r>
            <a:r>
              <a:rPr lang="en">
                <a:solidFill>
                  <a:srgbClr val="000000"/>
                </a:solidFill>
              </a:rPr>
              <a:t>: NDVI &gt; 0.37 &amp; MNDWI &lt; 0.3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>
                <a:solidFill>
                  <a:srgbClr val="000000"/>
                </a:solidFill>
              </a:rPr>
              <a:t>Water</a:t>
            </a:r>
            <a:r>
              <a:rPr lang="en">
                <a:solidFill>
                  <a:srgbClr val="000000"/>
                </a:solidFill>
              </a:rPr>
              <a:t>: MNDWI &gt; 0.01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>
                <a:solidFill>
                  <a:srgbClr val="000000"/>
                </a:solidFill>
              </a:rPr>
              <a:t>Others</a:t>
            </a:r>
            <a:r>
              <a:rPr lang="en">
                <a:solidFill>
                  <a:srgbClr val="000000"/>
                </a:solidFill>
              </a:rPr>
              <a:t>: BSI ≤ 0.025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stok Web"/>
              <a:buChar char="●"/>
            </a:pPr>
            <a:r>
              <a:rPr lang="en">
                <a:solidFill>
                  <a:srgbClr val="000000"/>
                </a:solidFill>
              </a:rPr>
              <a:t>Simple and interpretable approach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stok Web"/>
              <a:buChar char="●"/>
            </a:pPr>
            <a:r>
              <a:rPr lang="en">
                <a:solidFill>
                  <a:srgbClr val="000000"/>
                </a:solidFill>
              </a:rPr>
              <a:t>Fast classification across years</a:t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>
            <p:ph type="title"/>
          </p:nvPr>
        </p:nvSpPr>
        <p:spPr>
          <a:xfrm>
            <a:off x="347275" y="1330800"/>
            <a:ext cx="4160700" cy="21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Based </a:t>
            </a:r>
            <a:r>
              <a:rPr lang="en"/>
              <a:t>Classification</a:t>
            </a:r>
            <a:r>
              <a:rPr lang="en"/>
              <a:t> (2024)</a:t>
            </a:r>
            <a:endParaRPr/>
          </a:p>
        </p:txBody>
      </p:sp>
      <p:pic>
        <p:nvPicPr>
          <p:cNvPr id="398" name="Google Shape;3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3700" y="65850"/>
            <a:ext cx="5980601" cy="50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3600" y="3228050"/>
            <a:ext cx="1393900" cy="15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Classification</a:t>
            </a:r>
            <a:endParaRPr/>
          </a:p>
        </p:txBody>
      </p:sp>
      <p:sp>
        <p:nvSpPr>
          <p:cNvPr id="405" name="Google Shape;405;p30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Classification Algorithms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Quadratic Discriminant Analysis (QDA):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Assumes class-specific covariance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Suitable for mixed land cover zones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Regularization used: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reg_param = 0.5</a:t>
            </a:r>
            <a:b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(RF):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Ensemble of decision trees using bagging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Robust to noise and overfitting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Parameters: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n_estimators = 200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max_depth = 10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min_samples_leaf = 5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Classification</a:t>
            </a:r>
            <a:endParaRPr/>
          </a:p>
        </p:txBody>
      </p:sp>
      <p:sp>
        <p:nvSpPr>
          <p:cNvPr id="411" name="Google Shape;411;p31"/>
          <p:cNvSpPr txBox="1"/>
          <p:nvPr>
            <p:ph idx="1" type="subTitle"/>
          </p:nvPr>
        </p:nvSpPr>
        <p:spPr>
          <a:xfrm>
            <a:off x="720000" y="1481975"/>
            <a:ext cx="80661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Feature Stack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pixel represented by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features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7 spectral bands (SR_B1–SR_B7)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4 indices (NDVI, NDBI, MNDWI, BSI)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stacks exported from GEE and processed in Python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into 70 % Train and 30% Test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Class Codes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 cover categories assigned as: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 = Urban / Built-up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= Vegetation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= Water Bodies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 = Others (barren, mixed, sand, rocky)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"/>
          <p:cNvSpPr txBox="1"/>
          <p:nvPr>
            <p:ph type="title"/>
          </p:nvPr>
        </p:nvSpPr>
        <p:spPr>
          <a:xfrm>
            <a:off x="359700" y="1653825"/>
            <a:ext cx="4160700" cy="21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MLC Based Classification (2024)</a:t>
            </a:r>
            <a:endParaRPr/>
          </a:p>
        </p:txBody>
      </p:sp>
      <p:pic>
        <p:nvPicPr>
          <p:cNvPr id="417" name="Google Shape;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726" y="275000"/>
            <a:ext cx="5494676" cy="432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>
            <p:ph type="title"/>
          </p:nvPr>
        </p:nvSpPr>
        <p:spPr>
          <a:xfrm>
            <a:off x="359700" y="1653825"/>
            <a:ext cx="4160700" cy="21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Mosaic Classification</a:t>
            </a:r>
            <a:br>
              <a:rPr lang="en"/>
            </a:br>
            <a:r>
              <a:rPr lang="en"/>
              <a:t>(2024)</a:t>
            </a:r>
            <a:endParaRPr/>
          </a:p>
        </p:txBody>
      </p:sp>
      <p:pic>
        <p:nvPicPr>
          <p:cNvPr id="423" name="Google Shape;4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925" y="102700"/>
            <a:ext cx="4318799" cy="4110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graphicFrame>
        <p:nvGraphicFramePr>
          <p:cNvPr id="429" name="Google Shape;429;p34"/>
          <p:cNvGraphicFramePr/>
          <p:nvPr/>
        </p:nvGraphicFramePr>
        <p:xfrm>
          <a:off x="492825" y="161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{0FE51CED-D5D0-4D4D-9DF1-7ED67F94AD69}</a:tableStyleId>
              </a:tblPr>
              <a:tblGrid>
                <a:gridCol w="1509900"/>
                <a:gridCol w="1559625"/>
                <a:gridCol w="1335975"/>
                <a:gridCol w="1472650"/>
                <a:gridCol w="1422950"/>
              </a:tblGrid>
              <a:tr h="100000">
                <a:tc>
                  <a:txBody>
                    <a:bodyPr/>
                    <a:lstStyle/>
                    <a:p>
                      <a:pPr indent="0" lvl="0" marL="18288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Year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Kappa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MSE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QDA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96.61%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0.9542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0.1356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Random Forest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100.00%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QDA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89.39%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0.8574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0.7576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Random Forest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100.00%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QDA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92.06%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0.8915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0.7143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Random Forest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98.41%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0.9785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0.1429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435" name="Google Shape;435;p35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Confusion Matrix Comparison (2014 Example)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QDA: Minor misclassifications in Urban vs Others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RF: Good classification across all classes in 2014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heatmaps used to highlight error concentration areas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6"/>
          <p:cNvSpPr txBox="1"/>
          <p:nvPr>
            <p:ph type="title"/>
          </p:nvPr>
        </p:nvSpPr>
        <p:spPr>
          <a:xfrm>
            <a:off x="359700" y="1653825"/>
            <a:ext cx="4160700" cy="21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</a:t>
            </a:r>
            <a:br>
              <a:rPr lang="en"/>
            </a:br>
            <a:r>
              <a:rPr lang="en"/>
              <a:t>Matrix</a:t>
            </a:r>
            <a:br>
              <a:rPr lang="en"/>
            </a:br>
            <a:r>
              <a:rPr lang="en"/>
              <a:t>(2024)</a:t>
            </a:r>
            <a:endParaRPr/>
          </a:p>
        </p:txBody>
      </p:sp>
      <p:pic>
        <p:nvPicPr>
          <p:cNvPr id="441" name="Google Shape;4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5875" y="0"/>
            <a:ext cx="65757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 txBox="1"/>
          <p:nvPr>
            <p:ph type="title"/>
          </p:nvPr>
        </p:nvSpPr>
        <p:spPr>
          <a:xfrm>
            <a:off x="720000" y="697175"/>
            <a:ext cx="666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447" name="Google Shape;447;p37"/>
          <p:cNvSpPr txBox="1"/>
          <p:nvPr>
            <p:ph idx="1" type="subTitle"/>
          </p:nvPr>
        </p:nvSpPr>
        <p:spPr>
          <a:xfrm>
            <a:off x="720000" y="1481975"/>
            <a:ext cx="3531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Key Observations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Some urban pixels are misclassified.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“Others” absorbs mixed or fringe pixels.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Vegetation and Water are clearly separable.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QDA struggles in mixed-use zones.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Urban boundaries are less distinct spectrally.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QDA favors high-certainty classes.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Needs support in urban–nonurban transitions.</a:t>
            </a:r>
            <a:endParaRPr sz="1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  <p:pic>
        <p:nvPicPr>
          <p:cNvPr id="448" name="Google Shape;4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436688"/>
            <a:ext cx="37814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Estimation</a:t>
            </a:r>
            <a:endParaRPr/>
          </a:p>
        </p:txBody>
      </p:sp>
      <p:sp>
        <p:nvSpPr>
          <p:cNvPr id="454" name="Google Shape;454;p38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Mono-Window Algorithm (MWA)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Landsat 8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ST_B10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thermal band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 Surface Temperature (LST)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Kelvin and converted to °C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brightness temperature and surface emissivity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Emissivity via NDVI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NDVI = (SR_B5 − SR_B4) / (SR_B5 + SR_B4)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Proportion of vegetation (Pv):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Pv = (NDVI − 0.2) / (0.5 − 0.2)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Emissivity (ε):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ε = 0.004 × Pv + 0.986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Estimation</a:t>
            </a:r>
            <a:endParaRPr/>
          </a:p>
        </p:txBody>
      </p:sp>
      <p:sp>
        <p:nvSpPr>
          <p:cNvPr id="460" name="Google Shape;460;p39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Final LST Equation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LST = Tb / [1 + (w × Tb / ρ) × ln(ε)]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= 10.8 × 10⁻⁶ m (wavelength of emitted radiance (in meters))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ρ = 14380 (constant derived from Planck’s law)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Tb = Brightness temperature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 = Surface emissivity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0"/>
          <p:cNvSpPr txBox="1"/>
          <p:nvPr>
            <p:ph type="title"/>
          </p:nvPr>
        </p:nvSpPr>
        <p:spPr>
          <a:xfrm>
            <a:off x="713225" y="2287450"/>
            <a:ext cx="4160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Map</a:t>
            </a:r>
            <a:br>
              <a:rPr lang="en"/>
            </a:br>
            <a:r>
              <a:rPr lang="en"/>
              <a:t>(2024)</a:t>
            </a:r>
            <a:endParaRPr/>
          </a:p>
        </p:txBody>
      </p:sp>
      <p:pic>
        <p:nvPicPr>
          <p:cNvPr id="466" name="Google Shape;4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250" y="270875"/>
            <a:ext cx="5106400" cy="39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Comparison</a:t>
            </a:r>
            <a:endParaRPr/>
          </a:p>
        </p:txBody>
      </p:sp>
      <p:graphicFrame>
        <p:nvGraphicFramePr>
          <p:cNvPr id="472" name="Google Shape;472;p41"/>
          <p:cNvGraphicFramePr/>
          <p:nvPr/>
        </p:nvGraphicFramePr>
        <p:xfrm>
          <a:off x="720100" y="113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{CE4DC14A-C2FA-44AF-9474-26890CEFAF4C}</a:tableStyleId>
              </a:tblPr>
              <a:tblGrid>
                <a:gridCol w="2087675"/>
                <a:gridCol w="2608350"/>
                <a:gridCol w="2608350"/>
              </a:tblGrid>
              <a:tr h="335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Aspect</a:t>
                      </a:r>
                      <a:endParaRPr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QDA</a:t>
                      </a:r>
                      <a:endParaRPr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Index-Based</a:t>
                      </a:r>
                      <a:endParaRPr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Type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68575" marB="6857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Supervised ML (QDA)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Rule-based Thresholding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Inputs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68575" marB="6857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Spectral Bands + Indices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NDVI, NDBI, MNDWI, BSI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Strengths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68575" marB="6857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Accurate class separation, smoother outputs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Easy to implement, interpretable rules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Weaknesses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68575" marB="6857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Requires training data, computationally heavier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Istok Web"/>
                          <a:ea typeface="Istok Web"/>
                          <a:cs typeface="Istok Web"/>
                          <a:sym typeface="Istok Web"/>
                        </a:rPr>
                        <a:t>Sensitive to threshold values</a:t>
                      </a:r>
                      <a:endParaRPr sz="1200">
                        <a:solidFill>
                          <a:schemeClr val="dk2"/>
                        </a:solidFill>
                        <a:latin typeface="Istok Web"/>
                        <a:ea typeface="Istok Web"/>
                        <a:cs typeface="Istok Web"/>
                        <a:sym typeface="Istok Web"/>
                      </a:endParaRPr>
                    </a:p>
                  </a:txBody>
                  <a:tcPr marT="18275" marB="18275" marR="27425" marL="27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 txBox="1"/>
          <p:nvPr>
            <p:ph type="title"/>
          </p:nvPr>
        </p:nvSpPr>
        <p:spPr>
          <a:xfrm>
            <a:off x="2531000" y="3594225"/>
            <a:ext cx="4160700" cy="1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Index vs</a:t>
            </a:r>
            <a:br>
              <a:rPr lang="en" sz="2600"/>
            </a:br>
            <a:r>
              <a:rPr lang="en" sz="2600"/>
              <a:t>QDA Absolute </a:t>
            </a:r>
            <a:br>
              <a:rPr lang="en" sz="2600"/>
            </a:br>
            <a:r>
              <a:rPr lang="en" sz="2600"/>
              <a:t>area difference</a:t>
            </a:r>
            <a:endParaRPr sz="2600"/>
          </a:p>
        </p:txBody>
      </p:sp>
      <p:pic>
        <p:nvPicPr>
          <p:cNvPr id="478" name="Google Shape;4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150" y="139400"/>
            <a:ext cx="7576400" cy="31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 txBox="1"/>
          <p:nvPr>
            <p:ph type="title"/>
          </p:nvPr>
        </p:nvSpPr>
        <p:spPr>
          <a:xfrm>
            <a:off x="720000" y="697175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3"/>
          <p:cNvSpPr txBox="1"/>
          <p:nvPr>
            <p:ph idx="1" type="subTitle"/>
          </p:nvPr>
        </p:nvSpPr>
        <p:spPr>
          <a:xfrm>
            <a:off x="720000" y="1346750"/>
            <a:ext cx="80661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Observation</a:t>
            </a:r>
            <a:r>
              <a:rPr lang="en" sz="1300">
                <a:solidFill>
                  <a:srgbClr val="000000"/>
                </a:solidFill>
              </a:rPr>
              <a:t>: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</a:rPr>
              <a:t>Urban &amp; “Others” classes</a:t>
            </a:r>
            <a:r>
              <a:rPr lang="en" sz="1300">
                <a:solidFill>
                  <a:srgbClr val="000000"/>
                </a:solidFill>
              </a:rPr>
              <a:t> show most variability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</a:rPr>
              <a:t>“Others” class</a:t>
            </a:r>
            <a:r>
              <a:rPr lang="en" sz="1300">
                <a:solidFill>
                  <a:srgbClr val="000000"/>
                </a:solidFill>
              </a:rPr>
              <a:t> frequently misclassified by index method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stok Web"/>
              <a:buChar char="●"/>
            </a:pPr>
            <a:r>
              <a:rPr lang="en" sz="1300">
                <a:solidFill>
                  <a:srgbClr val="000000"/>
                </a:solidFill>
              </a:rPr>
              <a:t>QDA and Index based methods provide consistent estimates</a:t>
            </a:r>
            <a:endParaRPr sz="13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 txBox="1"/>
          <p:nvPr>
            <p:ph idx="1" type="subTitle"/>
          </p:nvPr>
        </p:nvSpPr>
        <p:spPr>
          <a:xfrm>
            <a:off x="720000" y="1481975"/>
            <a:ext cx="70509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chivo Black"/>
                <a:ea typeface="Archivo Black"/>
                <a:cs typeface="Archivo Black"/>
                <a:sym typeface="Archivo Black"/>
              </a:rPr>
              <a:t>MLC Based</a:t>
            </a:r>
            <a:r>
              <a:rPr lang="en" sz="3000">
                <a:latin typeface="Archivo Black"/>
                <a:ea typeface="Archivo Black"/>
                <a:cs typeface="Archivo Black"/>
                <a:sym typeface="Archivo Black"/>
              </a:rPr>
              <a:t> Method : Intra Year Comparison of LULC &amp; Spatio Temporal Comparison Of LULC</a:t>
            </a:r>
            <a:endParaRPr sz="3000"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425" y="0"/>
            <a:ext cx="79461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6"/>
          <p:cNvSpPr txBox="1"/>
          <p:nvPr>
            <p:ph type="title"/>
          </p:nvPr>
        </p:nvSpPr>
        <p:spPr>
          <a:xfrm>
            <a:off x="492950" y="1110700"/>
            <a:ext cx="7734300" cy="20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Index Based </a:t>
            </a:r>
            <a:r>
              <a:rPr lang="en" sz="3000"/>
              <a:t>Method : </a:t>
            </a:r>
            <a:r>
              <a:rPr lang="en" sz="3000"/>
              <a:t>Intra</a:t>
            </a:r>
            <a:r>
              <a:rPr lang="en" sz="3000"/>
              <a:t> Year Comparison of LULC &amp; Spatio Temporal Comparison Of LULC</a:t>
            </a:r>
            <a:endParaRPr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50" y="146675"/>
            <a:ext cx="8758899" cy="45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450" y="539500"/>
            <a:ext cx="7462089" cy="4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5" y="90300"/>
            <a:ext cx="81109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13" y="53000"/>
            <a:ext cx="81109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75" y="152400"/>
            <a:ext cx="81109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"/>
          <p:cNvSpPr txBox="1"/>
          <p:nvPr>
            <p:ph type="title"/>
          </p:nvPr>
        </p:nvSpPr>
        <p:spPr>
          <a:xfrm>
            <a:off x="713225" y="308425"/>
            <a:ext cx="7854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Overall Land Cover Transition</a:t>
            </a:r>
            <a:endParaRPr sz="2600"/>
          </a:p>
        </p:txBody>
      </p:sp>
      <p:sp>
        <p:nvSpPr>
          <p:cNvPr id="530" name="Google Shape;530;p52"/>
          <p:cNvSpPr txBox="1"/>
          <p:nvPr>
            <p:ph idx="1" type="body"/>
          </p:nvPr>
        </p:nvSpPr>
        <p:spPr>
          <a:xfrm>
            <a:off x="713225" y="1222525"/>
            <a:ext cx="75528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1. Urban Growth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Urban area increased fro</a:t>
            </a:r>
            <a:r>
              <a:rPr lang="en" sz="1600">
                <a:solidFill>
                  <a:srgbClr val="000000"/>
                </a:solidFill>
              </a:rPr>
              <a:t>m </a:t>
            </a:r>
            <a:r>
              <a:rPr b="1" lang="en" sz="1600">
                <a:solidFill>
                  <a:srgbClr val="000000"/>
                </a:solidFill>
              </a:rPr>
              <a:t>2014</a:t>
            </a:r>
            <a:r>
              <a:rPr lang="en" sz="1600">
                <a:solidFill>
                  <a:srgbClr val="000000"/>
                </a:solidFill>
              </a:rPr>
              <a:t> to </a:t>
            </a:r>
            <a:r>
              <a:rPr b="1" lang="en" sz="1600">
                <a:solidFill>
                  <a:srgbClr val="000000"/>
                </a:solidFill>
              </a:rPr>
              <a:t>2024 overall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stok Web"/>
              <a:buChar char="●"/>
            </a:pPr>
            <a:r>
              <a:rPr lang="en" sz="1600">
                <a:solidFill>
                  <a:srgbClr val="000000"/>
                </a:solidFill>
              </a:rPr>
              <a:t>Steady rise, especially in southern sectors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2. Vegetation Decline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stok Web"/>
              <a:buChar char="●"/>
            </a:pPr>
            <a:r>
              <a:rPr lang="en" sz="1600">
                <a:solidFill>
                  <a:srgbClr val="000000"/>
                </a:solidFill>
              </a:rPr>
              <a:t>Vegetation increased &amp; then reduced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3. Others Class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Somewhat dominant in area but </a:t>
            </a:r>
            <a:r>
              <a:rPr b="1" lang="en" sz="1600">
                <a:solidFill>
                  <a:srgbClr val="000000"/>
                </a:solidFill>
              </a:rPr>
              <a:t>slightly decreased</a:t>
            </a:r>
            <a:r>
              <a:rPr lang="en" sz="1600">
                <a:solidFill>
                  <a:srgbClr val="000000"/>
                </a:solidFill>
              </a:rPr>
              <a:t> over time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Includes bare land, rocky zones, and mixed-use pixels</a:t>
            </a:r>
            <a:br>
              <a:rPr b="1" lang="en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"/>
          <p:cNvSpPr txBox="1"/>
          <p:nvPr>
            <p:ph type="title"/>
          </p:nvPr>
        </p:nvSpPr>
        <p:spPr>
          <a:xfrm>
            <a:off x="713225" y="445075"/>
            <a:ext cx="7854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Overall Land Cover Transition</a:t>
            </a:r>
            <a:endParaRPr sz="2600"/>
          </a:p>
        </p:txBody>
      </p:sp>
      <p:sp>
        <p:nvSpPr>
          <p:cNvPr id="536" name="Google Shape;536;p53"/>
          <p:cNvSpPr txBox="1"/>
          <p:nvPr>
            <p:ph idx="1" type="body"/>
          </p:nvPr>
        </p:nvSpPr>
        <p:spPr>
          <a:xfrm>
            <a:off x="713225" y="1359175"/>
            <a:ext cx="7552800" cy="3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4. Water Bodies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Minimal change</a:t>
            </a:r>
            <a:r>
              <a:rPr lang="en" sz="1600">
                <a:solidFill>
                  <a:srgbClr val="000000"/>
                </a:solidFill>
              </a:rPr>
              <a:t> over the decade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Man Sagar Lake remained </a:t>
            </a:r>
            <a:r>
              <a:rPr b="1" lang="en" sz="1600">
                <a:solidFill>
                  <a:srgbClr val="000000"/>
                </a:solidFill>
              </a:rPr>
              <a:t>spatially stable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5. Interpretation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Urban growth came at the </a:t>
            </a:r>
            <a:r>
              <a:rPr b="1" lang="en" sz="1600">
                <a:solidFill>
                  <a:srgbClr val="000000"/>
                </a:solidFill>
              </a:rPr>
              <a:t>cost of vegetation and Others &amp; little increased LST </a:t>
            </a:r>
            <a:br>
              <a:rPr b="1" lang="en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Water bodies had spatiotemporal changes</a:t>
            </a:r>
            <a:br>
              <a:rPr b="1" lang="en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Map (2024)</a:t>
            </a:r>
            <a:endParaRPr/>
          </a:p>
        </p:txBody>
      </p:sp>
      <p:pic>
        <p:nvPicPr>
          <p:cNvPr id="542" name="Google Shape;54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125" y="1215750"/>
            <a:ext cx="455295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Stats:</a:t>
            </a:r>
            <a:endParaRPr/>
          </a:p>
        </p:txBody>
      </p:sp>
      <p:sp>
        <p:nvSpPr>
          <p:cNvPr id="548" name="Google Shape;548;p55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48" y="0"/>
            <a:ext cx="85711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6"/>
          <p:cNvSpPr txBox="1"/>
          <p:nvPr>
            <p:ph type="title"/>
          </p:nvPr>
        </p:nvSpPr>
        <p:spPr>
          <a:xfrm>
            <a:off x="720000" y="697175"/>
            <a:ext cx="83394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 Patterns</a:t>
            </a:r>
            <a:endParaRPr/>
          </a:p>
        </p:txBody>
      </p:sp>
      <p:sp>
        <p:nvSpPr>
          <p:cNvPr id="555" name="Google Shape;555;p56"/>
          <p:cNvSpPr txBox="1"/>
          <p:nvPr>
            <p:ph idx="1" type="subTitle"/>
          </p:nvPr>
        </p:nvSpPr>
        <p:spPr>
          <a:xfrm>
            <a:off x="720000" y="1185250"/>
            <a:ext cx="8066100" cy="3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LST Maps (2014, 2019, 2024)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using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Mono-window algorithm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Visualized surface heat distribution across the city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Urban Heat Islands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and southeastern sectors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 consistently high LST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2019 recorded the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hottest zones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expanding radially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Cooling Zones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Vegetated and open areas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north and periphery remained cooler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Interpretation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link between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built-up density and surface heat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Urban heat islands intensified with land cover change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/>
          <p:nvPr>
            <p:ph type="title"/>
          </p:nvPr>
        </p:nvSpPr>
        <p:spPr>
          <a:xfrm>
            <a:off x="720000" y="697175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Urban &amp; Vegetation Influence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561" name="Google Shape;561;p57"/>
          <p:cNvSpPr txBox="1"/>
          <p:nvPr>
            <p:ph idx="1" type="subTitle"/>
          </p:nvPr>
        </p:nvSpPr>
        <p:spPr>
          <a:xfrm>
            <a:off x="720000" y="1346750"/>
            <a:ext cx="80661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Urban Influence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Sectors with </a:t>
            </a:r>
            <a:r>
              <a:rPr b="1" lang="en" sz="1500">
                <a:solidFill>
                  <a:srgbClr val="000000"/>
                </a:solidFill>
              </a:rPr>
              <a:t>&gt;50% Urban</a:t>
            </a:r>
            <a:r>
              <a:rPr lang="en" sz="1500">
                <a:solidFill>
                  <a:srgbClr val="000000"/>
                </a:solidFill>
              </a:rPr>
              <a:t> show higher mean LST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Strongest heat rise observed in </a:t>
            </a:r>
            <a:r>
              <a:rPr b="1" lang="en" sz="1500">
                <a:solidFill>
                  <a:srgbClr val="000000"/>
                </a:solidFill>
              </a:rPr>
              <a:t>2019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Vegetation Cooling Effect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Sectors with </a:t>
            </a:r>
            <a:r>
              <a:rPr b="1" lang="en" sz="1500">
                <a:solidFill>
                  <a:srgbClr val="000000"/>
                </a:solidFill>
              </a:rPr>
              <a:t>significant vegetation</a:t>
            </a:r>
            <a:r>
              <a:rPr lang="en" sz="1500">
                <a:solidFill>
                  <a:srgbClr val="000000"/>
                </a:solidFill>
              </a:rPr>
              <a:t> showed</a:t>
            </a:r>
            <a:r>
              <a:rPr b="1" lang="en" sz="1500">
                <a:solidFill>
                  <a:srgbClr val="000000"/>
                </a:solidFill>
              </a:rPr>
              <a:t> lower LST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Especially effective in </a:t>
            </a:r>
            <a:r>
              <a:rPr b="1" lang="en" sz="1500">
                <a:solidFill>
                  <a:srgbClr val="000000"/>
                </a:solidFill>
              </a:rPr>
              <a:t>2019 and 2024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Cooling effect more consistent than water or Others class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In some areas LST was </a:t>
            </a:r>
            <a:r>
              <a:rPr b="1" lang="en" sz="1500">
                <a:solidFill>
                  <a:srgbClr val="000000"/>
                </a:solidFill>
              </a:rPr>
              <a:t>relatively</a:t>
            </a:r>
            <a:r>
              <a:rPr lang="en" sz="1500">
                <a:solidFill>
                  <a:srgbClr val="000000"/>
                </a:solidFill>
              </a:rPr>
              <a:t> more even though vegetation was more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 txBox="1"/>
          <p:nvPr>
            <p:ph type="title"/>
          </p:nvPr>
        </p:nvSpPr>
        <p:spPr>
          <a:xfrm>
            <a:off x="713225" y="0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Sectoral LST</a:t>
            </a:r>
            <a:endParaRPr/>
          </a:p>
        </p:txBody>
      </p:sp>
      <p:sp>
        <p:nvSpPr>
          <p:cNvPr id="567" name="Google Shape;567;p58"/>
          <p:cNvSpPr txBox="1"/>
          <p:nvPr>
            <p:ph idx="1" type="subTitle"/>
          </p:nvPr>
        </p:nvSpPr>
        <p:spPr>
          <a:xfrm>
            <a:off x="664250" y="815350"/>
            <a:ext cx="8180100" cy="3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1. Sector-Wise Mean LST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LST extracted per 45° sector for all three years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2. 2019 Peak Temperatures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stok Web"/>
              <a:buChar char="●"/>
            </a:pPr>
            <a:r>
              <a:rPr lang="en" sz="1200">
                <a:solidFill>
                  <a:srgbClr val="000000"/>
                </a:solidFill>
              </a:rPr>
              <a:t>Highest average LST across almost all sectors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Sector 180°–225° reached up to </a:t>
            </a:r>
            <a:r>
              <a:rPr b="1" lang="en" sz="1200">
                <a:solidFill>
                  <a:srgbClr val="000000"/>
                </a:solidFill>
              </a:rPr>
              <a:t>43°C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3. Decreasing LST in 2024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Some sectors show </a:t>
            </a:r>
            <a:r>
              <a:rPr b="1" lang="en" sz="1200">
                <a:solidFill>
                  <a:srgbClr val="000000"/>
                </a:solidFill>
              </a:rPr>
              <a:t>modest LST decrease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Possibly due to </a:t>
            </a:r>
            <a:r>
              <a:rPr b="1" lang="en" sz="1200">
                <a:solidFill>
                  <a:srgbClr val="000000"/>
                </a:solidFill>
              </a:rPr>
              <a:t>seasonal variation</a:t>
            </a:r>
            <a:r>
              <a:rPr lang="en" sz="1200">
                <a:solidFill>
                  <a:srgbClr val="000000"/>
                </a:solidFill>
              </a:rPr>
              <a:t> or </a:t>
            </a:r>
            <a:r>
              <a:rPr b="1" lang="en" sz="1200">
                <a:solidFill>
                  <a:srgbClr val="000000"/>
                </a:solidFill>
              </a:rPr>
              <a:t>vegetation rebound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4. Key Insight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</a:rPr>
              <a:t>2019</a:t>
            </a:r>
            <a:r>
              <a:rPr lang="en" sz="1200">
                <a:solidFill>
                  <a:srgbClr val="000000"/>
                </a:solidFill>
              </a:rPr>
              <a:t> is the thermal extreme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Highlights need for </a:t>
            </a:r>
            <a:r>
              <a:rPr b="1" lang="en" sz="1200">
                <a:solidFill>
                  <a:srgbClr val="000000"/>
                </a:solidFill>
              </a:rPr>
              <a:t>yearly monitoring</a:t>
            </a:r>
            <a:r>
              <a:rPr lang="en" sz="1200">
                <a:solidFill>
                  <a:srgbClr val="000000"/>
                </a:solidFill>
              </a:rPr>
              <a:t> to capture thermal dynamics</a:t>
            </a:r>
            <a:endParaRPr sz="1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9"/>
          <p:cNvSpPr txBox="1"/>
          <p:nvPr>
            <p:ph type="title"/>
          </p:nvPr>
        </p:nvSpPr>
        <p:spPr>
          <a:xfrm>
            <a:off x="804600" y="147100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Land Cover &amp; LST relationships</a:t>
            </a:r>
            <a:endParaRPr/>
          </a:p>
        </p:txBody>
      </p:sp>
      <p:sp>
        <p:nvSpPr>
          <p:cNvPr id="573" name="Google Shape;573;p59"/>
          <p:cNvSpPr txBox="1"/>
          <p:nvPr>
            <p:ph idx="1" type="subTitle"/>
          </p:nvPr>
        </p:nvSpPr>
        <p:spPr>
          <a:xfrm>
            <a:off x="747875" y="900700"/>
            <a:ext cx="7839600" cy="3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Correlation Analysis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Pearson correlation between </a:t>
            </a:r>
            <a:r>
              <a:rPr b="1" lang="en" sz="1600">
                <a:solidFill>
                  <a:srgbClr val="000000"/>
                </a:solidFill>
              </a:rPr>
              <a:t>LST and land cover %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Compared for both </a:t>
            </a:r>
            <a:r>
              <a:rPr b="1" lang="en" sz="1600">
                <a:solidFill>
                  <a:srgbClr val="000000"/>
                </a:solidFill>
              </a:rPr>
              <a:t>Threshold-based</a:t>
            </a:r>
            <a:r>
              <a:rPr lang="en" sz="1600">
                <a:solidFill>
                  <a:srgbClr val="000000"/>
                </a:solidFill>
              </a:rPr>
              <a:t> and </a:t>
            </a:r>
            <a:r>
              <a:rPr b="1" lang="en" sz="1600">
                <a:solidFill>
                  <a:srgbClr val="000000"/>
                </a:solidFill>
              </a:rPr>
              <a:t>QDA</a:t>
            </a:r>
            <a:r>
              <a:rPr lang="en" sz="1600">
                <a:solidFill>
                  <a:srgbClr val="000000"/>
                </a:solidFill>
              </a:rPr>
              <a:t> methods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2. Key Correlations (Threshold-Based)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Urban % ↔ LST: </a:t>
            </a:r>
            <a:r>
              <a:rPr b="1" lang="en" sz="1600">
                <a:solidFill>
                  <a:srgbClr val="000000"/>
                </a:solidFill>
              </a:rPr>
              <a:t>+0.68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Vegetation % ↔ LST: </a:t>
            </a:r>
            <a:r>
              <a:rPr b="1" lang="en" sz="1600">
                <a:solidFill>
                  <a:srgbClr val="000000"/>
                </a:solidFill>
              </a:rPr>
              <a:t>−0.69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3. Key Correlations (QDA-Based)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Urban % ↔ LST: Variable; </a:t>
            </a:r>
            <a:r>
              <a:rPr b="1" lang="en" sz="1600">
                <a:solidFill>
                  <a:srgbClr val="000000"/>
                </a:solidFill>
              </a:rPr>
              <a:t>positive throughout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Vegetation % ↔ LST: Strongly negative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0"/>
          <p:cNvSpPr txBox="1"/>
          <p:nvPr>
            <p:ph type="title"/>
          </p:nvPr>
        </p:nvSpPr>
        <p:spPr>
          <a:xfrm>
            <a:off x="804600" y="147100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Land Cover &amp; LST relationships</a:t>
            </a:r>
            <a:endParaRPr/>
          </a:p>
        </p:txBody>
      </p:sp>
      <p:sp>
        <p:nvSpPr>
          <p:cNvPr id="579" name="Google Shape;579;p60"/>
          <p:cNvSpPr txBox="1"/>
          <p:nvPr>
            <p:ph idx="1" type="subTitle"/>
          </p:nvPr>
        </p:nvSpPr>
        <p:spPr>
          <a:xfrm>
            <a:off x="747875" y="900700"/>
            <a:ext cx="7839600" cy="3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4. Scatter Plots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Plots show </a:t>
            </a:r>
            <a:r>
              <a:rPr b="1" lang="en" sz="1800">
                <a:solidFill>
                  <a:srgbClr val="000000"/>
                </a:solidFill>
              </a:rPr>
              <a:t>positive trend</a:t>
            </a:r>
            <a:r>
              <a:rPr lang="en" sz="1800">
                <a:solidFill>
                  <a:srgbClr val="000000"/>
                </a:solidFill>
              </a:rPr>
              <a:t> for Urban %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</a:rPr>
              <a:t>Negative slope</a:t>
            </a:r>
            <a:r>
              <a:rPr lang="en" sz="1800">
                <a:solidFill>
                  <a:srgbClr val="000000"/>
                </a:solidFill>
              </a:rPr>
              <a:t> for Vegetation %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5. Insight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stok Web"/>
              <a:buChar char="●"/>
            </a:pPr>
            <a:r>
              <a:rPr lang="en" sz="1800">
                <a:solidFill>
                  <a:srgbClr val="000000"/>
                </a:solidFill>
              </a:rPr>
              <a:t>Urbanization consistently raises LST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stok Web"/>
              <a:buChar char="●"/>
            </a:pPr>
            <a:r>
              <a:rPr lang="en" sz="1800">
                <a:solidFill>
                  <a:srgbClr val="000000"/>
                </a:solidFill>
              </a:rPr>
              <a:t>Vegetation helps suppress surface temperature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25" y="114600"/>
            <a:ext cx="8189148" cy="491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 txBox="1"/>
          <p:nvPr>
            <p:ph type="title"/>
          </p:nvPr>
        </p:nvSpPr>
        <p:spPr>
          <a:xfrm>
            <a:off x="720000" y="697175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 Cover vs LST </a:t>
            </a:r>
            <a:endParaRPr/>
          </a:p>
        </p:txBody>
      </p:sp>
      <p:sp>
        <p:nvSpPr>
          <p:cNvPr id="590" name="Google Shape;590;p62"/>
          <p:cNvSpPr txBox="1"/>
          <p:nvPr>
            <p:ph idx="1" type="subTitle"/>
          </p:nvPr>
        </p:nvSpPr>
        <p:spPr>
          <a:xfrm>
            <a:off x="720000" y="1346750"/>
            <a:ext cx="80661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Spatial Observations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Sectors with highest urban growth (SE, SW) had </a:t>
            </a:r>
            <a:r>
              <a:rPr b="1" lang="en" sz="1500">
                <a:solidFill>
                  <a:srgbClr val="000000"/>
                </a:solidFill>
              </a:rPr>
              <a:t>more</a:t>
            </a:r>
            <a:r>
              <a:rPr b="1" lang="en" sz="1500">
                <a:solidFill>
                  <a:srgbClr val="000000"/>
                </a:solidFill>
              </a:rPr>
              <a:t> LST rise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Cooler sectors </a:t>
            </a:r>
            <a:r>
              <a:rPr lang="en" sz="1500">
                <a:solidFill>
                  <a:srgbClr val="000000"/>
                </a:solidFill>
              </a:rPr>
              <a:t>usually</a:t>
            </a:r>
            <a:r>
              <a:rPr lang="en" sz="1500">
                <a:solidFill>
                  <a:srgbClr val="000000"/>
                </a:solidFill>
              </a:rPr>
              <a:t> had </a:t>
            </a:r>
            <a:r>
              <a:rPr b="1" lang="en" sz="1500">
                <a:solidFill>
                  <a:srgbClr val="000000"/>
                </a:solidFill>
              </a:rPr>
              <a:t>higher water bodies, vegetation and lower urban density 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Temporal Shift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Relationship was slightly inconsistent over the decade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Slight deviations in 2024 due to </a:t>
            </a:r>
            <a:r>
              <a:rPr b="1" lang="en" sz="1500">
                <a:solidFill>
                  <a:srgbClr val="000000"/>
                </a:solidFill>
              </a:rPr>
              <a:t>increased heterogeneity</a:t>
            </a:r>
            <a:r>
              <a:rPr lang="en" sz="1500">
                <a:solidFill>
                  <a:srgbClr val="000000"/>
                </a:solidFill>
              </a:rPr>
              <a:t> and </a:t>
            </a:r>
            <a:r>
              <a:rPr b="1" lang="en" sz="1500">
                <a:solidFill>
                  <a:srgbClr val="000000"/>
                </a:solidFill>
              </a:rPr>
              <a:t>urban sprawl</a:t>
            </a:r>
            <a:endParaRPr b="1" sz="15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3"/>
          <p:cNvSpPr txBox="1"/>
          <p:nvPr>
            <p:ph type="title"/>
          </p:nvPr>
        </p:nvSpPr>
        <p:spPr>
          <a:xfrm>
            <a:off x="720000" y="697175"/>
            <a:ext cx="4160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3"/>
          <p:cNvSpPr txBox="1"/>
          <p:nvPr>
            <p:ph idx="1" type="subTitle"/>
          </p:nvPr>
        </p:nvSpPr>
        <p:spPr>
          <a:xfrm>
            <a:off x="720000" y="1481975"/>
            <a:ext cx="41607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3"/>
          <p:cNvSpPr/>
          <p:nvPr>
            <p:ph idx="2" type="pic"/>
          </p:nvPr>
        </p:nvSpPr>
        <p:spPr>
          <a:xfrm>
            <a:off x="5228650" y="539500"/>
            <a:ext cx="3202200" cy="4064400"/>
          </a:xfrm>
          <a:prstGeom prst="roundRect">
            <a:avLst>
              <a:gd fmla="val 16667" name="adj"/>
            </a:avLst>
          </a:prstGeom>
        </p:spPr>
      </p:sp>
      <p:pic>
        <p:nvPicPr>
          <p:cNvPr id="598" name="Google Shape;5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48" y="0"/>
            <a:ext cx="85711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4"/>
          <p:cNvSpPr txBox="1"/>
          <p:nvPr>
            <p:ph type="title"/>
          </p:nvPr>
        </p:nvSpPr>
        <p:spPr>
          <a:xfrm>
            <a:off x="720000" y="697175"/>
            <a:ext cx="7407600" cy="1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Methodology: Large water body &amp; influence on LST around it</a:t>
            </a:r>
            <a:endParaRPr sz="2400"/>
          </a:p>
        </p:txBody>
      </p:sp>
      <p:sp>
        <p:nvSpPr>
          <p:cNvPr id="604" name="Google Shape;604;p64"/>
          <p:cNvSpPr txBox="1"/>
          <p:nvPr>
            <p:ph idx="1" type="subTitle"/>
          </p:nvPr>
        </p:nvSpPr>
        <p:spPr>
          <a:xfrm>
            <a:off x="720000" y="1481975"/>
            <a:ext cx="64263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Buffer Zones around Man Sagar Lake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</a:rPr>
              <a:t>Concentric rings</a:t>
            </a:r>
            <a:r>
              <a:rPr lang="en" sz="1800">
                <a:solidFill>
                  <a:srgbClr val="000000"/>
                </a:solidFill>
              </a:rPr>
              <a:t> at </a:t>
            </a:r>
            <a:r>
              <a:rPr b="1" lang="en" sz="1800">
                <a:solidFill>
                  <a:srgbClr val="000000"/>
                </a:solidFill>
              </a:rPr>
              <a:t>2 km intervals</a:t>
            </a:r>
            <a:r>
              <a:rPr lang="en" sz="1800">
                <a:solidFill>
                  <a:srgbClr val="000000"/>
                </a:solidFill>
              </a:rPr>
              <a:t>: 2 km to 10 km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Used to study </a:t>
            </a:r>
            <a:r>
              <a:rPr b="1" lang="en" sz="1800">
                <a:solidFill>
                  <a:srgbClr val="000000"/>
                </a:solidFill>
              </a:rPr>
              <a:t>LST</a:t>
            </a:r>
            <a:r>
              <a:rPr lang="en" sz="1800">
                <a:solidFill>
                  <a:srgbClr val="000000"/>
                </a:solidFill>
              </a:rPr>
              <a:t> outward from water body</a:t>
            </a:r>
            <a:endParaRPr sz="1800">
              <a:solidFill>
                <a:srgbClr val="000000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Objective:</a:t>
            </a:r>
            <a:br>
              <a:rPr lang="en" sz="1800">
                <a:solidFill>
                  <a:srgbClr val="000000"/>
                </a:solidFill>
              </a:rPr>
            </a:br>
            <a:r>
              <a:rPr lang="en" sz="1800">
                <a:solidFill>
                  <a:srgbClr val="000000"/>
                </a:solidFill>
              </a:rPr>
              <a:t>Quantify how far </a:t>
            </a:r>
            <a:r>
              <a:rPr b="1" lang="en" sz="1800">
                <a:solidFill>
                  <a:srgbClr val="000000"/>
                </a:solidFill>
              </a:rPr>
              <a:t>thermal influence</a:t>
            </a:r>
            <a:r>
              <a:rPr lang="en" sz="1800">
                <a:solidFill>
                  <a:srgbClr val="000000"/>
                </a:solidFill>
              </a:rPr>
              <a:t> of the lake extends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5"/>
          <p:cNvSpPr txBox="1"/>
          <p:nvPr>
            <p:ph type="title"/>
          </p:nvPr>
        </p:nvSpPr>
        <p:spPr>
          <a:xfrm>
            <a:off x="720000" y="697175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Man Sagar Lake Analysis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610" name="Google Shape;610;p65"/>
          <p:cNvSpPr txBox="1"/>
          <p:nvPr>
            <p:ph idx="1" type="subTitle"/>
          </p:nvPr>
        </p:nvSpPr>
        <p:spPr>
          <a:xfrm>
            <a:off x="720000" y="1346750"/>
            <a:ext cx="80661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1. Buffer Ring Setup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Concentric buffers</a:t>
            </a:r>
            <a:r>
              <a:rPr lang="en" sz="1600">
                <a:solidFill>
                  <a:srgbClr val="000000"/>
                </a:solidFill>
              </a:rPr>
              <a:t> at 2 km intervals (2–10 km)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Centered on </a:t>
            </a:r>
            <a:r>
              <a:rPr b="1" lang="en" sz="1600">
                <a:solidFill>
                  <a:srgbClr val="000000"/>
                </a:solidFill>
              </a:rPr>
              <a:t>Man Sagar Lake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Used to assess </a:t>
            </a:r>
            <a:r>
              <a:rPr b="1" lang="en" sz="1600">
                <a:solidFill>
                  <a:srgbClr val="000000"/>
                </a:solidFill>
              </a:rPr>
              <a:t>spatial cooling gradient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2. LST Gradient Plot (2014, 2019, 2024)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2019 shows </a:t>
            </a:r>
            <a:r>
              <a:rPr b="1" lang="en" sz="1600">
                <a:solidFill>
                  <a:srgbClr val="000000"/>
                </a:solidFill>
              </a:rPr>
              <a:t>steepest rise</a:t>
            </a:r>
            <a:r>
              <a:rPr lang="en" sz="1600">
                <a:solidFill>
                  <a:srgbClr val="000000"/>
                </a:solidFill>
              </a:rPr>
              <a:t>:</a:t>
            </a:r>
            <a:br>
              <a:rPr lang="en" sz="1600">
                <a:solidFill>
                  <a:srgbClr val="000000"/>
                </a:solidFill>
              </a:rPr>
            </a:br>
            <a:r>
              <a:rPr lang="en" sz="1600">
                <a:solidFill>
                  <a:srgbClr val="000000"/>
                </a:solidFill>
              </a:rPr>
              <a:t> LST increases from ~34.1°C (2 km) to ~38.9°C (10 km)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2024 shows </a:t>
            </a:r>
            <a:r>
              <a:rPr b="1" lang="en" sz="1600">
                <a:solidFill>
                  <a:srgbClr val="000000"/>
                </a:solidFill>
              </a:rPr>
              <a:t>milder gradient</a:t>
            </a:r>
            <a:r>
              <a:rPr lang="en" sz="1600">
                <a:solidFill>
                  <a:srgbClr val="000000"/>
                </a:solidFill>
              </a:rPr>
              <a:t> than 2019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2014 had the </a:t>
            </a:r>
            <a:r>
              <a:rPr b="1" lang="en" sz="1600">
                <a:solidFill>
                  <a:srgbClr val="000000"/>
                </a:solidFill>
              </a:rPr>
              <a:t>lowest overall LST</a:t>
            </a:r>
            <a:r>
              <a:rPr lang="en" sz="1600">
                <a:solidFill>
                  <a:srgbClr val="000000"/>
                </a:solidFill>
              </a:rPr>
              <a:t> near the lake</a:t>
            </a:r>
            <a:br>
              <a:rPr lang="en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</p:txBody>
      </p:sp>
      <p:pic>
        <p:nvPicPr>
          <p:cNvPr id="611" name="Google Shape;61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6200" y="372875"/>
            <a:ext cx="3201424" cy="2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/>
          <p:nvPr>
            <p:ph type="title"/>
          </p:nvPr>
        </p:nvSpPr>
        <p:spPr>
          <a:xfrm>
            <a:off x="720000" y="697175"/>
            <a:ext cx="4160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6"/>
          <p:cNvSpPr txBox="1"/>
          <p:nvPr>
            <p:ph idx="1" type="subTitle"/>
          </p:nvPr>
        </p:nvSpPr>
        <p:spPr>
          <a:xfrm>
            <a:off x="720000" y="1481975"/>
            <a:ext cx="41607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6"/>
          <p:cNvSpPr/>
          <p:nvPr>
            <p:ph idx="2" type="pic"/>
          </p:nvPr>
        </p:nvSpPr>
        <p:spPr>
          <a:xfrm>
            <a:off x="5228650" y="539500"/>
            <a:ext cx="3202200" cy="4064400"/>
          </a:xfrm>
          <a:prstGeom prst="roundRect">
            <a:avLst>
              <a:gd fmla="val 16667" name="adj"/>
            </a:avLst>
          </a:prstGeom>
        </p:spPr>
      </p:sp>
      <p:pic>
        <p:nvPicPr>
          <p:cNvPr id="619" name="Google Shape;6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48" y="0"/>
            <a:ext cx="85711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type="title"/>
          </p:nvPr>
        </p:nvSpPr>
        <p:spPr>
          <a:xfrm>
            <a:off x="720000" y="697175"/>
            <a:ext cx="8339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Man Sagar Lake Analysis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25" name="Google Shape;625;p67"/>
          <p:cNvSpPr txBox="1"/>
          <p:nvPr>
            <p:ph idx="1" type="subTitle"/>
          </p:nvPr>
        </p:nvSpPr>
        <p:spPr>
          <a:xfrm>
            <a:off x="720000" y="1346750"/>
            <a:ext cx="8066100" cy="3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3. Observations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Cooling effect strongest within 2–4 km</a:t>
            </a:r>
            <a:r>
              <a:rPr lang="en" sz="1500">
                <a:solidFill>
                  <a:srgbClr val="000000"/>
                </a:solidFill>
              </a:rPr>
              <a:t> radius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Effect fades beyond 6 km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Most pronounced in </a:t>
            </a:r>
            <a:r>
              <a:rPr b="1" lang="en" sz="1500">
                <a:solidFill>
                  <a:srgbClr val="000000"/>
                </a:solidFill>
              </a:rPr>
              <a:t>hot years</a:t>
            </a:r>
            <a:r>
              <a:rPr lang="en" sz="1500">
                <a:solidFill>
                  <a:srgbClr val="000000"/>
                </a:solidFill>
              </a:rPr>
              <a:t> (e.g., 2019)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4. Interpretation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Lake acts as </a:t>
            </a:r>
            <a:r>
              <a:rPr b="1" lang="en" sz="1500">
                <a:solidFill>
                  <a:srgbClr val="000000"/>
                </a:solidFill>
              </a:rPr>
              <a:t>localized thermal buffer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</a:rPr>
              <a:t>Encroachment</a:t>
            </a:r>
            <a:r>
              <a:rPr lang="en" sz="1500">
                <a:solidFill>
                  <a:srgbClr val="000000"/>
                </a:solidFill>
              </a:rPr>
              <a:t> and urban buildup reduce its range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Preserving lake and buffer zone is </a:t>
            </a:r>
            <a:r>
              <a:rPr b="1" lang="en" sz="1500">
                <a:solidFill>
                  <a:srgbClr val="000000"/>
                </a:solidFill>
              </a:rPr>
              <a:t>crucial for thermal regulation</a:t>
            </a:r>
            <a:endParaRPr b="1" sz="15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8"/>
          <p:cNvSpPr txBox="1"/>
          <p:nvPr>
            <p:ph idx="1" type="body"/>
          </p:nvPr>
        </p:nvSpPr>
        <p:spPr>
          <a:xfrm>
            <a:off x="720000" y="1215750"/>
            <a:ext cx="7704000" cy="31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Urban area increased irregularly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Vegetation cover increased from 2014 to 2019 &amp; declined post 2019 till 2024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LST increased</a:t>
            </a:r>
            <a:r>
              <a:rPr lang="en" sz="1500">
                <a:solidFill>
                  <a:srgbClr val="000000"/>
                </a:solidFill>
              </a:rPr>
              <a:t>, peaking in </a:t>
            </a:r>
            <a:r>
              <a:rPr b="1" lang="en" sz="1500">
                <a:solidFill>
                  <a:srgbClr val="000000"/>
                </a:solidFill>
              </a:rPr>
              <a:t>2019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Some water </a:t>
            </a:r>
            <a:r>
              <a:rPr b="1" lang="en" sz="1500">
                <a:solidFill>
                  <a:srgbClr val="000000"/>
                </a:solidFill>
              </a:rPr>
              <a:t>bodies</a:t>
            </a:r>
            <a:r>
              <a:rPr b="1" lang="en" sz="1500">
                <a:solidFill>
                  <a:srgbClr val="000000"/>
                </a:solidFill>
              </a:rPr>
              <a:t> dried &amp; some were stable </a:t>
            </a:r>
            <a:r>
              <a:rPr lang="en" sz="1500">
                <a:solidFill>
                  <a:srgbClr val="000000"/>
                </a:solidFill>
              </a:rPr>
              <a:t>, but with </a:t>
            </a:r>
            <a:r>
              <a:rPr b="1" lang="en" sz="1500">
                <a:solidFill>
                  <a:srgbClr val="000000"/>
                </a:solidFill>
              </a:rPr>
              <a:t>limited thermal impact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Strong positive correlation</a:t>
            </a:r>
            <a:r>
              <a:rPr lang="en" sz="1500">
                <a:solidFill>
                  <a:srgbClr val="000000"/>
                </a:solidFill>
              </a:rPr>
              <a:t> between Urban % and LST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Strong negative correlation</a:t>
            </a:r>
            <a:r>
              <a:rPr lang="en" sz="1500">
                <a:solidFill>
                  <a:srgbClr val="000000"/>
                </a:solidFill>
              </a:rPr>
              <a:t> between Vegetation % and LST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Man Sagar Lake shows lower LST </a:t>
            </a:r>
            <a:r>
              <a:rPr lang="en" sz="1500">
                <a:solidFill>
                  <a:srgbClr val="000000"/>
                </a:solidFill>
              </a:rPr>
              <a:t>within 2–4 km as compared to 8-10 km radius</a:t>
            </a:r>
            <a:br>
              <a:rPr b="1" lang="en" sz="1800">
                <a:solidFill>
                  <a:srgbClr val="000000"/>
                </a:solidFill>
              </a:rPr>
            </a:br>
            <a:endParaRPr sz="2100"/>
          </a:p>
        </p:txBody>
      </p:sp>
      <p:sp>
        <p:nvSpPr>
          <p:cNvPr id="631" name="Google Shape;631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9"/>
          <p:cNvSpPr txBox="1"/>
          <p:nvPr>
            <p:ph idx="1" type="body"/>
          </p:nvPr>
        </p:nvSpPr>
        <p:spPr>
          <a:xfrm>
            <a:off x="720000" y="1215750"/>
            <a:ext cx="7704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Urban Planning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stok Web"/>
              <a:buChar char="●"/>
            </a:pPr>
            <a:r>
              <a:rPr lang="en" sz="1300">
                <a:solidFill>
                  <a:srgbClr val="000000"/>
                </a:solidFill>
              </a:rPr>
              <a:t>Use high-accuracy land cover maps (like QDA) to guide zoning and infrastructure development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Identify sectors with </a:t>
            </a:r>
            <a:r>
              <a:rPr b="1" lang="en" sz="1300">
                <a:solidFill>
                  <a:srgbClr val="000000"/>
                </a:solidFill>
              </a:rPr>
              <a:t>rapid urban expansion</a:t>
            </a:r>
            <a:r>
              <a:rPr lang="en" sz="1300">
                <a:solidFill>
                  <a:srgbClr val="000000"/>
                </a:solidFill>
              </a:rPr>
              <a:t> for monitoring and regulation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Green Infrastructure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Prioritize </a:t>
            </a:r>
            <a:r>
              <a:rPr b="1" lang="en" sz="1300">
                <a:solidFill>
                  <a:srgbClr val="000000"/>
                </a:solidFill>
              </a:rPr>
              <a:t>green belt creation</a:t>
            </a:r>
            <a:r>
              <a:rPr lang="en" sz="1300">
                <a:solidFill>
                  <a:srgbClr val="000000"/>
                </a:solidFill>
              </a:rPr>
              <a:t> in sectors with highest LST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stok Web"/>
              <a:buChar char="●"/>
            </a:pPr>
            <a:r>
              <a:rPr lang="en" sz="1300">
                <a:solidFill>
                  <a:srgbClr val="000000"/>
                </a:solidFill>
              </a:rPr>
              <a:t>Encourage rooftop gardens, urban forestry, and park development in hot zones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</a:rPr>
              <a:t>Heat Mitigation Strategies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stok Web"/>
              <a:buChar char="●"/>
            </a:pPr>
            <a:r>
              <a:rPr lang="en" sz="1300">
                <a:solidFill>
                  <a:srgbClr val="000000"/>
                </a:solidFill>
              </a:rPr>
              <a:t>Promote reflective roofing, permeable pavements, and heat-resilient materials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Target </a:t>
            </a:r>
            <a:r>
              <a:rPr b="1" lang="en" sz="1300">
                <a:solidFill>
                  <a:srgbClr val="000000"/>
                </a:solidFill>
              </a:rPr>
              <a:t>UHI hot spots</a:t>
            </a:r>
            <a:r>
              <a:rPr lang="en" sz="1300">
                <a:solidFill>
                  <a:srgbClr val="000000"/>
                </a:solidFill>
              </a:rPr>
              <a:t> for focused interventions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  <p:sp>
        <p:nvSpPr>
          <p:cNvPr id="637" name="Google Shape;637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and Recommendations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0"/>
          <p:cNvSpPr txBox="1"/>
          <p:nvPr>
            <p:ph idx="1" type="body"/>
          </p:nvPr>
        </p:nvSpPr>
        <p:spPr>
          <a:xfrm>
            <a:off x="720000" y="1215750"/>
            <a:ext cx="7704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Policy Recommendations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Integrate remote sensing into municipal planning systems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Support policies that balance urban growth with </a:t>
            </a:r>
            <a:r>
              <a:rPr b="1" lang="en" sz="1500">
                <a:solidFill>
                  <a:srgbClr val="000000"/>
                </a:solidFill>
              </a:rPr>
              <a:t>ecological conservation</a:t>
            </a:r>
            <a:br>
              <a:rPr b="1" lang="en" sz="1500">
                <a:solidFill>
                  <a:srgbClr val="000000"/>
                </a:solidFill>
              </a:rPr>
            </a:b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Research Extensions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Combine with demographic/socioeconomic data for deeper insights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Apply similar methods to other growing cities in arid/semi-arid zones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  <p:sp>
        <p:nvSpPr>
          <p:cNvPr id="643" name="Google Shape;643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and Recommendations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1"/>
          <p:cNvSpPr txBox="1"/>
          <p:nvPr>
            <p:ph idx="1" type="body"/>
          </p:nvPr>
        </p:nvSpPr>
        <p:spPr>
          <a:xfrm>
            <a:off x="720000" y="1215750"/>
            <a:ext cx="7704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Successfully conducted a </a:t>
            </a:r>
            <a:r>
              <a:rPr b="1" lang="en" sz="1500">
                <a:solidFill>
                  <a:srgbClr val="000000"/>
                </a:solidFill>
              </a:rPr>
              <a:t>sector-wise analysis</a:t>
            </a:r>
            <a:r>
              <a:rPr lang="en" sz="1500">
                <a:solidFill>
                  <a:srgbClr val="000000"/>
                </a:solidFill>
              </a:rPr>
              <a:t> of land cover change and LST across Jaipur (2014–2024)</a:t>
            </a:r>
            <a:br>
              <a:rPr lang="en" sz="1500">
                <a:solidFill>
                  <a:srgbClr val="000000"/>
                </a:solidFill>
              </a:rPr>
            </a:br>
            <a:r>
              <a:rPr lang="en" sz="1500">
                <a:solidFill>
                  <a:srgbClr val="000000"/>
                </a:solidFill>
              </a:rPr>
              <a:t>Demonstrated the </a:t>
            </a:r>
            <a:r>
              <a:rPr b="1" lang="en" sz="1500">
                <a:solidFill>
                  <a:srgbClr val="000000"/>
                </a:solidFill>
              </a:rPr>
              <a:t>impact of classification method</a:t>
            </a:r>
            <a:r>
              <a:rPr lang="en" sz="1500">
                <a:solidFill>
                  <a:srgbClr val="000000"/>
                </a:solidFill>
              </a:rPr>
              <a:t> (QDA vs Index-based) on LST interpretation</a:t>
            </a:r>
            <a:br>
              <a:rPr lang="en" sz="1500">
                <a:solidFill>
                  <a:srgbClr val="000000"/>
                </a:solidFill>
              </a:rPr>
            </a:br>
            <a:r>
              <a:rPr lang="en" sz="1500">
                <a:solidFill>
                  <a:srgbClr val="000000"/>
                </a:solidFill>
              </a:rPr>
              <a:t>Revealed strong </a:t>
            </a:r>
            <a:r>
              <a:rPr b="1" lang="en" sz="1500">
                <a:solidFill>
                  <a:srgbClr val="000000"/>
                </a:solidFill>
              </a:rPr>
              <a:t>positive correlation</a:t>
            </a:r>
            <a:r>
              <a:rPr lang="en" sz="1500">
                <a:solidFill>
                  <a:srgbClr val="000000"/>
                </a:solidFill>
              </a:rPr>
              <a:t> between urbanization and increased LST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Key Takeaways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QDA provided superior classification accuracy and spatial consistency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Urban expansion is concentrated in specific directions (especially S and W)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Vegetation plays a role in </a:t>
            </a:r>
            <a:r>
              <a:rPr b="1" lang="en" sz="1500">
                <a:solidFill>
                  <a:srgbClr val="000000"/>
                </a:solidFill>
              </a:rPr>
              <a:t>mitigating thermal impacts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LST </a:t>
            </a:r>
            <a:r>
              <a:rPr lang="en" sz="1500">
                <a:solidFill>
                  <a:srgbClr val="000000"/>
                </a:solidFill>
              </a:rPr>
              <a:t>increase is not solely dependent on Urban area increase, but a on complex interaction of other factors.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</a:endParaRPr>
          </a:p>
        </p:txBody>
      </p:sp>
      <p:sp>
        <p:nvSpPr>
          <p:cNvPr id="649" name="Google Shape;649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2"/>
          <p:cNvSpPr txBox="1"/>
          <p:nvPr>
            <p:ph idx="1" type="body"/>
          </p:nvPr>
        </p:nvSpPr>
        <p:spPr>
          <a:xfrm>
            <a:off x="720000" y="1215750"/>
            <a:ext cx="7704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Future Work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Incorporate </a:t>
            </a:r>
            <a:r>
              <a:rPr b="1" lang="en" sz="1500">
                <a:solidFill>
                  <a:srgbClr val="000000"/>
                </a:solidFill>
              </a:rPr>
              <a:t>population density, land use regulations, and socioeconomic data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Extend to </a:t>
            </a:r>
            <a:r>
              <a:rPr b="1" lang="en" sz="1500">
                <a:solidFill>
                  <a:srgbClr val="000000"/>
                </a:solidFill>
              </a:rPr>
              <a:t>multi-city comparisons</a:t>
            </a:r>
            <a:r>
              <a:rPr lang="en" sz="1500">
                <a:solidFill>
                  <a:srgbClr val="000000"/>
                </a:solidFill>
              </a:rPr>
              <a:t> in similar climate zones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</a:rPr>
              <a:t>Explore </a:t>
            </a:r>
            <a:r>
              <a:rPr b="1" lang="en" sz="1500">
                <a:solidFill>
                  <a:srgbClr val="000000"/>
                </a:solidFill>
              </a:rPr>
              <a:t>machine learning alternatives</a:t>
            </a:r>
            <a:r>
              <a:rPr lang="en" sz="1500">
                <a:solidFill>
                  <a:srgbClr val="000000"/>
                </a:solidFill>
              </a:rPr>
              <a:t> (e.g., Random Forest, SVM) for better performance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stok Web"/>
              <a:buChar char="●"/>
            </a:pPr>
            <a:r>
              <a:rPr lang="en" sz="1500">
                <a:solidFill>
                  <a:srgbClr val="000000"/>
                </a:solidFill>
              </a:rPr>
              <a:t>Use higher-resolution data (e.g., Sentinel-2, MODIS) for finer-scale analysis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655" name="Google Shape;655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3"/>
          <p:cNvSpPr txBox="1"/>
          <p:nvPr>
            <p:ph type="title"/>
          </p:nvPr>
        </p:nvSpPr>
        <p:spPr>
          <a:xfrm>
            <a:off x="1381550" y="1130250"/>
            <a:ext cx="7049100" cy="28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Any questions?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arth Sciences Bachelor's Degree: Tectonic Geomorphology by Slidesgo">
  <a:themeElements>
    <a:clrScheme name="Simple Light">
      <a:dk1>
        <a:srgbClr val="5E4538"/>
      </a:dk1>
      <a:lt1>
        <a:srgbClr val="F0EDEB"/>
      </a:lt1>
      <a:dk2>
        <a:srgbClr val="382D2C"/>
      </a:dk2>
      <a:lt2>
        <a:srgbClr val="CAB5A2"/>
      </a:lt2>
      <a:accent1>
        <a:srgbClr val="C0A084"/>
      </a:accent1>
      <a:accent2>
        <a:srgbClr val="917664"/>
      </a:accent2>
      <a:accent3>
        <a:srgbClr val="816A5B"/>
      </a:accent3>
      <a:accent4>
        <a:srgbClr val="FFFFFF"/>
      </a:accent4>
      <a:accent5>
        <a:srgbClr val="FFFFFF"/>
      </a:accent5>
      <a:accent6>
        <a:srgbClr val="FFFFFF"/>
      </a:accent6>
      <a:hlink>
        <a:srgbClr val="382D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